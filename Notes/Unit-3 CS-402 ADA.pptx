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066CF-7C2A-D38D-58AA-E6C7DC31EFE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B49DB77-3442-6AF5-02B3-4746B88ED0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8F08625-02E5-376B-DE84-9600027448FE}"/>
              </a:ext>
            </a:extLst>
          </p:cNvPr>
          <p:cNvSpPr>
            <a:spLocks noGrp="1"/>
          </p:cNvSpPr>
          <p:nvPr>
            <p:ph type="dt" sz="half" idx="10"/>
          </p:nvPr>
        </p:nvSpPr>
        <p:spPr/>
        <p:txBody>
          <a:bodyPr/>
          <a:lstStyle/>
          <a:p>
            <a:fld id="{FA8B2AB3-0CE6-4E9B-A8FC-54804C933BBF}" type="datetimeFigureOut">
              <a:rPr lang="en-IN" smtClean="0"/>
              <a:t>13-05-2026</a:t>
            </a:fld>
            <a:endParaRPr lang="en-IN"/>
          </a:p>
        </p:txBody>
      </p:sp>
      <p:sp>
        <p:nvSpPr>
          <p:cNvPr id="5" name="Footer Placeholder 4">
            <a:extLst>
              <a:ext uri="{FF2B5EF4-FFF2-40B4-BE49-F238E27FC236}">
                <a16:creationId xmlns:a16="http://schemas.microsoft.com/office/drawing/2014/main" id="{5FCEC827-30F9-43AE-BB00-9AB307A766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849D247-8D16-9DAB-C846-696734416AFC}"/>
              </a:ext>
            </a:extLst>
          </p:cNvPr>
          <p:cNvSpPr>
            <a:spLocks noGrp="1"/>
          </p:cNvSpPr>
          <p:nvPr>
            <p:ph type="sldNum" sz="quarter" idx="12"/>
          </p:nvPr>
        </p:nvSpPr>
        <p:spPr/>
        <p:txBody>
          <a:bodyPr/>
          <a:lstStyle/>
          <a:p>
            <a:fld id="{E876A8D9-9A25-4DF0-B1AB-B52D3B7E7627}" type="slidenum">
              <a:rPr lang="en-IN" smtClean="0"/>
              <a:t>‹#›</a:t>
            </a:fld>
            <a:endParaRPr lang="en-IN"/>
          </a:p>
        </p:txBody>
      </p:sp>
    </p:spTree>
    <p:extLst>
      <p:ext uri="{BB962C8B-B14F-4D97-AF65-F5344CB8AC3E}">
        <p14:creationId xmlns:p14="http://schemas.microsoft.com/office/powerpoint/2010/main" val="33057609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A00EC-2CD8-D4D3-1595-A0B72EDD31A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784F4C8-79D6-3419-0CAE-1160004202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43A7F7-22ED-DDF5-413A-A9861B298482}"/>
              </a:ext>
            </a:extLst>
          </p:cNvPr>
          <p:cNvSpPr>
            <a:spLocks noGrp="1"/>
          </p:cNvSpPr>
          <p:nvPr>
            <p:ph type="dt" sz="half" idx="10"/>
          </p:nvPr>
        </p:nvSpPr>
        <p:spPr/>
        <p:txBody>
          <a:bodyPr/>
          <a:lstStyle/>
          <a:p>
            <a:fld id="{FA8B2AB3-0CE6-4E9B-A8FC-54804C933BBF}" type="datetimeFigureOut">
              <a:rPr lang="en-IN" smtClean="0"/>
              <a:t>13-05-2026</a:t>
            </a:fld>
            <a:endParaRPr lang="en-IN"/>
          </a:p>
        </p:txBody>
      </p:sp>
      <p:sp>
        <p:nvSpPr>
          <p:cNvPr id="5" name="Footer Placeholder 4">
            <a:extLst>
              <a:ext uri="{FF2B5EF4-FFF2-40B4-BE49-F238E27FC236}">
                <a16:creationId xmlns:a16="http://schemas.microsoft.com/office/drawing/2014/main" id="{70D48010-6E96-B52F-0F84-C8AEEBAE84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F30EE2-123E-5E38-B78A-088529ADFC3A}"/>
              </a:ext>
            </a:extLst>
          </p:cNvPr>
          <p:cNvSpPr>
            <a:spLocks noGrp="1"/>
          </p:cNvSpPr>
          <p:nvPr>
            <p:ph type="sldNum" sz="quarter" idx="12"/>
          </p:nvPr>
        </p:nvSpPr>
        <p:spPr/>
        <p:txBody>
          <a:bodyPr/>
          <a:lstStyle/>
          <a:p>
            <a:fld id="{E876A8D9-9A25-4DF0-B1AB-B52D3B7E7627}" type="slidenum">
              <a:rPr lang="en-IN" smtClean="0"/>
              <a:t>‹#›</a:t>
            </a:fld>
            <a:endParaRPr lang="en-IN"/>
          </a:p>
        </p:txBody>
      </p:sp>
    </p:spTree>
    <p:extLst>
      <p:ext uri="{BB962C8B-B14F-4D97-AF65-F5344CB8AC3E}">
        <p14:creationId xmlns:p14="http://schemas.microsoft.com/office/powerpoint/2010/main" val="1126911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C7D2D-05EA-158C-BD4B-248715661C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B5C93D8-8676-C064-BDE9-6C074E76B74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F1348A-5408-B8D6-BFEC-816AE36CC00C}"/>
              </a:ext>
            </a:extLst>
          </p:cNvPr>
          <p:cNvSpPr>
            <a:spLocks noGrp="1"/>
          </p:cNvSpPr>
          <p:nvPr>
            <p:ph type="dt" sz="half" idx="10"/>
          </p:nvPr>
        </p:nvSpPr>
        <p:spPr/>
        <p:txBody>
          <a:bodyPr/>
          <a:lstStyle/>
          <a:p>
            <a:fld id="{FA8B2AB3-0CE6-4E9B-A8FC-54804C933BBF}" type="datetimeFigureOut">
              <a:rPr lang="en-IN" smtClean="0"/>
              <a:t>13-05-2026</a:t>
            </a:fld>
            <a:endParaRPr lang="en-IN"/>
          </a:p>
        </p:txBody>
      </p:sp>
      <p:sp>
        <p:nvSpPr>
          <p:cNvPr id="5" name="Footer Placeholder 4">
            <a:extLst>
              <a:ext uri="{FF2B5EF4-FFF2-40B4-BE49-F238E27FC236}">
                <a16:creationId xmlns:a16="http://schemas.microsoft.com/office/drawing/2014/main" id="{178D94AE-D562-A570-EE65-744E7036B4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F66945-7E97-5B5E-02A2-E39738045CC9}"/>
              </a:ext>
            </a:extLst>
          </p:cNvPr>
          <p:cNvSpPr>
            <a:spLocks noGrp="1"/>
          </p:cNvSpPr>
          <p:nvPr>
            <p:ph type="sldNum" sz="quarter" idx="12"/>
          </p:nvPr>
        </p:nvSpPr>
        <p:spPr/>
        <p:txBody>
          <a:bodyPr/>
          <a:lstStyle/>
          <a:p>
            <a:fld id="{E876A8D9-9A25-4DF0-B1AB-B52D3B7E7627}" type="slidenum">
              <a:rPr lang="en-IN" smtClean="0"/>
              <a:t>‹#›</a:t>
            </a:fld>
            <a:endParaRPr lang="en-IN"/>
          </a:p>
        </p:txBody>
      </p:sp>
    </p:spTree>
    <p:extLst>
      <p:ext uri="{BB962C8B-B14F-4D97-AF65-F5344CB8AC3E}">
        <p14:creationId xmlns:p14="http://schemas.microsoft.com/office/powerpoint/2010/main" val="40602008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64A5C-B979-CBDA-C5CF-AA0054C1672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4233058-83C7-61DD-E6E0-E644316BB79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8E796F2-5A03-CC9D-122E-D679C5D4BCE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812CDE4-625A-6B37-FF26-8C9507603303}"/>
              </a:ext>
            </a:extLst>
          </p:cNvPr>
          <p:cNvSpPr>
            <a:spLocks noGrp="1"/>
          </p:cNvSpPr>
          <p:nvPr>
            <p:ph type="dt" sz="half" idx="10"/>
          </p:nvPr>
        </p:nvSpPr>
        <p:spPr/>
        <p:txBody>
          <a:bodyPr/>
          <a:lstStyle/>
          <a:p>
            <a:fld id="{FA8B2AB3-0CE6-4E9B-A8FC-54804C933BBF}" type="datetimeFigureOut">
              <a:rPr lang="en-IN" smtClean="0"/>
              <a:t>13-05-2026</a:t>
            </a:fld>
            <a:endParaRPr lang="en-IN"/>
          </a:p>
        </p:txBody>
      </p:sp>
      <p:sp>
        <p:nvSpPr>
          <p:cNvPr id="6" name="Footer Placeholder 5">
            <a:extLst>
              <a:ext uri="{FF2B5EF4-FFF2-40B4-BE49-F238E27FC236}">
                <a16:creationId xmlns:a16="http://schemas.microsoft.com/office/drawing/2014/main" id="{9F6B6DAC-8A75-02F2-F07F-2F9E23C1917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4E44DB0-CD85-A616-4F1C-6B91164D1FBD}"/>
              </a:ext>
            </a:extLst>
          </p:cNvPr>
          <p:cNvSpPr>
            <a:spLocks noGrp="1"/>
          </p:cNvSpPr>
          <p:nvPr>
            <p:ph type="sldNum" sz="quarter" idx="12"/>
          </p:nvPr>
        </p:nvSpPr>
        <p:spPr/>
        <p:txBody>
          <a:bodyPr/>
          <a:lstStyle/>
          <a:p>
            <a:fld id="{E876A8D9-9A25-4DF0-B1AB-B52D3B7E7627}" type="slidenum">
              <a:rPr lang="en-IN" smtClean="0"/>
              <a:t>‹#›</a:t>
            </a:fld>
            <a:endParaRPr lang="en-IN"/>
          </a:p>
        </p:txBody>
      </p:sp>
    </p:spTree>
    <p:extLst>
      <p:ext uri="{BB962C8B-B14F-4D97-AF65-F5344CB8AC3E}">
        <p14:creationId xmlns:p14="http://schemas.microsoft.com/office/powerpoint/2010/main" val="399263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C6983-B56C-EC2F-76BB-AE7C4CBDE96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7C5C8F2-FCEB-D8CD-D02A-C02A98E1B9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A82E80-602B-F126-14D8-D91C4632FA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CD96120-D411-E118-8395-B6B79F4316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BCDC944-CBA1-6BF8-96C0-3A33AAFF856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FCE59F5-52F1-F779-109D-991F3022AFED}"/>
              </a:ext>
            </a:extLst>
          </p:cNvPr>
          <p:cNvSpPr>
            <a:spLocks noGrp="1"/>
          </p:cNvSpPr>
          <p:nvPr>
            <p:ph type="dt" sz="half" idx="10"/>
          </p:nvPr>
        </p:nvSpPr>
        <p:spPr/>
        <p:txBody>
          <a:bodyPr/>
          <a:lstStyle/>
          <a:p>
            <a:fld id="{FA8B2AB3-0CE6-4E9B-A8FC-54804C933BBF}" type="datetimeFigureOut">
              <a:rPr lang="en-IN" smtClean="0"/>
              <a:t>13-05-2026</a:t>
            </a:fld>
            <a:endParaRPr lang="en-IN"/>
          </a:p>
        </p:txBody>
      </p:sp>
      <p:sp>
        <p:nvSpPr>
          <p:cNvPr id="8" name="Footer Placeholder 7">
            <a:extLst>
              <a:ext uri="{FF2B5EF4-FFF2-40B4-BE49-F238E27FC236}">
                <a16:creationId xmlns:a16="http://schemas.microsoft.com/office/drawing/2014/main" id="{8667ADE7-6826-5146-5B9F-3F7EC09A255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D6F7B55-BCFF-9A21-C87F-D9C606463AA9}"/>
              </a:ext>
            </a:extLst>
          </p:cNvPr>
          <p:cNvSpPr>
            <a:spLocks noGrp="1"/>
          </p:cNvSpPr>
          <p:nvPr>
            <p:ph type="sldNum" sz="quarter" idx="12"/>
          </p:nvPr>
        </p:nvSpPr>
        <p:spPr/>
        <p:txBody>
          <a:bodyPr/>
          <a:lstStyle/>
          <a:p>
            <a:fld id="{E876A8D9-9A25-4DF0-B1AB-B52D3B7E7627}" type="slidenum">
              <a:rPr lang="en-IN" smtClean="0"/>
              <a:t>‹#›</a:t>
            </a:fld>
            <a:endParaRPr lang="en-IN"/>
          </a:p>
        </p:txBody>
      </p:sp>
    </p:spTree>
    <p:extLst>
      <p:ext uri="{BB962C8B-B14F-4D97-AF65-F5344CB8AC3E}">
        <p14:creationId xmlns:p14="http://schemas.microsoft.com/office/powerpoint/2010/main" val="12542309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E2BD5-712B-18C3-6F79-EB3F96FBFD2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1A70FB2-9AE3-3DD5-59F4-B0F7F0EF3CC6}"/>
              </a:ext>
            </a:extLst>
          </p:cNvPr>
          <p:cNvSpPr>
            <a:spLocks noGrp="1"/>
          </p:cNvSpPr>
          <p:nvPr>
            <p:ph type="dt" sz="half" idx="10"/>
          </p:nvPr>
        </p:nvSpPr>
        <p:spPr/>
        <p:txBody>
          <a:bodyPr/>
          <a:lstStyle/>
          <a:p>
            <a:fld id="{FA8B2AB3-0CE6-4E9B-A8FC-54804C933BBF}" type="datetimeFigureOut">
              <a:rPr lang="en-IN" smtClean="0"/>
              <a:t>13-05-2026</a:t>
            </a:fld>
            <a:endParaRPr lang="en-IN"/>
          </a:p>
        </p:txBody>
      </p:sp>
      <p:sp>
        <p:nvSpPr>
          <p:cNvPr id="4" name="Footer Placeholder 3">
            <a:extLst>
              <a:ext uri="{FF2B5EF4-FFF2-40B4-BE49-F238E27FC236}">
                <a16:creationId xmlns:a16="http://schemas.microsoft.com/office/drawing/2014/main" id="{BBA2FF01-CD92-F7CD-C262-2BE68883CBC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7810928-73D5-38E5-24B4-30E96BE98238}"/>
              </a:ext>
            </a:extLst>
          </p:cNvPr>
          <p:cNvSpPr>
            <a:spLocks noGrp="1"/>
          </p:cNvSpPr>
          <p:nvPr>
            <p:ph type="sldNum" sz="quarter" idx="12"/>
          </p:nvPr>
        </p:nvSpPr>
        <p:spPr/>
        <p:txBody>
          <a:bodyPr/>
          <a:lstStyle/>
          <a:p>
            <a:fld id="{E876A8D9-9A25-4DF0-B1AB-B52D3B7E7627}" type="slidenum">
              <a:rPr lang="en-IN" smtClean="0"/>
              <a:t>‹#›</a:t>
            </a:fld>
            <a:endParaRPr lang="en-IN"/>
          </a:p>
        </p:txBody>
      </p:sp>
    </p:spTree>
    <p:extLst>
      <p:ext uri="{BB962C8B-B14F-4D97-AF65-F5344CB8AC3E}">
        <p14:creationId xmlns:p14="http://schemas.microsoft.com/office/powerpoint/2010/main" val="2089149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A0EF0F-B315-F5E5-D1BD-123EAA9333BF}"/>
              </a:ext>
            </a:extLst>
          </p:cNvPr>
          <p:cNvSpPr>
            <a:spLocks noGrp="1"/>
          </p:cNvSpPr>
          <p:nvPr>
            <p:ph type="dt" sz="half" idx="10"/>
          </p:nvPr>
        </p:nvSpPr>
        <p:spPr/>
        <p:txBody>
          <a:bodyPr/>
          <a:lstStyle/>
          <a:p>
            <a:fld id="{FA8B2AB3-0CE6-4E9B-A8FC-54804C933BBF}" type="datetimeFigureOut">
              <a:rPr lang="en-IN" smtClean="0"/>
              <a:t>13-05-2026</a:t>
            </a:fld>
            <a:endParaRPr lang="en-IN"/>
          </a:p>
        </p:txBody>
      </p:sp>
      <p:sp>
        <p:nvSpPr>
          <p:cNvPr id="3" name="Footer Placeholder 2">
            <a:extLst>
              <a:ext uri="{FF2B5EF4-FFF2-40B4-BE49-F238E27FC236}">
                <a16:creationId xmlns:a16="http://schemas.microsoft.com/office/drawing/2014/main" id="{D5B7552D-DC18-0DCE-83DE-D90354C8AE2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72C0C26-76E6-E06F-001B-E53F26A01B14}"/>
              </a:ext>
            </a:extLst>
          </p:cNvPr>
          <p:cNvSpPr>
            <a:spLocks noGrp="1"/>
          </p:cNvSpPr>
          <p:nvPr>
            <p:ph type="sldNum" sz="quarter" idx="12"/>
          </p:nvPr>
        </p:nvSpPr>
        <p:spPr/>
        <p:txBody>
          <a:bodyPr/>
          <a:lstStyle/>
          <a:p>
            <a:fld id="{E876A8D9-9A25-4DF0-B1AB-B52D3B7E7627}" type="slidenum">
              <a:rPr lang="en-IN" smtClean="0"/>
              <a:t>‹#›</a:t>
            </a:fld>
            <a:endParaRPr lang="en-IN"/>
          </a:p>
        </p:txBody>
      </p:sp>
    </p:spTree>
    <p:extLst>
      <p:ext uri="{BB962C8B-B14F-4D97-AF65-F5344CB8AC3E}">
        <p14:creationId xmlns:p14="http://schemas.microsoft.com/office/powerpoint/2010/main" val="3771855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EAEFA-9507-D447-6315-8FBFEFA638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70075FC-CD8E-CA93-1D4A-BE6D80D896B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401ACAF-F1E4-BC80-2792-FDFA84CB0F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259FF3-2D80-1055-1D84-F7A6B8132BFF}"/>
              </a:ext>
            </a:extLst>
          </p:cNvPr>
          <p:cNvSpPr>
            <a:spLocks noGrp="1"/>
          </p:cNvSpPr>
          <p:nvPr>
            <p:ph type="dt" sz="half" idx="10"/>
          </p:nvPr>
        </p:nvSpPr>
        <p:spPr/>
        <p:txBody>
          <a:bodyPr/>
          <a:lstStyle/>
          <a:p>
            <a:fld id="{FA8B2AB3-0CE6-4E9B-A8FC-54804C933BBF}" type="datetimeFigureOut">
              <a:rPr lang="en-IN" smtClean="0"/>
              <a:t>13-05-2026</a:t>
            </a:fld>
            <a:endParaRPr lang="en-IN"/>
          </a:p>
        </p:txBody>
      </p:sp>
      <p:sp>
        <p:nvSpPr>
          <p:cNvPr id="6" name="Footer Placeholder 5">
            <a:extLst>
              <a:ext uri="{FF2B5EF4-FFF2-40B4-BE49-F238E27FC236}">
                <a16:creationId xmlns:a16="http://schemas.microsoft.com/office/drawing/2014/main" id="{BDF1DD1D-394C-93D6-F1E4-1DD49D98AC6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C99C6DC-9B8B-F824-41A4-9AFA20D7E091}"/>
              </a:ext>
            </a:extLst>
          </p:cNvPr>
          <p:cNvSpPr>
            <a:spLocks noGrp="1"/>
          </p:cNvSpPr>
          <p:nvPr>
            <p:ph type="sldNum" sz="quarter" idx="12"/>
          </p:nvPr>
        </p:nvSpPr>
        <p:spPr/>
        <p:txBody>
          <a:bodyPr/>
          <a:lstStyle/>
          <a:p>
            <a:fld id="{E876A8D9-9A25-4DF0-B1AB-B52D3B7E7627}" type="slidenum">
              <a:rPr lang="en-IN" smtClean="0"/>
              <a:t>‹#›</a:t>
            </a:fld>
            <a:endParaRPr lang="en-IN"/>
          </a:p>
        </p:txBody>
      </p:sp>
    </p:spTree>
    <p:extLst>
      <p:ext uri="{BB962C8B-B14F-4D97-AF65-F5344CB8AC3E}">
        <p14:creationId xmlns:p14="http://schemas.microsoft.com/office/powerpoint/2010/main" val="3415870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A1A12-BAEC-66D6-AE11-5B7AD3ADF8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BA90AB0-C078-B061-6E31-6CEF095DC4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A794278-E100-A8F4-05CE-ED90779D5E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CCD1FA-2A4C-8182-97B1-127534B9E444}"/>
              </a:ext>
            </a:extLst>
          </p:cNvPr>
          <p:cNvSpPr>
            <a:spLocks noGrp="1"/>
          </p:cNvSpPr>
          <p:nvPr>
            <p:ph type="dt" sz="half" idx="10"/>
          </p:nvPr>
        </p:nvSpPr>
        <p:spPr/>
        <p:txBody>
          <a:bodyPr/>
          <a:lstStyle/>
          <a:p>
            <a:fld id="{FA8B2AB3-0CE6-4E9B-A8FC-54804C933BBF}" type="datetimeFigureOut">
              <a:rPr lang="en-IN" smtClean="0"/>
              <a:t>13-05-2026</a:t>
            </a:fld>
            <a:endParaRPr lang="en-IN"/>
          </a:p>
        </p:txBody>
      </p:sp>
      <p:sp>
        <p:nvSpPr>
          <p:cNvPr id="6" name="Footer Placeholder 5">
            <a:extLst>
              <a:ext uri="{FF2B5EF4-FFF2-40B4-BE49-F238E27FC236}">
                <a16:creationId xmlns:a16="http://schemas.microsoft.com/office/drawing/2014/main" id="{2EF4270C-93BF-93A2-A2DF-149FD31AE39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0AE5865-7C35-4B3B-265F-9C14268BFA35}"/>
              </a:ext>
            </a:extLst>
          </p:cNvPr>
          <p:cNvSpPr>
            <a:spLocks noGrp="1"/>
          </p:cNvSpPr>
          <p:nvPr>
            <p:ph type="sldNum" sz="quarter" idx="12"/>
          </p:nvPr>
        </p:nvSpPr>
        <p:spPr/>
        <p:txBody>
          <a:bodyPr/>
          <a:lstStyle/>
          <a:p>
            <a:fld id="{E876A8D9-9A25-4DF0-B1AB-B52D3B7E7627}" type="slidenum">
              <a:rPr lang="en-IN" smtClean="0"/>
              <a:t>‹#›</a:t>
            </a:fld>
            <a:endParaRPr lang="en-IN"/>
          </a:p>
        </p:txBody>
      </p:sp>
    </p:spTree>
    <p:extLst>
      <p:ext uri="{BB962C8B-B14F-4D97-AF65-F5344CB8AC3E}">
        <p14:creationId xmlns:p14="http://schemas.microsoft.com/office/powerpoint/2010/main" val="41316000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AE8F8-BFFC-FA88-2434-F3696834A4E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4B7DC98-1E76-5303-1272-BAE9115787F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4350C3E-D303-78BD-C747-480C6F00D9D3}"/>
              </a:ext>
            </a:extLst>
          </p:cNvPr>
          <p:cNvSpPr>
            <a:spLocks noGrp="1"/>
          </p:cNvSpPr>
          <p:nvPr>
            <p:ph type="dt" sz="half" idx="10"/>
          </p:nvPr>
        </p:nvSpPr>
        <p:spPr/>
        <p:txBody>
          <a:bodyPr/>
          <a:lstStyle/>
          <a:p>
            <a:fld id="{FA8B2AB3-0CE6-4E9B-A8FC-54804C933BBF}" type="datetimeFigureOut">
              <a:rPr lang="en-IN" smtClean="0"/>
              <a:t>13-05-2026</a:t>
            </a:fld>
            <a:endParaRPr lang="en-IN"/>
          </a:p>
        </p:txBody>
      </p:sp>
      <p:sp>
        <p:nvSpPr>
          <p:cNvPr id="5" name="Footer Placeholder 4">
            <a:extLst>
              <a:ext uri="{FF2B5EF4-FFF2-40B4-BE49-F238E27FC236}">
                <a16:creationId xmlns:a16="http://schemas.microsoft.com/office/drawing/2014/main" id="{F6C8FDEA-0B88-4FC2-A7E5-BE664C7A84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257930-F940-53ED-F9A4-1C96A31D38C0}"/>
              </a:ext>
            </a:extLst>
          </p:cNvPr>
          <p:cNvSpPr>
            <a:spLocks noGrp="1"/>
          </p:cNvSpPr>
          <p:nvPr>
            <p:ph type="sldNum" sz="quarter" idx="12"/>
          </p:nvPr>
        </p:nvSpPr>
        <p:spPr/>
        <p:txBody>
          <a:bodyPr/>
          <a:lstStyle/>
          <a:p>
            <a:fld id="{E876A8D9-9A25-4DF0-B1AB-B52D3B7E7627}" type="slidenum">
              <a:rPr lang="en-IN" smtClean="0"/>
              <a:t>‹#›</a:t>
            </a:fld>
            <a:endParaRPr lang="en-IN"/>
          </a:p>
        </p:txBody>
      </p:sp>
    </p:spTree>
    <p:extLst>
      <p:ext uri="{BB962C8B-B14F-4D97-AF65-F5344CB8AC3E}">
        <p14:creationId xmlns:p14="http://schemas.microsoft.com/office/powerpoint/2010/main" val="30382770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4010C32-8162-9029-0DCD-A66F72C6EE8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F17F7EF-367E-F390-43C1-15A9C03907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A59C2D-0030-2E1F-C60F-EF70980AE6F6}"/>
              </a:ext>
            </a:extLst>
          </p:cNvPr>
          <p:cNvSpPr>
            <a:spLocks noGrp="1"/>
          </p:cNvSpPr>
          <p:nvPr>
            <p:ph type="dt" sz="half" idx="10"/>
          </p:nvPr>
        </p:nvSpPr>
        <p:spPr/>
        <p:txBody>
          <a:bodyPr/>
          <a:lstStyle/>
          <a:p>
            <a:fld id="{FA8B2AB3-0CE6-4E9B-A8FC-54804C933BBF}" type="datetimeFigureOut">
              <a:rPr lang="en-IN" smtClean="0"/>
              <a:t>13-05-2026</a:t>
            </a:fld>
            <a:endParaRPr lang="en-IN"/>
          </a:p>
        </p:txBody>
      </p:sp>
      <p:sp>
        <p:nvSpPr>
          <p:cNvPr id="5" name="Footer Placeholder 4">
            <a:extLst>
              <a:ext uri="{FF2B5EF4-FFF2-40B4-BE49-F238E27FC236}">
                <a16:creationId xmlns:a16="http://schemas.microsoft.com/office/drawing/2014/main" id="{A18A956D-31EE-C73E-4031-4F9F58BA42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8986AF-D4B0-2263-CD83-47DB5E9B75CE}"/>
              </a:ext>
            </a:extLst>
          </p:cNvPr>
          <p:cNvSpPr>
            <a:spLocks noGrp="1"/>
          </p:cNvSpPr>
          <p:nvPr>
            <p:ph type="sldNum" sz="quarter" idx="12"/>
          </p:nvPr>
        </p:nvSpPr>
        <p:spPr/>
        <p:txBody>
          <a:bodyPr/>
          <a:lstStyle/>
          <a:p>
            <a:fld id="{E876A8D9-9A25-4DF0-B1AB-B52D3B7E7627}" type="slidenum">
              <a:rPr lang="en-IN" smtClean="0"/>
              <a:t>‹#›</a:t>
            </a:fld>
            <a:endParaRPr lang="en-IN"/>
          </a:p>
        </p:txBody>
      </p:sp>
    </p:spTree>
    <p:extLst>
      <p:ext uri="{BB962C8B-B14F-4D97-AF65-F5344CB8AC3E}">
        <p14:creationId xmlns:p14="http://schemas.microsoft.com/office/powerpoint/2010/main" val="14417609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99492F-FD6D-4AFF-53C5-5A61B265D1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896A8C8-72D6-939F-4A2F-1FE6D1FA48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6440457-1D40-4FE3-22FD-2204CA22EC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8B2AB3-0CE6-4E9B-A8FC-54804C933BBF}" type="datetimeFigureOut">
              <a:rPr lang="en-IN" smtClean="0"/>
              <a:t>13-05-2026</a:t>
            </a:fld>
            <a:endParaRPr lang="en-IN"/>
          </a:p>
        </p:txBody>
      </p:sp>
      <p:sp>
        <p:nvSpPr>
          <p:cNvPr id="5" name="Footer Placeholder 4">
            <a:extLst>
              <a:ext uri="{FF2B5EF4-FFF2-40B4-BE49-F238E27FC236}">
                <a16:creationId xmlns:a16="http://schemas.microsoft.com/office/drawing/2014/main" id="{1C86495D-13F9-15FB-5491-3202D46D14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B693DB1-C9B8-0CD1-2B7B-10DA00D454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76A8D9-9A25-4DF0-B1AB-B52D3B7E7627}" type="slidenum">
              <a:rPr lang="en-IN" smtClean="0"/>
              <a:t>‹#›</a:t>
            </a:fld>
            <a:endParaRPr lang="en-IN"/>
          </a:p>
        </p:txBody>
      </p:sp>
    </p:spTree>
    <p:extLst>
      <p:ext uri="{BB962C8B-B14F-4D97-AF65-F5344CB8AC3E}">
        <p14:creationId xmlns:p14="http://schemas.microsoft.com/office/powerpoint/2010/main" val="36076238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B9CDB-5D59-2BD6-0371-BCFB0F25F2C6}"/>
              </a:ext>
            </a:extLst>
          </p:cNvPr>
          <p:cNvSpPr>
            <a:spLocks noGrp="1"/>
          </p:cNvSpPr>
          <p:nvPr>
            <p:ph type="ctrTitle"/>
          </p:nvPr>
        </p:nvSpPr>
        <p:spPr/>
        <p:txBody>
          <a:bodyPr>
            <a:normAutofit fontScale="90000"/>
          </a:bodyPr>
          <a:lstStyle/>
          <a:p>
            <a:r>
              <a:rPr lang="en-IN" b="1" dirty="0"/>
              <a:t>Unit-III</a:t>
            </a:r>
            <a:br>
              <a:rPr lang="en-IN" b="1" dirty="0"/>
            </a:br>
            <a:br>
              <a:rPr lang="en-IN" b="1" dirty="0"/>
            </a:br>
            <a:r>
              <a:rPr lang="en-IN" b="1" dirty="0"/>
              <a:t>Dynamic Programming</a:t>
            </a:r>
          </a:p>
        </p:txBody>
      </p:sp>
      <p:sp>
        <p:nvSpPr>
          <p:cNvPr id="3" name="Subtitle 2">
            <a:extLst>
              <a:ext uri="{FF2B5EF4-FFF2-40B4-BE49-F238E27FC236}">
                <a16:creationId xmlns:a16="http://schemas.microsoft.com/office/drawing/2014/main" id="{58FF2875-15D5-44CF-027A-B6CF30B7313A}"/>
              </a:ext>
            </a:extLst>
          </p:cNvPr>
          <p:cNvSpPr>
            <a:spLocks noGrp="1"/>
          </p:cNvSpPr>
          <p:nvPr>
            <p:ph type="subTitle" idx="1"/>
          </p:nvPr>
        </p:nvSpPr>
        <p:spPr>
          <a:xfrm>
            <a:off x="1524000" y="4038918"/>
            <a:ext cx="9144000" cy="1655762"/>
          </a:xfrm>
        </p:spPr>
        <p:txBody>
          <a:bodyPr>
            <a:normAutofit/>
          </a:bodyPr>
          <a:lstStyle/>
          <a:p>
            <a:r>
              <a:rPr lang="en-IN" sz="3600" b="1" dirty="0"/>
              <a:t>CS-402 ADA</a:t>
            </a:r>
          </a:p>
        </p:txBody>
      </p:sp>
    </p:spTree>
    <p:extLst>
      <p:ext uri="{BB962C8B-B14F-4D97-AF65-F5344CB8AC3E}">
        <p14:creationId xmlns:p14="http://schemas.microsoft.com/office/powerpoint/2010/main" val="35009001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2AFA9-DC4E-485A-0A71-210092F133F7}"/>
              </a:ext>
            </a:extLst>
          </p:cNvPr>
          <p:cNvSpPr>
            <a:spLocks noGrp="1"/>
          </p:cNvSpPr>
          <p:nvPr>
            <p:ph type="title"/>
          </p:nvPr>
        </p:nvSpPr>
        <p:spPr/>
        <p:txBody>
          <a:bodyPr/>
          <a:lstStyle/>
          <a:p>
            <a:r>
              <a:rPr lang="en-IN" dirty="0"/>
              <a:t>What is Dynamic Programming?</a:t>
            </a:r>
          </a:p>
        </p:txBody>
      </p:sp>
      <p:sp>
        <p:nvSpPr>
          <p:cNvPr id="7" name="TextBox 6">
            <a:extLst>
              <a:ext uri="{FF2B5EF4-FFF2-40B4-BE49-F238E27FC236}">
                <a16:creationId xmlns:a16="http://schemas.microsoft.com/office/drawing/2014/main" id="{9EF1034C-4AB7-96AD-1E84-A28645AF7A49}"/>
              </a:ext>
            </a:extLst>
          </p:cNvPr>
          <p:cNvSpPr txBox="1"/>
          <p:nvPr/>
        </p:nvSpPr>
        <p:spPr>
          <a:xfrm>
            <a:off x="1026160" y="1394659"/>
            <a:ext cx="10190480" cy="5196166"/>
          </a:xfrm>
          <a:prstGeom prst="rect">
            <a:avLst/>
          </a:prstGeom>
          <a:noFill/>
        </p:spPr>
        <p:txBody>
          <a:bodyPr wrap="square">
            <a:spAutoFit/>
          </a:bodyPr>
          <a:lstStyle/>
          <a:p>
            <a:pPr algn="just">
              <a:lnSpc>
                <a:spcPct val="150000"/>
              </a:lnSpc>
            </a:pPr>
            <a:r>
              <a:rPr lang="en-US" sz="2800" b="0" i="0" dirty="0">
                <a:solidFill>
                  <a:srgbClr val="61738E"/>
                </a:solidFill>
                <a:effectLst/>
                <a:latin typeface="__Source_Sans_Pro_23024b"/>
              </a:rPr>
              <a:t>The </a:t>
            </a:r>
            <a:r>
              <a:rPr lang="en-US" sz="2800" b="0" i="0" dirty="0">
                <a:solidFill>
                  <a:srgbClr val="B30058"/>
                </a:solidFill>
                <a:effectLst/>
                <a:latin typeface="__Source_Sans_Pro_23024b"/>
              </a:rPr>
              <a:t>dynamic programming algorithm</a:t>
            </a:r>
            <a:r>
              <a:rPr lang="en-US" sz="2800" b="0" i="0" dirty="0">
                <a:solidFill>
                  <a:srgbClr val="61738E"/>
                </a:solidFill>
                <a:effectLst/>
                <a:latin typeface="__Source_Sans_Pro_23024b"/>
              </a:rPr>
              <a:t> tries to find the shortest way to a solution when solving a problem. It does this by going from the top down or the bottom up. The top-down method solves equations by breaking them into smaller ones and reusing the answers when needed. The bottom-up approach solves equations by breaking them up into smaller ones, then tries to solve the equation with the smallest mathematical value, and then works its way up to the equation with the biggest value.</a:t>
            </a:r>
            <a:endParaRPr lang="en-IN" sz="2800" dirty="0"/>
          </a:p>
        </p:txBody>
      </p:sp>
    </p:spTree>
    <p:extLst>
      <p:ext uri="{BB962C8B-B14F-4D97-AF65-F5344CB8AC3E}">
        <p14:creationId xmlns:p14="http://schemas.microsoft.com/office/powerpoint/2010/main" val="2565093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AEF71-6FA3-CA7D-00E3-A77A6116A1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15D668-4247-FEEF-A08D-8B068CD63B73}"/>
              </a:ext>
            </a:extLst>
          </p:cNvPr>
          <p:cNvSpPr>
            <a:spLocks noGrp="1"/>
          </p:cNvSpPr>
          <p:nvPr>
            <p:ph type="title"/>
          </p:nvPr>
        </p:nvSpPr>
        <p:spPr/>
        <p:txBody>
          <a:bodyPr/>
          <a:lstStyle/>
          <a:p>
            <a:r>
              <a:rPr lang="en-IN" b="1" dirty="0"/>
              <a:t>Example</a:t>
            </a:r>
          </a:p>
        </p:txBody>
      </p:sp>
      <p:sp>
        <p:nvSpPr>
          <p:cNvPr id="7" name="TextBox 6">
            <a:extLst>
              <a:ext uri="{FF2B5EF4-FFF2-40B4-BE49-F238E27FC236}">
                <a16:creationId xmlns:a16="http://schemas.microsoft.com/office/drawing/2014/main" id="{3A660EC6-37FF-D79C-8488-9D11A879C1D1}"/>
              </a:ext>
            </a:extLst>
          </p:cNvPr>
          <p:cNvSpPr txBox="1"/>
          <p:nvPr/>
        </p:nvSpPr>
        <p:spPr>
          <a:xfrm>
            <a:off x="838200" y="1521381"/>
            <a:ext cx="10515600" cy="4401205"/>
          </a:xfrm>
          <a:prstGeom prst="rect">
            <a:avLst/>
          </a:prstGeom>
          <a:noFill/>
        </p:spPr>
        <p:txBody>
          <a:bodyPr wrap="square">
            <a:spAutoFit/>
          </a:bodyPr>
          <a:lstStyle/>
          <a:p>
            <a:pPr algn="just">
              <a:buNone/>
            </a:pPr>
            <a:r>
              <a:rPr lang="en-US" sz="2800" b="0" i="0" dirty="0">
                <a:solidFill>
                  <a:srgbClr val="61738E"/>
                </a:solidFill>
                <a:effectLst/>
                <a:latin typeface="__Source_Sans_Pro_23024b"/>
              </a:rPr>
              <a:t>To understand </a:t>
            </a:r>
            <a:r>
              <a:rPr lang="en-US" sz="2800" b="0" i="0" dirty="0">
                <a:solidFill>
                  <a:srgbClr val="B30058"/>
                </a:solidFill>
                <a:effectLst/>
                <a:latin typeface="__Source_Sans_Pro_23024b"/>
              </a:rPr>
              <a:t>Dynamic Programming</a:t>
            </a:r>
            <a:r>
              <a:rPr lang="en-US" sz="2800" b="0" i="0" dirty="0">
                <a:solidFill>
                  <a:srgbClr val="61738E"/>
                </a:solidFill>
                <a:effectLst/>
                <a:latin typeface="__Source_Sans_Pro_23024b"/>
              </a:rPr>
              <a:t> more clearly, let us look at an example.</a:t>
            </a:r>
          </a:p>
          <a:p>
            <a:pPr algn="just">
              <a:buNone/>
            </a:pPr>
            <a:endParaRPr lang="en-US" sz="2800" b="0" i="0" dirty="0">
              <a:solidFill>
                <a:srgbClr val="61738E"/>
              </a:solidFill>
              <a:effectLst/>
              <a:latin typeface="__Source_Sans_Pro_23024b"/>
            </a:endParaRPr>
          </a:p>
          <a:p>
            <a:pPr algn="just">
              <a:buNone/>
            </a:pPr>
            <a:r>
              <a:rPr lang="en-US" sz="2800" b="0" i="0" dirty="0">
                <a:solidFill>
                  <a:srgbClr val="61738E"/>
                </a:solidFill>
                <a:effectLst/>
                <a:latin typeface="__Source_Sans_Pro_23024b"/>
              </a:rPr>
              <a:t>Suppose we want to reconstruct the </a:t>
            </a:r>
            <a:r>
              <a:rPr lang="en-US" sz="2800" b="0" i="0" dirty="0">
                <a:solidFill>
                  <a:srgbClr val="B30058"/>
                </a:solidFill>
                <a:effectLst/>
                <a:latin typeface="__Source_Sans_Pro_23024b"/>
              </a:rPr>
              <a:t>Fibonacci Series</a:t>
            </a:r>
            <a:r>
              <a:rPr lang="en-US" sz="2800" b="0" i="0" dirty="0">
                <a:solidFill>
                  <a:srgbClr val="61738E"/>
                </a:solidFill>
                <a:effectLst/>
                <a:latin typeface="__Source_Sans_Pro_23024b"/>
              </a:rPr>
              <a:t>. It is a series, which starts with </a:t>
            </a:r>
            <a:r>
              <a:rPr lang="en-US" sz="2800" b="0" i="0" dirty="0">
                <a:solidFill>
                  <a:srgbClr val="B30058"/>
                </a:solidFill>
                <a:effectLst/>
                <a:latin typeface="__Source_Sans_Pro_23024b"/>
              </a:rPr>
              <a:t>0</a:t>
            </a:r>
            <a:r>
              <a:rPr lang="en-US" sz="2800" b="0" i="0" dirty="0">
                <a:solidFill>
                  <a:srgbClr val="61738E"/>
                </a:solidFill>
                <a:effectLst/>
                <a:latin typeface="__Source_Sans_Pro_23024b"/>
              </a:rPr>
              <a:t> and </a:t>
            </a:r>
            <a:r>
              <a:rPr lang="en-US" sz="2800" b="0" i="0" dirty="0">
                <a:solidFill>
                  <a:srgbClr val="B30058"/>
                </a:solidFill>
                <a:effectLst/>
                <a:latin typeface="__Source_Sans_Pro_23024b"/>
              </a:rPr>
              <a:t>1</a:t>
            </a:r>
            <a:r>
              <a:rPr lang="en-US" sz="2800" b="0" i="0" dirty="0">
                <a:solidFill>
                  <a:srgbClr val="61738E"/>
                </a:solidFill>
                <a:effectLst/>
                <a:latin typeface="__Source_Sans_Pro_23024b"/>
              </a:rPr>
              <a:t>, and each consecutive term is the sum of the previous two terms in the series.</a:t>
            </a:r>
          </a:p>
          <a:p>
            <a:pPr algn="just">
              <a:buNone/>
            </a:pPr>
            <a:endParaRPr lang="en-US" sz="2800" b="0" i="0" dirty="0">
              <a:solidFill>
                <a:srgbClr val="61738E"/>
              </a:solidFill>
              <a:effectLst/>
              <a:latin typeface="__Source_Sans_Pro_23024b"/>
            </a:endParaRPr>
          </a:p>
          <a:p>
            <a:pPr algn="just">
              <a:buNone/>
            </a:pPr>
            <a:r>
              <a:rPr lang="en-US" sz="2800" b="0" i="0" dirty="0">
                <a:solidFill>
                  <a:srgbClr val="61738E"/>
                </a:solidFill>
                <a:effectLst/>
                <a:latin typeface="__Source_Sans_Pro_23024b"/>
              </a:rPr>
              <a:t>So, the first few terms of the Fibonacci Series are: </a:t>
            </a:r>
            <a:r>
              <a:rPr lang="en-US" sz="2800" b="0" i="0" dirty="0">
                <a:solidFill>
                  <a:srgbClr val="B30058"/>
                </a:solidFill>
                <a:effectLst/>
                <a:latin typeface="__Source_Sans_Pro_23024b"/>
              </a:rPr>
              <a:t>0, 1, 1, 2, 3, 5, 8,</a:t>
            </a:r>
            <a:r>
              <a:rPr lang="en-US" sz="2800" b="0" i="0" dirty="0">
                <a:solidFill>
                  <a:srgbClr val="61738E"/>
                </a:solidFill>
                <a:effectLst/>
                <a:latin typeface="__Source_Sans_Pro_23024b"/>
              </a:rPr>
              <a:t> and so on. It is very clear that to calculate each term after the first two terms, we will need the previous two terms of the series.</a:t>
            </a:r>
          </a:p>
        </p:txBody>
      </p:sp>
    </p:spTree>
    <p:extLst>
      <p:ext uri="{BB962C8B-B14F-4D97-AF65-F5344CB8AC3E}">
        <p14:creationId xmlns:p14="http://schemas.microsoft.com/office/powerpoint/2010/main" val="135486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E01BC-AD9C-54ED-D169-461A03EECE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F308D5-D022-65DA-2861-E4D83D347741}"/>
              </a:ext>
            </a:extLst>
          </p:cNvPr>
          <p:cNvSpPr>
            <a:spLocks noGrp="1"/>
          </p:cNvSpPr>
          <p:nvPr>
            <p:ph type="title"/>
          </p:nvPr>
        </p:nvSpPr>
        <p:spPr>
          <a:xfrm>
            <a:off x="838200" y="111125"/>
            <a:ext cx="10515600" cy="1325563"/>
          </a:xfrm>
        </p:spPr>
        <p:txBody>
          <a:bodyPr/>
          <a:lstStyle/>
          <a:p>
            <a:r>
              <a:rPr lang="en-IN" b="1" dirty="0"/>
              <a:t>Example        continue.…</a:t>
            </a:r>
          </a:p>
        </p:txBody>
      </p:sp>
      <p:sp>
        <p:nvSpPr>
          <p:cNvPr id="4" name="TextBox 3">
            <a:extLst>
              <a:ext uri="{FF2B5EF4-FFF2-40B4-BE49-F238E27FC236}">
                <a16:creationId xmlns:a16="http://schemas.microsoft.com/office/drawing/2014/main" id="{B68D8421-0A7A-E35C-142B-C8B1BC77F5BB}"/>
              </a:ext>
            </a:extLst>
          </p:cNvPr>
          <p:cNvSpPr txBox="1"/>
          <p:nvPr/>
        </p:nvSpPr>
        <p:spPr>
          <a:xfrm>
            <a:off x="1076960" y="1203236"/>
            <a:ext cx="10058400" cy="1815882"/>
          </a:xfrm>
          <a:prstGeom prst="rect">
            <a:avLst/>
          </a:prstGeom>
          <a:noFill/>
        </p:spPr>
        <p:txBody>
          <a:bodyPr wrap="square">
            <a:spAutoFit/>
          </a:bodyPr>
          <a:lstStyle/>
          <a:p>
            <a:pPr algn="just"/>
            <a:r>
              <a:rPr lang="en-US" sz="2800" b="0" i="0" dirty="0">
                <a:solidFill>
                  <a:srgbClr val="61738E"/>
                </a:solidFill>
                <a:effectLst/>
                <a:latin typeface="__Source_Sans_Pro_23024b"/>
              </a:rPr>
              <a:t>Let's try to solve this problem using Recursion. The nth term can be calculated by adding its previous two terms. The base cases for the recursion will be the first two terms of the series which are </a:t>
            </a:r>
            <a:r>
              <a:rPr lang="en-US" sz="2800" b="0" i="0" dirty="0">
                <a:solidFill>
                  <a:srgbClr val="B30058"/>
                </a:solidFill>
                <a:effectLst/>
                <a:latin typeface="__Source_Sans_Pro_23024b"/>
              </a:rPr>
              <a:t>0</a:t>
            </a:r>
            <a:r>
              <a:rPr lang="en-US" sz="2800" b="0" i="0" dirty="0">
                <a:solidFill>
                  <a:srgbClr val="61738E"/>
                </a:solidFill>
                <a:effectLst/>
                <a:latin typeface="__Source_Sans_Pro_23024b"/>
              </a:rPr>
              <a:t> and </a:t>
            </a:r>
            <a:r>
              <a:rPr lang="en-US" sz="2800" b="0" i="0" dirty="0">
                <a:solidFill>
                  <a:srgbClr val="B30058"/>
                </a:solidFill>
                <a:effectLst/>
                <a:latin typeface="__Source_Sans_Pro_23024b"/>
              </a:rPr>
              <a:t>1</a:t>
            </a:r>
            <a:r>
              <a:rPr lang="en-US" sz="2800" b="0" i="0" dirty="0">
                <a:solidFill>
                  <a:srgbClr val="61738E"/>
                </a:solidFill>
                <a:effectLst/>
                <a:latin typeface="__Source_Sans_Pro_23024b"/>
              </a:rPr>
              <a:t>. Hence, the recursive solution would be:</a:t>
            </a:r>
            <a:endParaRPr lang="en-IN" sz="2800" dirty="0"/>
          </a:p>
        </p:txBody>
      </p:sp>
      <p:pic>
        <p:nvPicPr>
          <p:cNvPr id="6" name="Picture 5">
            <a:extLst>
              <a:ext uri="{FF2B5EF4-FFF2-40B4-BE49-F238E27FC236}">
                <a16:creationId xmlns:a16="http://schemas.microsoft.com/office/drawing/2014/main" id="{B4EE9E2D-F48B-8ABF-15F5-6B47ECB0CD94}"/>
              </a:ext>
            </a:extLst>
          </p:cNvPr>
          <p:cNvPicPr>
            <a:picLocks noChangeAspect="1"/>
          </p:cNvPicPr>
          <p:nvPr/>
        </p:nvPicPr>
        <p:blipFill>
          <a:blip r:embed="rId2">
            <a:extLst>
              <a:ext uri="{28A0092B-C50C-407E-A947-70E740481C1C}">
                <a14:useLocalDpi xmlns:a14="http://schemas.microsoft.com/office/drawing/2010/main" val="0"/>
              </a:ext>
            </a:extLst>
          </a:blip>
          <a:srcRect l="15630" t="15556" r="13259" b="67481"/>
          <a:stretch>
            <a:fillRect/>
          </a:stretch>
        </p:blipFill>
        <p:spPr>
          <a:xfrm>
            <a:off x="975952" y="3694180"/>
            <a:ext cx="5709327" cy="1815883"/>
          </a:xfrm>
          <a:prstGeom prst="rect">
            <a:avLst/>
          </a:prstGeom>
          <a:ln>
            <a:solidFill>
              <a:schemeClr val="accent2"/>
            </a:solidFill>
          </a:ln>
        </p:spPr>
      </p:pic>
      <p:pic>
        <p:nvPicPr>
          <p:cNvPr id="8" name="Picture 7">
            <a:extLst>
              <a:ext uri="{FF2B5EF4-FFF2-40B4-BE49-F238E27FC236}">
                <a16:creationId xmlns:a16="http://schemas.microsoft.com/office/drawing/2014/main" id="{2D9040E6-B8FB-0CA6-7E44-20AE5E4F0139}"/>
              </a:ext>
            </a:extLst>
          </p:cNvPr>
          <p:cNvPicPr>
            <a:picLocks noChangeAspect="1"/>
          </p:cNvPicPr>
          <p:nvPr/>
        </p:nvPicPr>
        <p:blipFill>
          <a:blip r:embed="rId2">
            <a:extLst>
              <a:ext uri="{28A0092B-C50C-407E-A947-70E740481C1C}">
                <a14:useLocalDpi xmlns:a14="http://schemas.microsoft.com/office/drawing/2010/main" val="0"/>
              </a:ext>
            </a:extLst>
          </a:blip>
          <a:srcRect l="15630" t="34445" r="13259" b="19703"/>
          <a:stretch>
            <a:fillRect/>
          </a:stretch>
        </p:blipFill>
        <p:spPr>
          <a:xfrm>
            <a:off x="7101840" y="2665180"/>
            <a:ext cx="4676046" cy="4020100"/>
          </a:xfrm>
          <a:prstGeom prst="rect">
            <a:avLst/>
          </a:prstGeom>
          <a:ln>
            <a:solidFill>
              <a:schemeClr val="accent2"/>
            </a:solidFill>
          </a:ln>
        </p:spPr>
      </p:pic>
      <p:sp>
        <p:nvSpPr>
          <p:cNvPr id="9" name="TextBox 8">
            <a:extLst>
              <a:ext uri="{FF2B5EF4-FFF2-40B4-BE49-F238E27FC236}">
                <a16:creationId xmlns:a16="http://schemas.microsoft.com/office/drawing/2014/main" id="{1D57B994-0F5A-8CFD-BE70-DA95B2D9D4A8}"/>
              </a:ext>
            </a:extLst>
          </p:cNvPr>
          <p:cNvSpPr txBox="1"/>
          <p:nvPr/>
        </p:nvSpPr>
        <p:spPr>
          <a:xfrm>
            <a:off x="2895601" y="6020949"/>
            <a:ext cx="2395207" cy="584775"/>
          </a:xfrm>
          <a:prstGeom prst="rect">
            <a:avLst/>
          </a:prstGeom>
          <a:noFill/>
        </p:spPr>
        <p:txBody>
          <a:bodyPr wrap="none" rtlCol="0">
            <a:spAutoFit/>
          </a:bodyPr>
          <a:lstStyle/>
          <a:p>
            <a:r>
              <a:rPr lang="en-IN" sz="3200" dirty="0"/>
              <a:t>T(n) = O(2^n)</a:t>
            </a:r>
          </a:p>
        </p:txBody>
      </p:sp>
    </p:spTree>
    <p:extLst>
      <p:ext uri="{BB962C8B-B14F-4D97-AF65-F5344CB8AC3E}">
        <p14:creationId xmlns:p14="http://schemas.microsoft.com/office/powerpoint/2010/main" val="3819081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7432B-56D4-FBF0-FEF1-9D73A4D816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CAFAA9-4BD5-8E7C-E812-C7E0A54F0E55}"/>
              </a:ext>
            </a:extLst>
          </p:cNvPr>
          <p:cNvSpPr>
            <a:spLocks noGrp="1"/>
          </p:cNvSpPr>
          <p:nvPr>
            <p:ph type="title"/>
          </p:nvPr>
        </p:nvSpPr>
        <p:spPr>
          <a:xfrm>
            <a:off x="838200" y="111125"/>
            <a:ext cx="10515600" cy="1325563"/>
          </a:xfrm>
        </p:spPr>
        <p:txBody>
          <a:bodyPr/>
          <a:lstStyle/>
          <a:p>
            <a:r>
              <a:rPr lang="en-IN" b="1" dirty="0"/>
              <a:t>Example        continue.…</a:t>
            </a:r>
          </a:p>
        </p:txBody>
      </p:sp>
      <p:sp>
        <p:nvSpPr>
          <p:cNvPr id="9" name="TextBox 8">
            <a:extLst>
              <a:ext uri="{FF2B5EF4-FFF2-40B4-BE49-F238E27FC236}">
                <a16:creationId xmlns:a16="http://schemas.microsoft.com/office/drawing/2014/main" id="{E67C7C81-D937-D99F-B57E-F2215959D013}"/>
              </a:ext>
            </a:extLst>
          </p:cNvPr>
          <p:cNvSpPr txBox="1"/>
          <p:nvPr/>
        </p:nvSpPr>
        <p:spPr>
          <a:xfrm>
            <a:off x="802640" y="1171694"/>
            <a:ext cx="7620000" cy="584775"/>
          </a:xfrm>
          <a:prstGeom prst="rect">
            <a:avLst/>
          </a:prstGeom>
          <a:noFill/>
        </p:spPr>
        <p:txBody>
          <a:bodyPr wrap="square">
            <a:spAutoFit/>
          </a:bodyPr>
          <a:lstStyle/>
          <a:p>
            <a:r>
              <a:rPr lang="en-US" sz="3200" b="0" i="0" dirty="0">
                <a:solidFill>
                  <a:srgbClr val="61738E"/>
                </a:solidFill>
                <a:effectLst/>
                <a:latin typeface="__Source_Sans_Pro_23024b"/>
              </a:rPr>
              <a:t> recursion tree for the Fibonacci sequence. </a:t>
            </a:r>
            <a:endParaRPr lang="en-IN" sz="3200" dirty="0"/>
          </a:p>
        </p:txBody>
      </p:sp>
      <p:pic>
        <p:nvPicPr>
          <p:cNvPr id="13" name="Picture 12">
            <a:extLst>
              <a:ext uri="{FF2B5EF4-FFF2-40B4-BE49-F238E27FC236}">
                <a16:creationId xmlns:a16="http://schemas.microsoft.com/office/drawing/2014/main" id="{37374671-01F8-A00C-2D25-857DEB6C4CB4}"/>
              </a:ext>
            </a:extLst>
          </p:cNvPr>
          <p:cNvPicPr>
            <a:picLocks noChangeAspect="1"/>
          </p:cNvPicPr>
          <p:nvPr/>
        </p:nvPicPr>
        <p:blipFill>
          <a:blip r:embed="rId2">
            <a:extLst>
              <a:ext uri="{28A0092B-C50C-407E-A947-70E740481C1C}">
                <a14:useLocalDpi xmlns:a14="http://schemas.microsoft.com/office/drawing/2010/main" val="0"/>
              </a:ext>
            </a:extLst>
          </a:blip>
          <a:srcRect l="9013" t="14297" r="6113" b="15925"/>
          <a:stretch>
            <a:fillRect/>
          </a:stretch>
        </p:blipFill>
        <p:spPr>
          <a:xfrm rot="5400000">
            <a:off x="7488981" y="1885586"/>
            <a:ext cx="4157647" cy="4557510"/>
          </a:xfrm>
          <a:prstGeom prst="rect">
            <a:avLst/>
          </a:prstGeom>
          <a:ln w="28575">
            <a:solidFill>
              <a:schemeClr val="accent2"/>
            </a:solidFill>
          </a:ln>
        </p:spPr>
      </p:pic>
      <p:pic>
        <p:nvPicPr>
          <p:cNvPr id="15" name="Picture 14">
            <a:extLst>
              <a:ext uri="{FF2B5EF4-FFF2-40B4-BE49-F238E27FC236}">
                <a16:creationId xmlns:a16="http://schemas.microsoft.com/office/drawing/2014/main" id="{44407288-606F-B276-0078-6B11DE87D96C}"/>
              </a:ext>
            </a:extLst>
          </p:cNvPr>
          <p:cNvPicPr>
            <a:picLocks noChangeAspect="1"/>
          </p:cNvPicPr>
          <p:nvPr/>
        </p:nvPicPr>
        <p:blipFill>
          <a:blip r:embed="rId3">
            <a:extLst>
              <a:ext uri="{28A0092B-C50C-407E-A947-70E740481C1C}">
                <a14:useLocalDpi xmlns:a14="http://schemas.microsoft.com/office/drawing/2010/main" val="0"/>
              </a:ext>
            </a:extLst>
          </a:blip>
          <a:srcRect l="13750" r="15000" b="23860"/>
          <a:stretch>
            <a:fillRect/>
          </a:stretch>
        </p:blipFill>
        <p:spPr>
          <a:xfrm>
            <a:off x="325120" y="2086889"/>
            <a:ext cx="6705600" cy="3917814"/>
          </a:xfrm>
          <a:prstGeom prst="rect">
            <a:avLst/>
          </a:prstGeom>
          <a:ln w="28575">
            <a:solidFill>
              <a:schemeClr val="accent1"/>
            </a:solidFill>
          </a:ln>
        </p:spPr>
      </p:pic>
    </p:spTree>
    <p:extLst>
      <p:ext uri="{BB962C8B-B14F-4D97-AF65-F5344CB8AC3E}">
        <p14:creationId xmlns:p14="http://schemas.microsoft.com/office/powerpoint/2010/main" val="5546834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285</Words>
  <Application>Microsoft Office PowerPoint</Application>
  <PresentationFormat>Widescreen</PresentationFormat>
  <Paragraphs>15</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__Source_Sans_Pro_23024b</vt:lpstr>
      <vt:lpstr>Arial</vt:lpstr>
      <vt:lpstr>Calibri</vt:lpstr>
      <vt:lpstr>Calibri Light</vt:lpstr>
      <vt:lpstr>Office Theme</vt:lpstr>
      <vt:lpstr>Unit-III  Dynamic Programming</vt:lpstr>
      <vt:lpstr>What is Dynamic Programming?</vt:lpstr>
      <vt:lpstr>Example</vt:lpstr>
      <vt:lpstr>Example        continue.…</vt:lpstr>
      <vt:lpstr>Example        continue.…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Dayanand Yadav</dc:creator>
  <cp:lastModifiedBy>Dayanand Yadav</cp:lastModifiedBy>
  <cp:revision>1</cp:revision>
  <dcterms:created xsi:type="dcterms:W3CDTF">2026-05-13T15:58:59Z</dcterms:created>
  <dcterms:modified xsi:type="dcterms:W3CDTF">2026-05-13T16:30:14Z</dcterms:modified>
</cp:coreProperties>
</file>