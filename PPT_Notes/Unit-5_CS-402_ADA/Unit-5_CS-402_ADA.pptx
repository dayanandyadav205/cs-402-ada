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5"/>
  </p:notesMasterIdLst>
  <p:sldIdLst>
    <p:sldId id="256" r:id="rId2"/>
    <p:sldId id="269" r:id="rId3"/>
    <p:sldId id="259" r:id="rId4"/>
    <p:sldId id="326" r:id="rId5"/>
    <p:sldId id="327" r:id="rId6"/>
    <p:sldId id="328" r:id="rId7"/>
    <p:sldId id="265" r:id="rId8"/>
    <p:sldId id="321" r:id="rId9"/>
    <p:sldId id="310" r:id="rId10"/>
    <p:sldId id="303" r:id="rId11"/>
    <p:sldId id="322" r:id="rId12"/>
    <p:sldId id="302" r:id="rId13"/>
    <p:sldId id="311" r:id="rId14"/>
    <p:sldId id="304" r:id="rId15"/>
    <p:sldId id="261" r:id="rId16"/>
    <p:sldId id="308" r:id="rId17"/>
    <p:sldId id="305" r:id="rId18"/>
    <p:sldId id="307" r:id="rId19"/>
    <p:sldId id="306" r:id="rId20"/>
    <p:sldId id="309" r:id="rId21"/>
    <p:sldId id="323" r:id="rId22"/>
    <p:sldId id="312" r:id="rId23"/>
    <p:sldId id="273" r:id="rId24"/>
    <p:sldId id="274" r:id="rId25"/>
    <p:sldId id="277" r:id="rId26"/>
    <p:sldId id="313" r:id="rId27"/>
    <p:sldId id="281" r:id="rId28"/>
    <p:sldId id="282" r:id="rId29"/>
    <p:sldId id="314" r:id="rId30"/>
    <p:sldId id="325" r:id="rId31"/>
    <p:sldId id="324" r:id="rId32"/>
    <p:sldId id="283" r:id="rId33"/>
    <p:sldId id="319" r:id="rId34"/>
    <p:sldId id="320" r:id="rId35"/>
    <p:sldId id="286" r:id="rId36"/>
    <p:sldId id="284" r:id="rId37"/>
    <p:sldId id="285" r:id="rId38"/>
    <p:sldId id="290" r:id="rId39"/>
    <p:sldId id="315" r:id="rId40"/>
    <p:sldId id="316" r:id="rId41"/>
    <p:sldId id="293" r:id="rId42"/>
    <p:sldId id="317" r:id="rId43"/>
    <p:sldId id="296"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5" d="100"/>
          <a:sy n="75" d="100"/>
        </p:scale>
        <p:origin x="874"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Calibri" panose="020F0502020204030204" pitchFamily="34" charset="0"/>
              </a:defRPr>
            </a:lvl1pPr>
          </a:lstStyle>
          <a:p>
            <a:endParaRPr lang="en-IN"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Calibri" panose="020F0502020204030204" pitchFamily="34" charset="0"/>
              </a:defRPr>
            </a:lvl1pPr>
          </a:lstStyle>
          <a:p>
            <a:fld id="{63E853CA-906C-4AEE-8B2F-29670DEBA917}" type="datetimeFigureOut">
              <a:rPr lang="en-IN" smtClean="0"/>
              <a:pPr/>
              <a:t>20-07-2026</a:t>
            </a:fld>
            <a:endParaRPr lang="en-IN"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Calibri" panose="020F0502020204030204" pitchFamily="34" charset="0"/>
              </a:defRPr>
            </a:lvl1pPr>
          </a:lstStyle>
          <a:p>
            <a:endParaRPr lang="en-IN"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Calibri" panose="020F0502020204030204" pitchFamily="34" charset="0"/>
              </a:defRPr>
            </a:lvl1pPr>
          </a:lstStyle>
          <a:p>
            <a:fld id="{F66C0FBD-4582-4E91-83D1-F3058045FCD3}" type="slidenum">
              <a:rPr lang="en-IN" smtClean="0"/>
              <a:pPr/>
              <a:t>‹#›</a:t>
            </a:fld>
            <a:endParaRPr lang="en-IN" dirty="0"/>
          </a:p>
        </p:txBody>
      </p:sp>
    </p:spTree>
    <p:extLst>
      <p:ext uri="{BB962C8B-B14F-4D97-AF65-F5344CB8AC3E}">
        <p14:creationId xmlns:p14="http://schemas.microsoft.com/office/powerpoint/2010/main" val="20424547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Calibri" panose="020F0502020204030204" pitchFamily="34" charset="0"/>
        <a:ea typeface="+mn-ea"/>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F66C0FBD-4582-4E91-83D1-F3058045FCD3}" type="slidenum">
              <a:rPr lang="en-IN" smtClean="0"/>
              <a:t>15</a:t>
            </a:fld>
            <a:endParaRPr lang="en-IN"/>
          </a:p>
        </p:txBody>
      </p:sp>
    </p:spTree>
    <p:extLst>
      <p:ext uri="{BB962C8B-B14F-4D97-AF65-F5344CB8AC3E}">
        <p14:creationId xmlns:p14="http://schemas.microsoft.com/office/powerpoint/2010/main" val="32838966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F66C0FBD-4582-4E91-83D1-F3058045FCD3}" type="slidenum">
              <a:rPr lang="en-IN" smtClean="0"/>
              <a:pPr/>
              <a:t>21</a:t>
            </a:fld>
            <a:endParaRPr lang="en-IN" dirty="0"/>
          </a:p>
        </p:txBody>
      </p:sp>
    </p:spTree>
    <p:extLst>
      <p:ext uri="{BB962C8B-B14F-4D97-AF65-F5344CB8AC3E}">
        <p14:creationId xmlns:p14="http://schemas.microsoft.com/office/powerpoint/2010/main" val="31771885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A7CE0-733C-6865-6382-9E5432263D3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DFC6B243-0703-3DED-F25A-566AD79179F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B8556A21-2ED2-08DD-1093-859B0F2FF267}"/>
              </a:ext>
            </a:extLst>
          </p:cNvPr>
          <p:cNvSpPr>
            <a:spLocks noGrp="1"/>
          </p:cNvSpPr>
          <p:nvPr>
            <p:ph type="dt" sz="half" idx="10"/>
          </p:nvPr>
        </p:nvSpPr>
        <p:spPr/>
        <p:txBody>
          <a:bodyPr/>
          <a:lstStyle/>
          <a:p>
            <a:fld id="{B1924B0A-AD3C-45CD-990F-7E72F5BE0A1B}" type="datetime1">
              <a:rPr lang="en-IN" smtClean="0"/>
              <a:t>20-07-2026</a:t>
            </a:fld>
            <a:endParaRPr lang="en-IN"/>
          </a:p>
        </p:txBody>
      </p:sp>
      <p:sp>
        <p:nvSpPr>
          <p:cNvPr id="5" name="Footer Placeholder 4">
            <a:extLst>
              <a:ext uri="{FF2B5EF4-FFF2-40B4-BE49-F238E27FC236}">
                <a16:creationId xmlns:a16="http://schemas.microsoft.com/office/drawing/2014/main" id="{F73D32EC-A551-12FA-428C-91152182FB3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66B4919-25FB-8C10-7BD7-C32DCE37D00F}"/>
              </a:ext>
            </a:extLst>
          </p:cNvPr>
          <p:cNvSpPr>
            <a:spLocks noGrp="1"/>
          </p:cNvSpPr>
          <p:nvPr>
            <p:ph type="sldNum" sz="quarter" idx="12"/>
          </p:nvPr>
        </p:nvSpPr>
        <p:spPr/>
        <p:txBody>
          <a:bodyPr/>
          <a:lstStyle/>
          <a:p>
            <a:fld id="{520A0C6E-EFDF-49F2-A292-CF6FBFE4B673}" type="slidenum">
              <a:rPr lang="en-IN" smtClean="0"/>
              <a:t>‹#›</a:t>
            </a:fld>
            <a:endParaRPr lang="en-IN"/>
          </a:p>
        </p:txBody>
      </p:sp>
    </p:spTree>
    <p:extLst>
      <p:ext uri="{BB962C8B-B14F-4D97-AF65-F5344CB8AC3E}">
        <p14:creationId xmlns:p14="http://schemas.microsoft.com/office/powerpoint/2010/main" val="5361118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4D919-9CDF-BFB3-7513-8181B27A2CE0}"/>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C76B3EB8-429A-3190-0224-DCD39C501AB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C4DDCAA-3463-3B25-C862-A58D020BDBAA}"/>
              </a:ext>
            </a:extLst>
          </p:cNvPr>
          <p:cNvSpPr>
            <a:spLocks noGrp="1"/>
          </p:cNvSpPr>
          <p:nvPr>
            <p:ph type="dt" sz="half" idx="10"/>
          </p:nvPr>
        </p:nvSpPr>
        <p:spPr/>
        <p:txBody>
          <a:bodyPr/>
          <a:lstStyle/>
          <a:p>
            <a:fld id="{748BC28E-0CE5-4175-8D5E-5D328E5CC809}" type="datetime1">
              <a:rPr lang="en-IN" smtClean="0"/>
              <a:t>20-07-2026</a:t>
            </a:fld>
            <a:endParaRPr lang="en-IN"/>
          </a:p>
        </p:txBody>
      </p:sp>
      <p:sp>
        <p:nvSpPr>
          <p:cNvPr id="5" name="Footer Placeholder 4">
            <a:extLst>
              <a:ext uri="{FF2B5EF4-FFF2-40B4-BE49-F238E27FC236}">
                <a16:creationId xmlns:a16="http://schemas.microsoft.com/office/drawing/2014/main" id="{B4627B3C-2E7B-AE06-9121-179570EF808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434342A-236A-F1CD-2949-ED3CAA7C5295}"/>
              </a:ext>
            </a:extLst>
          </p:cNvPr>
          <p:cNvSpPr>
            <a:spLocks noGrp="1"/>
          </p:cNvSpPr>
          <p:nvPr>
            <p:ph type="sldNum" sz="quarter" idx="12"/>
          </p:nvPr>
        </p:nvSpPr>
        <p:spPr/>
        <p:txBody>
          <a:bodyPr/>
          <a:lstStyle/>
          <a:p>
            <a:fld id="{520A0C6E-EFDF-49F2-A292-CF6FBFE4B673}" type="slidenum">
              <a:rPr lang="en-IN" smtClean="0"/>
              <a:t>‹#›</a:t>
            </a:fld>
            <a:endParaRPr lang="en-IN"/>
          </a:p>
        </p:txBody>
      </p:sp>
    </p:spTree>
    <p:extLst>
      <p:ext uri="{BB962C8B-B14F-4D97-AF65-F5344CB8AC3E}">
        <p14:creationId xmlns:p14="http://schemas.microsoft.com/office/powerpoint/2010/main" val="1658716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82A0A-1389-B3A2-4717-54433EA6A38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441F3045-22EE-4C2F-FC3E-42FDD4A12AC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A1FA8C-EE4B-ECEC-FE69-E77662289083}"/>
              </a:ext>
            </a:extLst>
          </p:cNvPr>
          <p:cNvSpPr>
            <a:spLocks noGrp="1"/>
          </p:cNvSpPr>
          <p:nvPr>
            <p:ph type="dt" sz="half" idx="10"/>
          </p:nvPr>
        </p:nvSpPr>
        <p:spPr/>
        <p:txBody>
          <a:bodyPr/>
          <a:lstStyle/>
          <a:p>
            <a:fld id="{45FF08EF-706C-4CD2-A2AF-F9BF67A0693E}" type="datetime1">
              <a:rPr lang="en-IN" smtClean="0"/>
              <a:t>20-07-2026</a:t>
            </a:fld>
            <a:endParaRPr lang="en-IN"/>
          </a:p>
        </p:txBody>
      </p:sp>
      <p:sp>
        <p:nvSpPr>
          <p:cNvPr id="5" name="Footer Placeholder 4">
            <a:extLst>
              <a:ext uri="{FF2B5EF4-FFF2-40B4-BE49-F238E27FC236}">
                <a16:creationId xmlns:a16="http://schemas.microsoft.com/office/drawing/2014/main" id="{81EF9F4A-82B8-4AF6-5A33-CFD23D1FF01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785E102-6583-D8D2-F858-79F1E2ED7121}"/>
              </a:ext>
            </a:extLst>
          </p:cNvPr>
          <p:cNvSpPr>
            <a:spLocks noGrp="1"/>
          </p:cNvSpPr>
          <p:nvPr>
            <p:ph type="sldNum" sz="quarter" idx="12"/>
          </p:nvPr>
        </p:nvSpPr>
        <p:spPr/>
        <p:txBody>
          <a:bodyPr/>
          <a:lstStyle/>
          <a:p>
            <a:fld id="{520A0C6E-EFDF-49F2-A292-CF6FBFE4B673}" type="slidenum">
              <a:rPr lang="en-IN" smtClean="0"/>
              <a:t>‹#›</a:t>
            </a:fld>
            <a:endParaRPr lang="en-IN"/>
          </a:p>
        </p:txBody>
      </p:sp>
    </p:spTree>
    <p:extLst>
      <p:ext uri="{BB962C8B-B14F-4D97-AF65-F5344CB8AC3E}">
        <p14:creationId xmlns:p14="http://schemas.microsoft.com/office/powerpoint/2010/main" val="452869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D306E-72CA-BB31-B138-54F83C4206A5}"/>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91B3D5B-DAB9-F3D1-C0A2-E85471DFF1E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37E7776-FD86-0104-14F6-7AE5E1C0F60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C06694F3-8EDF-0ED9-6F5D-E1DE0A56BBE7}"/>
              </a:ext>
            </a:extLst>
          </p:cNvPr>
          <p:cNvSpPr>
            <a:spLocks noGrp="1"/>
          </p:cNvSpPr>
          <p:nvPr>
            <p:ph type="dt" sz="half" idx="10"/>
          </p:nvPr>
        </p:nvSpPr>
        <p:spPr/>
        <p:txBody>
          <a:bodyPr/>
          <a:lstStyle/>
          <a:p>
            <a:fld id="{FF32DE56-596B-4C67-A7E7-8D124D2B4DC9}" type="datetime1">
              <a:rPr lang="en-IN" smtClean="0"/>
              <a:t>20-07-2026</a:t>
            </a:fld>
            <a:endParaRPr lang="en-IN"/>
          </a:p>
        </p:txBody>
      </p:sp>
      <p:sp>
        <p:nvSpPr>
          <p:cNvPr id="6" name="Footer Placeholder 5">
            <a:extLst>
              <a:ext uri="{FF2B5EF4-FFF2-40B4-BE49-F238E27FC236}">
                <a16:creationId xmlns:a16="http://schemas.microsoft.com/office/drawing/2014/main" id="{5BBDEFC2-3B08-6140-91A0-805177ED8E9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8828513-01CA-3D66-210E-9222309FF2FF}"/>
              </a:ext>
            </a:extLst>
          </p:cNvPr>
          <p:cNvSpPr>
            <a:spLocks noGrp="1"/>
          </p:cNvSpPr>
          <p:nvPr>
            <p:ph type="sldNum" sz="quarter" idx="12"/>
          </p:nvPr>
        </p:nvSpPr>
        <p:spPr/>
        <p:txBody>
          <a:bodyPr/>
          <a:lstStyle/>
          <a:p>
            <a:fld id="{520A0C6E-EFDF-49F2-A292-CF6FBFE4B673}" type="slidenum">
              <a:rPr lang="en-IN" smtClean="0"/>
              <a:t>‹#›</a:t>
            </a:fld>
            <a:endParaRPr lang="en-IN"/>
          </a:p>
        </p:txBody>
      </p:sp>
    </p:spTree>
    <p:extLst>
      <p:ext uri="{BB962C8B-B14F-4D97-AF65-F5344CB8AC3E}">
        <p14:creationId xmlns:p14="http://schemas.microsoft.com/office/powerpoint/2010/main" val="24356715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C48D2-874A-5CA2-F79C-87B4C7BC9B24}"/>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CE5612FC-2005-87CD-95C5-0173EEDBB0B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AC204F8-37A1-366C-DB0D-652BDAF6ECF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8D703377-0034-65EF-EB39-BE65E79CAFF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E3FE49D-8FEB-56E7-CECE-489C7F43DEF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3792E089-D02A-9B62-E66E-B17BC645F376}"/>
              </a:ext>
            </a:extLst>
          </p:cNvPr>
          <p:cNvSpPr>
            <a:spLocks noGrp="1"/>
          </p:cNvSpPr>
          <p:nvPr>
            <p:ph type="dt" sz="half" idx="10"/>
          </p:nvPr>
        </p:nvSpPr>
        <p:spPr/>
        <p:txBody>
          <a:bodyPr/>
          <a:lstStyle/>
          <a:p>
            <a:fld id="{816B72B5-61DF-4DC5-B1D6-80F499639E8C}" type="datetime1">
              <a:rPr lang="en-IN" smtClean="0"/>
              <a:t>20-07-2026</a:t>
            </a:fld>
            <a:endParaRPr lang="en-IN"/>
          </a:p>
        </p:txBody>
      </p:sp>
      <p:sp>
        <p:nvSpPr>
          <p:cNvPr id="8" name="Footer Placeholder 7">
            <a:extLst>
              <a:ext uri="{FF2B5EF4-FFF2-40B4-BE49-F238E27FC236}">
                <a16:creationId xmlns:a16="http://schemas.microsoft.com/office/drawing/2014/main" id="{CCF9002B-BBE1-093C-8C96-2919B1BE593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6960354D-3867-F459-36B5-365246BCACFD}"/>
              </a:ext>
            </a:extLst>
          </p:cNvPr>
          <p:cNvSpPr>
            <a:spLocks noGrp="1"/>
          </p:cNvSpPr>
          <p:nvPr>
            <p:ph type="sldNum" sz="quarter" idx="12"/>
          </p:nvPr>
        </p:nvSpPr>
        <p:spPr/>
        <p:txBody>
          <a:bodyPr/>
          <a:lstStyle/>
          <a:p>
            <a:fld id="{520A0C6E-EFDF-49F2-A292-CF6FBFE4B673}" type="slidenum">
              <a:rPr lang="en-IN" smtClean="0"/>
              <a:t>‹#›</a:t>
            </a:fld>
            <a:endParaRPr lang="en-IN"/>
          </a:p>
        </p:txBody>
      </p:sp>
    </p:spTree>
    <p:extLst>
      <p:ext uri="{BB962C8B-B14F-4D97-AF65-F5344CB8AC3E}">
        <p14:creationId xmlns:p14="http://schemas.microsoft.com/office/powerpoint/2010/main" val="2879541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AA855-31ED-4AAC-981B-AC7597C6CE7F}"/>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A43F543B-CE6D-F93A-FD23-FB617B3AFAB6}"/>
              </a:ext>
            </a:extLst>
          </p:cNvPr>
          <p:cNvSpPr>
            <a:spLocks noGrp="1"/>
          </p:cNvSpPr>
          <p:nvPr>
            <p:ph type="dt" sz="half" idx="10"/>
          </p:nvPr>
        </p:nvSpPr>
        <p:spPr/>
        <p:txBody>
          <a:bodyPr/>
          <a:lstStyle/>
          <a:p>
            <a:fld id="{07BF805B-DE2D-4352-BBB6-4A96D944AFD4}" type="datetime1">
              <a:rPr lang="en-IN" smtClean="0"/>
              <a:t>20-07-2026</a:t>
            </a:fld>
            <a:endParaRPr lang="en-IN"/>
          </a:p>
        </p:txBody>
      </p:sp>
      <p:sp>
        <p:nvSpPr>
          <p:cNvPr id="4" name="Footer Placeholder 3">
            <a:extLst>
              <a:ext uri="{FF2B5EF4-FFF2-40B4-BE49-F238E27FC236}">
                <a16:creationId xmlns:a16="http://schemas.microsoft.com/office/drawing/2014/main" id="{D0BDB22A-853E-C4F7-3712-A7E4C9D89941}"/>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C135EA81-5DA6-5E7C-66CE-253CDFBEBF46}"/>
              </a:ext>
            </a:extLst>
          </p:cNvPr>
          <p:cNvSpPr>
            <a:spLocks noGrp="1"/>
          </p:cNvSpPr>
          <p:nvPr>
            <p:ph type="sldNum" sz="quarter" idx="12"/>
          </p:nvPr>
        </p:nvSpPr>
        <p:spPr/>
        <p:txBody>
          <a:bodyPr/>
          <a:lstStyle/>
          <a:p>
            <a:fld id="{520A0C6E-EFDF-49F2-A292-CF6FBFE4B673}" type="slidenum">
              <a:rPr lang="en-IN" smtClean="0"/>
              <a:t>‹#›</a:t>
            </a:fld>
            <a:endParaRPr lang="en-IN"/>
          </a:p>
        </p:txBody>
      </p:sp>
    </p:spTree>
    <p:extLst>
      <p:ext uri="{BB962C8B-B14F-4D97-AF65-F5344CB8AC3E}">
        <p14:creationId xmlns:p14="http://schemas.microsoft.com/office/powerpoint/2010/main" val="40006016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ECF18B6-15B3-2754-7340-5A8FDF846774}"/>
              </a:ext>
            </a:extLst>
          </p:cNvPr>
          <p:cNvSpPr>
            <a:spLocks noGrp="1"/>
          </p:cNvSpPr>
          <p:nvPr>
            <p:ph type="dt" sz="half" idx="10"/>
          </p:nvPr>
        </p:nvSpPr>
        <p:spPr/>
        <p:txBody>
          <a:bodyPr/>
          <a:lstStyle/>
          <a:p>
            <a:fld id="{CF23B59D-9522-4210-8C0D-8E7ACFB9371B}" type="datetime1">
              <a:rPr lang="en-IN" smtClean="0"/>
              <a:t>20-07-2026</a:t>
            </a:fld>
            <a:endParaRPr lang="en-IN"/>
          </a:p>
        </p:txBody>
      </p:sp>
      <p:sp>
        <p:nvSpPr>
          <p:cNvPr id="3" name="Footer Placeholder 2">
            <a:extLst>
              <a:ext uri="{FF2B5EF4-FFF2-40B4-BE49-F238E27FC236}">
                <a16:creationId xmlns:a16="http://schemas.microsoft.com/office/drawing/2014/main" id="{57260048-79B4-B3F0-33A2-866D017EE30A}"/>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1A569FE7-D80B-D916-13B9-7BC8E91D7D4B}"/>
              </a:ext>
            </a:extLst>
          </p:cNvPr>
          <p:cNvSpPr>
            <a:spLocks noGrp="1"/>
          </p:cNvSpPr>
          <p:nvPr>
            <p:ph type="sldNum" sz="quarter" idx="12"/>
          </p:nvPr>
        </p:nvSpPr>
        <p:spPr/>
        <p:txBody>
          <a:bodyPr/>
          <a:lstStyle/>
          <a:p>
            <a:fld id="{520A0C6E-EFDF-49F2-A292-CF6FBFE4B673}" type="slidenum">
              <a:rPr lang="en-IN" smtClean="0"/>
              <a:t>‹#›</a:t>
            </a:fld>
            <a:endParaRPr lang="en-IN"/>
          </a:p>
        </p:txBody>
      </p:sp>
    </p:spTree>
    <p:extLst>
      <p:ext uri="{BB962C8B-B14F-4D97-AF65-F5344CB8AC3E}">
        <p14:creationId xmlns:p14="http://schemas.microsoft.com/office/powerpoint/2010/main" val="9530847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F518E0-40D1-E8A9-AF31-A88036DB823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0B729619-5916-522C-F63A-4589E1016B6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347D190E-FBB1-D3F6-4F59-1184C85C21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5AA22D8-62F1-93B9-71EC-F657D6ABDA06}"/>
              </a:ext>
            </a:extLst>
          </p:cNvPr>
          <p:cNvSpPr>
            <a:spLocks noGrp="1"/>
          </p:cNvSpPr>
          <p:nvPr>
            <p:ph type="dt" sz="half" idx="10"/>
          </p:nvPr>
        </p:nvSpPr>
        <p:spPr/>
        <p:txBody>
          <a:bodyPr/>
          <a:lstStyle/>
          <a:p>
            <a:fld id="{69A01849-D817-4166-8951-9E44DDA9D2A6}" type="datetime1">
              <a:rPr lang="en-IN" smtClean="0"/>
              <a:t>20-07-2026</a:t>
            </a:fld>
            <a:endParaRPr lang="en-IN"/>
          </a:p>
        </p:txBody>
      </p:sp>
      <p:sp>
        <p:nvSpPr>
          <p:cNvPr id="6" name="Footer Placeholder 5">
            <a:extLst>
              <a:ext uri="{FF2B5EF4-FFF2-40B4-BE49-F238E27FC236}">
                <a16:creationId xmlns:a16="http://schemas.microsoft.com/office/drawing/2014/main" id="{3E9840F1-D57D-9B56-A9B1-028BB96EB90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11492EC-DB35-5CBC-739D-9DFBFDA83610}"/>
              </a:ext>
            </a:extLst>
          </p:cNvPr>
          <p:cNvSpPr>
            <a:spLocks noGrp="1"/>
          </p:cNvSpPr>
          <p:nvPr>
            <p:ph type="sldNum" sz="quarter" idx="12"/>
          </p:nvPr>
        </p:nvSpPr>
        <p:spPr/>
        <p:txBody>
          <a:bodyPr/>
          <a:lstStyle/>
          <a:p>
            <a:fld id="{520A0C6E-EFDF-49F2-A292-CF6FBFE4B673}" type="slidenum">
              <a:rPr lang="en-IN" smtClean="0"/>
              <a:t>‹#›</a:t>
            </a:fld>
            <a:endParaRPr lang="en-IN"/>
          </a:p>
        </p:txBody>
      </p:sp>
    </p:spTree>
    <p:extLst>
      <p:ext uri="{BB962C8B-B14F-4D97-AF65-F5344CB8AC3E}">
        <p14:creationId xmlns:p14="http://schemas.microsoft.com/office/powerpoint/2010/main" val="30218392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868EE-CC73-9791-0894-545A28F6EC2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F7E0872-DE17-84B5-C67C-BB42D42B709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C0AFCA28-3047-5CA3-B9C6-CD4740D735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1FCCF19-3D6B-DBDE-10AD-D2324C80AE4C}"/>
              </a:ext>
            </a:extLst>
          </p:cNvPr>
          <p:cNvSpPr>
            <a:spLocks noGrp="1"/>
          </p:cNvSpPr>
          <p:nvPr>
            <p:ph type="dt" sz="half" idx="10"/>
          </p:nvPr>
        </p:nvSpPr>
        <p:spPr/>
        <p:txBody>
          <a:bodyPr/>
          <a:lstStyle/>
          <a:p>
            <a:fld id="{ED1BF849-6569-4BB9-9400-D912F1C16612}" type="datetime1">
              <a:rPr lang="en-IN" smtClean="0"/>
              <a:t>20-07-2026</a:t>
            </a:fld>
            <a:endParaRPr lang="en-IN"/>
          </a:p>
        </p:txBody>
      </p:sp>
      <p:sp>
        <p:nvSpPr>
          <p:cNvPr id="6" name="Footer Placeholder 5">
            <a:extLst>
              <a:ext uri="{FF2B5EF4-FFF2-40B4-BE49-F238E27FC236}">
                <a16:creationId xmlns:a16="http://schemas.microsoft.com/office/drawing/2014/main" id="{65D612A4-2A72-215D-2541-0572221F4D6E}"/>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6E3A9FB-949A-1837-DC8A-A581D90B9D79}"/>
              </a:ext>
            </a:extLst>
          </p:cNvPr>
          <p:cNvSpPr>
            <a:spLocks noGrp="1"/>
          </p:cNvSpPr>
          <p:nvPr>
            <p:ph type="sldNum" sz="quarter" idx="12"/>
          </p:nvPr>
        </p:nvSpPr>
        <p:spPr/>
        <p:txBody>
          <a:bodyPr/>
          <a:lstStyle/>
          <a:p>
            <a:fld id="{520A0C6E-EFDF-49F2-A292-CF6FBFE4B673}" type="slidenum">
              <a:rPr lang="en-IN" smtClean="0"/>
              <a:t>‹#›</a:t>
            </a:fld>
            <a:endParaRPr lang="en-IN"/>
          </a:p>
        </p:txBody>
      </p:sp>
    </p:spTree>
    <p:extLst>
      <p:ext uri="{BB962C8B-B14F-4D97-AF65-F5344CB8AC3E}">
        <p14:creationId xmlns:p14="http://schemas.microsoft.com/office/powerpoint/2010/main" val="2274725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064C8E-31A0-68D9-B8CB-FD2034056B04}"/>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B5B36907-7D78-8E58-1658-83CAA86A75F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1E3CB2F-45F4-C529-157C-4A9D816C82ED}"/>
              </a:ext>
            </a:extLst>
          </p:cNvPr>
          <p:cNvSpPr>
            <a:spLocks noGrp="1"/>
          </p:cNvSpPr>
          <p:nvPr>
            <p:ph type="dt" sz="half" idx="10"/>
          </p:nvPr>
        </p:nvSpPr>
        <p:spPr/>
        <p:txBody>
          <a:bodyPr/>
          <a:lstStyle/>
          <a:p>
            <a:fld id="{9010FB6A-8132-4527-90D8-5075AF5A1726}" type="datetime1">
              <a:rPr lang="en-IN" smtClean="0"/>
              <a:t>20-07-2026</a:t>
            </a:fld>
            <a:endParaRPr lang="en-IN"/>
          </a:p>
        </p:txBody>
      </p:sp>
      <p:sp>
        <p:nvSpPr>
          <p:cNvPr id="5" name="Footer Placeholder 4">
            <a:extLst>
              <a:ext uri="{FF2B5EF4-FFF2-40B4-BE49-F238E27FC236}">
                <a16:creationId xmlns:a16="http://schemas.microsoft.com/office/drawing/2014/main" id="{567C6E31-68F1-1C98-BDA4-287248972A2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0920CAC-5DDF-A7BB-F0EF-90D24CC7680E}"/>
              </a:ext>
            </a:extLst>
          </p:cNvPr>
          <p:cNvSpPr>
            <a:spLocks noGrp="1"/>
          </p:cNvSpPr>
          <p:nvPr>
            <p:ph type="sldNum" sz="quarter" idx="12"/>
          </p:nvPr>
        </p:nvSpPr>
        <p:spPr/>
        <p:txBody>
          <a:bodyPr/>
          <a:lstStyle/>
          <a:p>
            <a:fld id="{520A0C6E-EFDF-49F2-A292-CF6FBFE4B673}" type="slidenum">
              <a:rPr lang="en-IN" smtClean="0"/>
              <a:t>‹#›</a:t>
            </a:fld>
            <a:endParaRPr lang="en-IN"/>
          </a:p>
        </p:txBody>
      </p:sp>
    </p:spTree>
    <p:extLst>
      <p:ext uri="{BB962C8B-B14F-4D97-AF65-F5344CB8AC3E}">
        <p14:creationId xmlns:p14="http://schemas.microsoft.com/office/powerpoint/2010/main" val="98125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081674A-525D-B23C-3597-2BE6891E38B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630E96CD-C4C7-A7B7-C475-A15FEE0F31C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5E005F3-C552-83EE-90AE-312EB9D1DB62}"/>
              </a:ext>
            </a:extLst>
          </p:cNvPr>
          <p:cNvSpPr>
            <a:spLocks noGrp="1"/>
          </p:cNvSpPr>
          <p:nvPr>
            <p:ph type="dt" sz="half" idx="10"/>
          </p:nvPr>
        </p:nvSpPr>
        <p:spPr/>
        <p:txBody>
          <a:bodyPr/>
          <a:lstStyle/>
          <a:p>
            <a:fld id="{7898468E-7E87-4F70-8F90-54DBC139ADDB}" type="datetime1">
              <a:rPr lang="en-IN" smtClean="0"/>
              <a:t>20-07-2026</a:t>
            </a:fld>
            <a:endParaRPr lang="en-IN"/>
          </a:p>
        </p:txBody>
      </p:sp>
      <p:sp>
        <p:nvSpPr>
          <p:cNvPr id="5" name="Footer Placeholder 4">
            <a:extLst>
              <a:ext uri="{FF2B5EF4-FFF2-40B4-BE49-F238E27FC236}">
                <a16:creationId xmlns:a16="http://schemas.microsoft.com/office/drawing/2014/main" id="{A9FCAA1A-1E4E-76F2-56D4-FE52C737E3F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E40D7B7-360F-B472-BDDA-AB4E23A1B871}"/>
              </a:ext>
            </a:extLst>
          </p:cNvPr>
          <p:cNvSpPr>
            <a:spLocks noGrp="1"/>
          </p:cNvSpPr>
          <p:nvPr>
            <p:ph type="sldNum" sz="quarter" idx="12"/>
          </p:nvPr>
        </p:nvSpPr>
        <p:spPr/>
        <p:txBody>
          <a:bodyPr/>
          <a:lstStyle/>
          <a:p>
            <a:fld id="{520A0C6E-EFDF-49F2-A292-CF6FBFE4B673}" type="slidenum">
              <a:rPr lang="en-IN" smtClean="0"/>
              <a:t>‹#›</a:t>
            </a:fld>
            <a:endParaRPr lang="en-IN"/>
          </a:p>
        </p:txBody>
      </p:sp>
    </p:spTree>
    <p:extLst>
      <p:ext uri="{BB962C8B-B14F-4D97-AF65-F5344CB8AC3E}">
        <p14:creationId xmlns:p14="http://schemas.microsoft.com/office/powerpoint/2010/main" val="36922602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602EE2F-799E-8AA3-C39B-62B45AC19B3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5BED5B8-B63F-2063-DFCA-FF0EEE7B45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4" name="Date Placeholder 3">
            <a:extLst>
              <a:ext uri="{FF2B5EF4-FFF2-40B4-BE49-F238E27FC236}">
                <a16:creationId xmlns:a16="http://schemas.microsoft.com/office/drawing/2014/main" id="{BDFAEBDE-4BE9-AFCC-2859-F30965F2E7A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Calibri" panose="020F0502020204030204" pitchFamily="34" charset="0"/>
              </a:defRPr>
            </a:lvl1pPr>
          </a:lstStyle>
          <a:p>
            <a:fld id="{766BE32B-9104-48B1-A665-CE9592C9EBB4}" type="datetime1">
              <a:rPr lang="en-IN" smtClean="0"/>
              <a:pPr/>
              <a:t>20-07-2026</a:t>
            </a:fld>
            <a:endParaRPr lang="en-IN" dirty="0"/>
          </a:p>
        </p:txBody>
      </p:sp>
      <p:sp>
        <p:nvSpPr>
          <p:cNvPr id="5" name="Footer Placeholder 4">
            <a:extLst>
              <a:ext uri="{FF2B5EF4-FFF2-40B4-BE49-F238E27FC236}">
                <a16:creationId xmlns:a16="http://schemas.microsoft.com/office/drawing/2014/main" id="{6B766ECF-FC75-DBAE-CEEA-42E423240D4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Calibri" panose="020F0502020204030204" pitchFamily="34" charset="0"/>
              </a:defRPr>
            </a:lvl1pPr>
          </a:lstStyle>
          <a:p>
            <a:endParaRPr lang="en-IN" dirty="0"/>
          </a:p>
        </p:txBody>
      </p:sp>
      <p:sp>
        <p:nvSpPr>
          <p:cNvPr id="6" name="Slide Number Placeholder 5">
            <a:extLst>
              <a:ext uri="{FF2B5EF4-FFF2-40B4-BE49-F238E27FC236}">
                <a16:creationId xmlns:a16="http://schemas.microsoft.com/office/drawing/2014/main" id="{4D70687A-EAC4-CD56-D2DF-385274FE525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Calibri" panose="020F0502020204030204" pitchFamily="34" charset="0"/>
              </a:defRPr>
            </a:lvl1pPr>
          </a:lstStyle>
          <a:p>
            <a:fld id="{520A0C6E-EFDF-49F2-A292-CF6FBFE4B673}" type="slidenum">
              <a:rPr lang="en-IN" smtClean="0"/>
              <a:pPr/>
              <a:t>‹#›</a:t>
            </a:fld>
            <a:endParaRPr lang="en-IN" dirty="0"/>
          </a:p>
        </p:txBody>
      </p:sp>
    </p:spTree>
    <p:extLst>
      <p:ext uri="{BB962C8B-B14F-4D97-AF65-F5344CB8AC3E}">
        <p14:creationId xmlns:p14="http://schemas.microsoft.com/office/powerpoint/2010/main" val="12201901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Calibri" panose="020F050202020403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Calibri" panose="020F050202020403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Calibri" panose="020F050202020403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alibri" panose="020F050202020403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alibri" panose="020F050202020403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gif"/><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gi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10.png"/><Relationship Id="rId1" Type="http://schemas.openxmlformats.org/officeDocument/2006/relationships/slideLayout" Target="../slideLayouts/slideLayout2.xml"/><Relationship Id="rId5" Type="http://schemas.microsoft.com/office/2007/relationships/hdphoto" Target="../media/hdphoto4.wdp"/><Relationship Id="rId4" Type="http://schemas.openxmlformats.org/officeDocument/2006/relationships/image" Target="../media/image11.png"/></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3.gif"/><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8" Type="http://schemas.openxmlformats.org/officeDocument/2006/relationships/image" Target="../media/image17.png"/><Relationship Id="rId3" Type="http://schemas.microsoft.com/office/2007/relationships/hdphoto" Target="../media/hdphoto5.wdp"/><Relationship Id="rId7" Type="http://schemas.microsoft.com/office/2007/relationships/hdphoto" Target="../media/hdphoto7.wdp"/><Relationship Id="rId2"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16.png"/><Relationship Id="rId11" Type="http://schemas.microsoft.com/office/2007/relationships/hdphoto" Target="../media/hdphoto9.wdp"/><Relationship Id="rId5" Type="http://schemas.microsoft.com/office/2007/relationships/hdphoto" Target="../media/hdphoto6.wdp"/><Relationship Id="rId10" Type="http://schemas.openxmlformats.org/officeDocument/2006/relationships/image" Target="../media/image18.png"/><Relationship Id="rId4" Type="http://schemas.openxmlformats.org/officeDocument/2006/relationships/image" Target="../media/image15.png"/><Relationship Id="rId9" Type="http://schemas.microsoft.com/office/2007/relationships/hdphoto" Target="../media/hdphoto8.wdp"/></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0.png"/><Relationship Id="rId1" Type="http://schemas.openxmlformats.org/officeDocument/2006/relationships/slideLayout" Target="../slideLayouts/slideLayout7.xml"/><Relationship Id="rId4" Type="http://schemas.microsoft.com/office/2007/relationships/hdphoto" Target="../media/hdphoto10.wdp"/></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22.jp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9589C3-8D9C-1588-F925-C0E3A47227CE}"/>
              </a:ext>
            </a:extLst>
          </p:cNvPr>
          <p:cNvSpPr>
            <a:spLocks noGrp="1"/>
          </p:cNvSpPr>
          <p:nvPr>
            <p:ph type="ctrTitle"/>
          </p:nvPr>
        </p:nvSpPr>
        <p:spPr>
          <a:xfrm>
            <a:off x="1524000" y="884238"/>
            <a:ext cx="9144000" cy="1061402"/>
          </a:xfrm>
        </p:spPr>
        <p:txBody>
          <a:bodyPr/>
          <a:lstStyle/>
          <a:p>
            <a:r>
              <a:rPr lang="en-IN" b="1" dirty="0">
                <a:ln w="6600">
                  <a:solidFill>
                    <a:schemeClr val="accent2"/>
                  </a:solidFill>
                  <a:prstDash val="solid"/>
                </a:ln>
                <a:solidFill>
                  <a:srgbClr val="FFFFFF"/>
                </a:solidFill>
                <a:effectLst>
                  <a:outerShdw dist="38100" dir="2700000" algn="tl" rotWithShape="0">
                    <a:schemeClr val="accent2"/>
                  </a:outerShdw>
                </a:effectLst>
                <a:latin typeface="Calibri" panose="020F0502020204030204" pitchFamily="34" charset="0"/>
                <a:cs typeface="Calibri" panose="020F0502020204030204" pitchFamily="34" charset="0"/>
              </a:rPr>
              <a:t>Unit-5</a:t>
            </a:r>
            <a:endParaRPr lang="en-IN" b="1" dirty="0">
              <a:ln w="22225">
                <a:solidFill>
                  <a:schemeClr val="accent2"/>
                </a:solidFill>
                <a:prstDash val="solid"/>
              </a:ln>
              <a:solidFill>
                <a:schemeClr val="accent2">
                  <a:lumMod val="40000"/>
                  <a:lumOff val="60000"/>
                </a:schemeClr>
              </a:solidFill>
              <a:latin typeface="Calibri" panose="020F0502020204030204" pitchFamily="34" charset="0"/>
              <a:cs typeface="Calibri" panose="020F0502020204030204" pitchFamily="34" charset="0"/>
            </a:endParaRPr>
          </a:p>
        </p:txBody>
      </p:sp>
      <p:sp>
        <p:nvSpPr>
          <p:cNvPr id="3" name="Subtitle 2">
            <a:extLst>
              <a:ext uri="{FF2B5EF4-FFF2-40B4-BE49-F238E27FC236}">
                <a16:creationId xmlns:a16="http://schemas.microsoft.com/office/drawing/2014/main" id="{6C3DA5BB-5090-24EE-E75C-51C5A32F1946}"/>
              </a:ext>
            </a:extLst>
          </p:cNvPr>
          <p:cNvSpPr>
            <a:spLocks noGrp="1"/>
          </p:cNvSpPr>
          <p:nvPr>
            <p:ph type="subTitle" idx="1"/>
          </p:nvPr>
        </p:nvSpPr>
        <p:spPr>
          <a:xfrm>
            <a:off x="1524000" y="2260918"/>
            <a:ext cx="9144000" cy="1655762"/>
          </a:xfrm>
        </p:spPr>
        <p:txBody>
          <a:bodyPr>
            <a:normAutofit/>
          </a:bodyPr>
          <a:lstStyle/>
          <a:p>
            <a:r>
              <a:rPr lang="en-IN" sz="4800" b="1" dirty="0">
                <a:ln w="6600">
                  <a:solidFill>
                    <a:schemeClr val="accent2"/>
                  </a:solidFill>
                  <a:prstDash val="solid"/>
                </a:ln>
                <a:solidFill>
                  <a:srgbClr val="FFFFFF"/>
                </a:solidFill>
                <a:effectLst>
                  <a:outerShdw dist="38100" dir="2700000" algn="tl" rotWithShape="0">
                    <a:schemeClr val="accent2"/>
                  </a:outerShdw>
                </a:effectLst>
                <a:cs typeface="Calibri" panose="020F0502020204030204" pitchFamily="34" charset="0"/>
              </a:rPr>
              <a:t>CS - 402 </a:t>
            </a:r>
          </a:p>
          <a:p>
            <a:r>
              <a:rPr lang="en-IN" sz="4800" b="1" dirty="0">
                <a:ln w="6600">
                  <a:solidFill>
                    <a:schemeClr val="accent2"/>
                  </a:solidFill>
                  <a:prstDash val="solid"/>
                </a:ln>
                <a:solidFill>
                  <a:srgbClr val="FFFFFF"/>
                </a:solidFill>
                <a:effectLst>
                  <a:outerShdw dist="38100" dir="2700000" algn="tl" rotWithShape="0">
                    <a:schemeClr val="accent2"/>
                  </a:outerShdw>
                </a:effectLst>
                <a:cs typeface="Calibri" panose="020F0502020204030204" pitchFamily="34" charset="0"/>
              </a:rPr>
              <a:t>Analysis &amp; Design of Algorithms</a:t>
            </a:r>
          </a:p>
        </p:txBody>
      </p:sp>
      <p:sp>
        <p:nvSpPr>
          <p:cNvPr id="4" name="Slide Number Placeholder 3">
            <a:extLst>
              <a:ext uri="{FF2B5EF4-FFF2-40B4-BE49-F238E27FC236}">
                <a16:creationId xmlns:a16="http://schemas.microsoft.com/office/drawing/2014/main" id="{31B9F35A-F14B-E719-4FDB-F7F754F37BD6}"/>
              </a:ext>
            </a:extLst>
          </p:cNvPr>
          <p:cNvSpPr>
            <a:spLocks noGrp="1"/>
          </p:cNvSpPr>
          <p:nvPr>
            <p:ph type="sldNum" sz="quarter" idx="12"/>
          </p:nvPr>
        </p:nvSpPr>
        <p:spPr/>
        <p:txBody>
          <a:bodyPr/>
          <a:lstStyle/>
          <a:p>
            <a:fld id="{520A0C6E-EFDF-49F2-A292-CF6FBFE4B673}" type="slidenum">
              <a:rPr lang="en-IN" b="1" smtClean="0">
                <a:ln w="6600">
                  <a:solidFill>
                    <a:schemeClr val="accent2"/>
                  </a:solidFill>
                  <a:prstDash val="solid"/>
                </a:ln>
                <a:solidFill>
                  <a:srgbClr val="FFFFFF"/>
                </a:solidFill>
                <a:effectLst>
                  <a:outerShdw dist="38100" dir="2700000" algn="tl" rotWithShape="0">
                    <a:schemeClr val="accent2"/>
                  </a:outerShdw>
                </a:effectLst>
              </a:rPr>
              <a:t>1</a:t>
            </a:fld>
            <a:endParaRPr lang="en-IN" b="1">
              <a:ln w="6600">
                <a:solidFill>
                  <a:schemeClr val="accent2"/>
                </a:solidFill>
                <a:prstDash val="solid"/>
              </a:ln>
              <a:solidFill>
                <a:srgbClr val="FFFFFF"/>
              </a:solidFill>
              <a:effectLst>
                <a:outerShdw dist="38100" dir="2700000" algn="tl" rotWithShape="0">
                  <a:schemeClr val="accent2"/>
                </a:outerShdw>
              </a:effectLst>
            </a:endParaRPr>
          </a:p>
        </p:txBody>
      </p:sp>
    </p:spTree>
    <p:extLst>
      <p:ext uri="{BB962C8B-B14F-4D97-AF65-F5344CB8AC3E}">
        <p14:creationId xmlns:p14="http://schemas.microsoft.com/office/powerpoint/2010/main" val="14308658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B13AE-5B91-8BBE-2215-C257455AD401}"/>
              </a:ext>
            </a:extLst>
          </p:cNvPr>
          <p:cNvSpPr>
            <a:spLocks noGrp="1"/>
          </p:cNvSpPr>
          <p:nvPr>
            <p:ph type="title"/>
          </p:nvPr>
        </p:nvSpPr>
        <p:spPr>
          <a:xfrm>
            <a:off x="1127760" y="365125"/>
            <a:ext cx="10261600" cy="1325563"/>
          </a:xfrm>
        </p:spPr>
        <p:txBody>
          <a:bodyPr>
            <a:normAutofit/>
          </a:bodyPr>
          <a:lstStyle/>
          <a:p>
            <a:pPr algn="ctr"/>
            <a:r>
              <a:rPr lang="en-IN" b="1" dirty="0">
                <a:latin typeface="Calibri" panose="020F0502020204030204" pitchFamily="34" charset="0"/>
                <a:cs typeface="Calibri" panose="020F0502020204030204" pitchFamily="34" charset="0"/>
              </a:rPr>
              <a:t>Syllabus</a:t>
            </a:r>
          </a:p>
        </p:txBody>
      </p:sp>
      <p:sp>
        <p:nvSpPr>
          <p:cNvPr id="3" name="Content Placeholder 2">
            <a:extLst>
              <a:ext uri="{FF2B5EF4-FFF2-40B4-BE49-F238E27FC236}">
                <a16:creationId xmlns:a16="http://schemas.microsoft.com/office/drawing/2014/main" id="{21B64D27-F8A5-F0F9-A6BD-F48E4814C57A}"/>
              </a:ext>
            </a:extLst>
          </p:cNvPr>
          <p:cNvSpPr>
            <a:spLocks noGrp="1"/>
          </p:cNvSpPr>
          <p:nvPr>
            <p:ph idx="1"/>
          </p:nvPr>
        </p:nvSpPr>
        <p:spPr>
          <a:xfrm>
            <a:off x="1127760" y="1690688"/>
            <a:ext cx="9828298" cy="2014855"/>
          </a:xfrm>
        </p:spPr>
        <p:txBody>
          <a:bodyPr>
            <a:noAutofit/>
          </a:bodyPr>
          <a:lstStyle/>
          <a:p>
            <a:pPr marL="0" indent="0" algn="just">
              <a:lnSpc>
                <a:spcPct val="150000"/>
              </a:lnSpc>
              <a:buNone/>
            </a:pPr>
            <a:r>
              <a:rPr lang="en-IN" dirty="0">
                <a:cs typeface="Calibri" panose="020F0502020204030204" pitchFamily="34" charset="0"/>
              </a:rPr>
              <a:t>Binary search trees, height balanced trees, 2-3 trees, B-trees, basic search and traversal techniques for trees and graphs (In order, preorder, postorder, DFS, BFS), NP-completeness. </a:t>
            </a:r>
          </a:p>
        </p:txBody>
      </p:sp>
      <p:sp>
        <p:nvSpPr>
          <p:cNvPr id="4" name="Slide Number Placeholder 3">
            <a:extLst>
              <a:ext uri="{FF2B5EF4-FFF2-40B4-BE49-F238E27FC236}">
                <a16:creationId xmlns:a16="http://schemas.microsoft.com/office/drawing/2014/main" id="{251B188F-FC5E-C8E4-748C-050D0B126B80}"/>
              </a:ext>
            </a:extLst>
          </p:cNvPr>
          <p:cNvSpPr>
            <a:spLocks noGrp="1"/>
          </p:cNvSpPr>
          <p:nvPr>
            <p:ph type="sldNum" sz="quarter" idx="12"/>
          </p:nvPr>
        </p:nvSpPr>
        <p:spPr>
          <a:xfrm>
            <a:off x="8610599" y="6356350"/>
            <a:ext cx="2752739" cy="365125"/>
          </a:xfrm>
        </p:spPr>
        <p:txBody>
          <a:bodyPr/>
          <a:lstStyle/>
          <a:p>
            <a:fld id="{520A0C6E-EFDF-49F2-A292-CF6FBFE4B673}" type="slidenum">
              <a:rPr lang="en-IN" sz="1600" smtClean="0"/>
              <a:t>2</a:t>
            </a:fld>
            <a:endParaRPr lang="en-IN" sz="1600"/>
          </a:p>
        </p:txBody>
      </p:sp>
    </p:spTree>
    <p:extLst>
      <p:ext uri="{BB962C8B-B14F-4D97-AF65-F5344CB8AC3E}">
        <p14:creationId xmlns:p14="http://schemas.microsoft.com/office/powerpoint/2010/main" val="37909801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92C122-076B-9C27-A062-A94F4F51FEC1}"/>
            </a:ext>
          </a:extLst>
        </p:cNvPr>
        <p:cNvGrpSpPr/>
        <p:nvPr/>
      </p:nvGrpSpPr>
      <p:grpSpPr>
        <a:xfrm>
          <a:off x="0" y="0"/>
          <a:ext cx="0" cy="0"/>
          <a:chOff x="0" y="0"/>
          <a:chExt cx="0" cy="0"/>
        </a:xfrm>
      </p:grpSpPr>
      <p:sp>
        <p:nvSpPr>
          <p:cNvPr id="19" name="TextBox 18">
            <a:extLst>
              <a:ext uri="{FF2B5EF4-FFF2-40B4-BE49-F238E27FC236}">
                <a16:creationId xmlns:a16="http://schemas.microsoft.com/office/drawing/2014/main" id="{FA165CD9-CC27-51C8-F43B-F7A4105E90DD}"/>
              </a:ext>
            </a:extLst>
          </p:cNvPr>
          <p:cNvSpPr txBox="1"/>
          <p:nvPr/>
        </p:nvSpPr>
        <p:spPr>
          <a:xfrm>
            <a:off x="3070860" y="53588"/>
            <a:ext cx="6096000" cy="584775"/>
          </a:xfrm>
          <a:prstGeom prst="rect">
            <a:avLst/>
          </a:prstGeom>
          <a:noFill/>
        </p:spPr>
        <p:txBody>
          <a:bodyPr wrap="square">
            <a:spAutoFit/>
          </a:bodyPr>
          <a:lstStyle/>
          <a:p>
            <a:pPr indent="0" algn="ctr">
              <a:buNone/>
            </a:pPr>
            <a:r>
              <a:rPr lang="en-IN" sz="3200" b="1" i="0" dirty="0">
                <a:solidFill>
                  <a:srgbClr val="000000"/>
                </a:solidFill>
                <a:effectLst/>
                <a:latin typeface="Calibri" panose="020F0502020204030204" pitchFamily="34" charset="0"/>
              </a:rPr>
              <a:t>Binary Search </a:t>
            </a:r>
            <a:r>
              <a:rPr lang="en-IN" sz="3200" b="1" dirty="0">
                <a:solidFill>
                  <a:srgbClr val="000000"/>
                </a:solidFill>
                <a:latin typeface="Calibri" panose="020F0502020204030204" pitchFamily="34" charset="0"/>
              </a:rPr>
              <a:t>T</a:t>
            </a:r>
            <a:r>
              <a:rPr lang="en-IN" sz="3200" b="1" i="0" dirty="0">
                <a:solidFill>
                  <a:srgbClr val="000000"/>
                </a:solidFill>
                <a:effectLst/>
                <a:latin typeface="Calibri" panose="020F0502020204030204" pitchFamily="34" charset="0"/>
              </a:rPr>
              <a:t>rees (BST)</a:t>
            </a:r>
          </a:p>
        </p:txBody>
      </p:sp>
      <p:sp>
        <p:nvSpPr>
          <p:cNvPr id="2" name="Slide Number Placeholder 1">
            <a:extLst>
              <a:ext uri="{FF2B5EF4-FFF2-40B4-BE49-F238E27FC236}">
                <a16:creationId xmlns:a16="http://schemas.microsoft.com/office/drawing/2014/main" id="{974BA545-C4FB-EE7D-E538-A1057CA705F8}"/>
              </a:ext>
            </a:extLst>
          </p:cNvPr>
          <p:cNvSpPr>
            <a:spLocks noGrp="1"/>
          </p:cNvSpPr>
          <p:nvPr>
            <p:ph type="sldNum" sz="quarter" idx="12"/>
          </p:nvPr>
        </p:nvSpPr>
        <p:spPr/>
        <p:txBody>
          <a:bodyPr/>
          <a:lstStyle/>
          <a:p>
            <a:fld id="{520A0C6E-EFDF-49F2-A292-CF6FBFE4B673}" type="slidenum">
              <a:rPr lang="en-IN" smtClean="0"/>
              <a:t>3</a:t>
            </a:fld>
            <a:endParaRPr lang="en-IN"/>
          </a:p>
        </p:txBody>
      </p:sp>
      <p:sp>
        <p:nvSpPr>
          <p:cNvPr id="6" name="TextBox 5">
            <a:extLst>
              <a:ext uri="{FF2B5EF4-FFF2-40B4-BE49-F238E27FC236}">
                <a16:creationId xmlns:a16="http://schemas.microsoft.com/office/drawing/2014/main" id="{4741B8DE-F238-FA99-3F98-C3E0158ABB7C}"/>
              </a:ext>
            </a:extLst>
          </p:cNvPr>
          <p:cNvSpPr txBox="1"/>
          <p:nvPr/>
        </p:nvSpPr>
        <p:spPr>
          <a:xfrm>
            <a:off x="883920" y="419120"/>
            <a:ext cx="10469880" cy="2814617"/>
          </a:xfrm>
          <a:prstGeom prst="rect">
            <a:avLst/>
          </a:prstGeom>
          <a:noFill/>
        </p:spPr>
        <p:txBody>
          <a:bodyPr wrap="square">
            <a:spAutoFit/>
          </a:bodyPr>
          <a:lstStyle/>
          <a:p>
            <a:pPr marL="342900" indent="-342900" algn="just">
              <a:lnSpc>
                <a:spcPct val="150000"/>
              </a:lnSpc>
              <a:buFont typeface="Arial" panose="020B0604020202020204" pitchFamily="34" charset="0"/>
              <a:buChar char="•"/>
            </a:pPr>
            <a:r>
              <a:rPr lang="en-IN" sz="2000" b="1" i="0" dirty="0">
                <a:solidFill>
                  <a:srgbClr val="000000"/>
                </a:solidFill>
                <a:effectLst/>
              </a:rPr>
              <a:t>DEF:</a:t>
            </a:r>
            <a:r>
              <a:rPr lang="en-IN" sz="2000" b="0" i="0" dirty="0">
                <a:solidFill>
                  <a:srgbClr val="000000"/>
                </a:solidFill>
                <a:effectLst/>
              </a:rPr>
              <a:t> A binary tree in which the nodes are </a:t>
            </a:r>
            <a:r>
              <a:rPr lang="en-IN" sz="2000" b="0" i="0" dirty="0" err="1">
                <a:solidFill>
                  <a:srgbClr val="000000"/>
                </a:solidFill>
                <a:effectLst/>
              </a:rPr>
              <a:t>labeled</a:t>
            </a:r>
            <a:r>
              <a:rPr lang="en-IN" sz="2000" b="0" i="0" dirty="0">
                <a:solidFill>
                  <a:srgbClr val="000000"/>
                </a:solidFill>
                <a:effectLst/>
              </a:rPr>
              <a:t> with elements of an ordered dynamic set and the following BST property is satisfied: all elements stored in the left subtree of any node x are less than the element stored at x and all elements stored in the right subtree of x are greater than the element at x.</a:t>
            </a:r>
          </a:p>
          <a:p>
            <a:pPr marL="342900" indent="-342900" algn="just">
              <a:lnSpc>
                <a:spcPct val="150000"/>
              </a:lnSpc>
              <a:buFont typeface="Arial" panose="020B0604020202020204" pitchFamily="34" charset="0"/>
              <a:buChar char="•"/>
            </a:pPr>
            <a:r>
              <a:rPr lang="en-IN" sz="2000" b="1" i="0" dirty="0">
                <a:solidFill>
                  <a:srgbClr val="000000"/>
                </a:solidFill>
                <a:effectLst/>
              </a:rPr>
              <a:t>An Example</a:t>
            </a:r>
            <a:r>
              <a:rPr lang="en-IN" sz="2000" b="0" i="0" dirty="0">
                <a:solidFill>
                  <a:srgbClr val="000000"/>
                </a:solidFill>
                <a:effectLst/>
              </a:rPr>
              <a:t>: Figure shows a binary search tree. Notice that this tree is obtained by inserting the values 13, 3, 4, 12, 14, 10, 5, 1, 8, 2, 7, 9, 11, 6, 18 in that order, starting from an empty tree.</a:t>
            </a:r>
          </a:p>
        </p:txBody>
      </p:sp>
      <p:pic>
        <p:nvPicPr>
          <p:cNvPr id="9" name="Picture 8" descr="\begin{figure}&#10;\centerline{\psfig{figure=figures/Fbstexample.ps}}&#10;\end{figure}">
            <a:extLst>
              <a:ext uri="{FF2B5EF4-FFF2-40B4-BE49-F238E27FC236}">
                <a16:creationId xmlns:a16="http://schemas.microsoft.com/office/drawing/2014/main" id="{6C256FF6-AF39-1E35-2D48-84B851059E59}"/>
              </a:ext>
            </a:extLst>
          </p:cNvPr>
          <p:cNvPicPr>
            <a:picLocks noChangeAspect="1"/>
          </p:cNvPicPr>
          <p:nvPr/>
        </p:nvPicPr>
        <p:blipFill>
          <a:blip r:embed="rId2"/>
          <a:stretch>
            <a:fillRect/>
          </a:stretch>
        </p:blipFill>
        <p:spPr>
          <a:xfrm>
            <a:off x="4929188" y="3297236"/>
            <a:ext cx="1908492" cy="3520357"/>
          </a:xfrm>
          <a:prstGeom prst="rect">
            <a:avLst/>
          </a:prstGeom>
        </p:spPr>
      </p:pic>
    </p:spTree>
    <p:extLst>
      <p:ext uri="{BB962C8B-B14F-4D97-AF65-F5344CB8AC3E}">
        <p14:creationId xmlns:p14="http://schemas.microsoft.com/office/powerpoint/2010/main" val="32362849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3B577-8CE5-F04F-5BD6-5174BC3AA085}"/>
            </a:ext>
          </a:extLst>
        </p:cNvPr>
        <p:cNvGrpSpPr/>
        <p:nvPr/>
      </p:nvGrpSpPr>
      <p:grpSpPr>
        <a:xfrm>
          <a:off x="0" y="0"/>
          <a:ext cx="0" cy="0"/>
          <a:chOff x="0" y="0"/>
          <a:chExt cx="0" cy="0"/>
        </a:xfrm>
      </p:grpSpPr>
      <p:sp>
        <p:nvSpPr>
          <p:cNvPr id="19" name="TextBox 18">
            <a:extLst>
              <a:ext uri="{FF2B5EF4-FFF2-40B4-BE49-F238E27FC236}">
                <a16:creationId xmlns:a16="http://schemas.microsoft.com/office/drawing/2014/main" id="{14A4D43A-9612-B726-C59F-F9A2EDD2F7B8}"/>
              </a:ext>
            </a:extLst>
          </p:cNvPr>
          <p:cNvSpPr txBox="1"/>
          <p:nvPr/>
        </p:nvSpPr>
        <p:spPr>
          <a:xfrm>
            <a:off x="3141980" y="136525"/>
            <a:ext cx="6096000" cy="707886"/>
          </a:xfrm>
          <a:prstGeom prst="rect">
            <a:avLst/>
          </a:prstGeom>
          <a:noFill/>
        </p:spPr>
        <p:txBody>
          <a:bodyPr wrap="square">
            <a:spAutoFit/>
          </a:bodyPr>
          <a:lstStyle/>
          <a:p>
            <a:pPr indent="0" algn="l">
              <a:buNone/>
            </a:pPr>
            <a:r>
              <a:rPr lang="en-IN" sz="4000" b="1" i="0" dirty="0">
                <a:solidFill>
                  <a:srgbClr val="000000"/>
                </a:solidFill>
                <a:effectLst/>
                <a:latin typeface="Calibri" panose="020F0502020204030204" pitchFamily="34" charset="0"/>
              </a:rPr>
              <a:t>Binary Search </a:t>
            </a:r>
            <a:r>
              <a:rPr lang="en-IN" sz="4000" b="1" dirty="0">
                <a:solidFill>
                  <a:srgbClr val="000000"/>
                </a:solidFill>
                <a:latin typeface="Calibri" panose="020F0502020204030204" pitchFamily="34" charset="0"/>
              </a:rPr>
              <a:t>T</a:t>
            </a:r>
            <a:r>
              <a:rPr lang="en-IN" sz="4000" b="1" i="0" dirty="0">
                <a:solidFill>
                  <a:srgbClr val="000000"/>
                </a:solidFill>
                <a:effectLst/>
                <a:latin typeface="Calibri" panose="020F0502020204030204" pitchFamily="34" charset="0"/>
              </a:rPr>
              <a:t>rees (BST)</a:t>
            </a:r>
          </a:p>
        </p:txBody>
      </p:sp>
      <p:sp>
        <p:nvSpPr>
          <p:cNvPr id="2" name="Slide Number Placeholder 1">
            <a:extLst>
              <a:ext uri="{FF2B5EF4-FFF2-40B4-BE49-F238E27FC236}">
                <a16:creationId xmlns:a16="http://schemas.microsoft.com/office/drawing/2014/main" id="{6F6229CD-A15A-523E-6AEB-A156240C4337}"/>
              </a:ext>
            </a:extLst>
          </p:cNvPr>
          <p:cNvSpPr>
            <a:spLocks noGrp="1"/>
          </p:cNvSpPr>
          <p:nvPr>
            <p:ph type="sldNum" sz="quarter" idx="12"/>
          </p:nvPr>
        </p:nvSpPr>
        <p:spPr/>
        <p:txBody>
          <a:bodyPr/>
          <a:lstStyle/>
          <a:p>
            <a:fld id="{520A0C6E-EFDF-49F2-A292-CF6FBFE4B673}" type="slidenum">
              <a:rPr lang="en-IN" smtClean="0"/>
              <a:t>4</a:t>
            </a:fld>
            <a:endParaRPr lang="en-IN"/>
          </a:p>
        </p:txBody>
      </p:sp>
      <p:sp>
        <p:nvSpPr>
          <p:cNvPr id="6" name="TextBox 5">
            <a:extLst>
              <a:ext uri="{FF2B5EF4-FFF2-40B4-BE49-F238E27FC236}">
                <a16:creationId xmlns:a16="http://schemas.microsoft.com/office/drawing/2014/main" id="{49145D24-B165-1013-8B2E-E1177D520345}"/>
              </a:ext>
            </a:extLst>
          </p:cNvPr>
          <p:cNvSpPr txBox="1"/>
          <p:nvPr/>
        </p:nvSpPr>
        <p:spPr>
          <a:xfrm>
            <a:off x="861060" y="765225"/>
            <a:ext cx="10469880" cy="5122941"/>
          </a:xfrm>
          <a:prstGeom prst="rect">
            <a:avLst/>
          </a:prstGeom>
          <a:noFill/>
        </p:spPr>
        <p:txBody>
          <a:bodyPr wrap="square">
            <a:spAutoFit/>
          </a:bodyPr>
          <a:lstStyle/>
          <a:p>
            <a:pPr marL="342900" indent="-342900" algn="just">
              <a:lnSpc>
                <a:spcPct val="150000"/>
              </a:lnSpc>
              <a:buFont typeface="Arial" panose="020B0604020202020204" pitchFamily="34" charset="0"/>
              <a:buChar char="•"/>
            </a:pPr>
            <a:r>
              <a:rPr lang="en-IN" sz="2000" dirty="0"/>
              <a:t>The lowest valued element in a BST can be found by traversing from the root in the left direction all along until a node with no left link is found (we can call that the leftmost element in the BST).</a:t>
            </a:r>
          </a:p>
          <a:p>
            <a:pPr marL="342900" indent="-342900" algn="just">
              <a:lnSpc>
                <a:spcPct val="150000"/>
              </a:lnSpc>
              <a:buFont typeface="Arial" panose="020B0604020202020204" pitchFamily="34" charset="0"/>
              <a:buChar char="•"/>
            </a:pPr>
            <a:r>
              <a:rPr lang="en-IN" sz="2000" b="1" dirty="0"/>
              <a:t>Search</a:t>
            </a:r>
            <a:r>
              <a:rPr lang="en-IN" sz="2000" dirty="0"/>
              <a:t> is straightforward in a BST. Start with the root and keep moving left or right using the BST property. If the key we are seeking is present, this search procedure will lead us to the key. If the key is not present, we end up in a null link.</a:t>
            </a:r>
            <a:endParaRPr lang="en-IN" sz="2000" b="1" dirty="0"/>
          </a:p>
          <a:p>
            <a:pPr marL="342900" indent="-342900" algn="just">
              <a:lnSpc>
                <a:spcPct val="150000"/>
              </a:lnSpc>
              <a:buFont typeface="Arial" panose="020B0604020202020204" pitchFamily="34" charset="0"/>
              <a:buChar char="•"/>
            </a:pPr>
            <a:r>
              <a:rPr lang="en-IN" sz="2000" b="1" dirty="0"/>
              <a:t>Insertion</a:t>
            </a:r>
            <a:r>
              <a:rPr lang="en-IN" sz="2000" dirty="0"/>
              <a:t> in a BST is also a straightforward operation. If we need to insert an element x, we first search for x. If x is present, there is nothing to do. If x is not present, then our search procedure ends in a null link. It is at this position of this null link that x will be included.</a:t>
            </a:r>
          </a:p>
          <a:p>
            <a:pPr marL="342900" indent="-342900" algn="just">
              <a:lnSpc>
                <a:spcPct val="150000"/>
              </a:lnSpc>
              <a:buFont typeface="Arial" panose="020B0604020202020204" pitchFamily="34" charset="0"/>
              <a:buChar char="•"/>
            </a:pPr>
            <a:r>
              <a:rPr lang="en-IN" sz="2000" dirty="0"/>
              <a:t>If we repeatedly insert a sorted sequence of values to form a BST, we obtain a completely skewed BST. The height of such a tree is </a:t>
            </a:r>
            <a:r>
              <a:rPr lang="en-IN" sz="2000" i="1" dirty="0"/>
              <a:t>n</a:t>
            </a:r>
            <a:r>
              <a:rPr lang="en-IN" sz="2000" dirty="0"/>
              <a:t> - 1 if the tree has </a:t>
            </a:r>
            <a:r>
              <a:rPr lang="en-IN" sz="2000" i="1" dirty="0"/>
              <a:t>n</a:t>
            </a:r>
            <a:r>
              <a:rPr lang="en-IN" sz="2000" dirty="0"/>
              <a:t> nodes. Thus, the worst case complexity of searching or inserting an element into a BST having </a:t>
            </a:r>
            <a:r>
              <a:rPr lang="en-IN" sz="2000" i="1" dirty="0"/>
              <a:t>n</a:t>
            </a:r>
            <a:r>
              <a:rPr lang="en-IN" sz="2000" dirty="0"/>
              <a:t> nodes is </a:t>
            </a:r>
            <a:r>
              <a:rPr lang="en-IN" sz="2000" i="1" dirty="0"/>
              <a:t>O</a:t>
            </a:r>
            <a:r>
              <a:rPr lang="en-IN" sz="2000" dirty="0"/>
              <a:t>(</a:t>
            </a:r>
            <a:r>
              <a:rPr lang="en-IN" sz="2000" i="1" dirty="0"/>
              <a:t>n</a:t>
            </a:r>
            <a:r>
              <a:rPr lang="en-IN" sz="2000" dirty="0"/>
              <a:t>).</a:t>
            </a:r>
          </a:p>
        </p:txBody>
      </p:sp>
    </p:spTree>
    <p:extLst>
      <p:ext uri="{BB962C8B-B14F-4D97-AF65-F5344CB8AC3E}">
        <p14:creationId xmlns:p14="http://schemas.microsoft.com/office/powerpoint/2010/main" val="18247532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260F5-6AB9-D942-0155-BB7C057E55FD}"/>
            </a:ext>
          </a:extLst>
        </p:cNvPr>
        <p:cNvGrpSpPr/>
        <p:nvPr/>
      </p:nvGrpSpPr>
      <p:grpSpPr>
        <a:xfrm>
          <a:off x="0" y="0"/>
          <a:ext cx="0" cy="0"/>
          <a:chOff x="0" y="0"/>
          <a:chExt cx="0" cy="0"/>
        </a:xfrm>
      </p:grpSpPr>
      <p:sp>
        <p:nvSpPr>
          <p:cNvPr id="19" name="TextBox 18">
            <a:extLst>
              <a:ext uri="{FF2B5EF4-FFF2-40B4-BE49-F238E27FC236}">
                <a16:creationId xmlns:a16="http://schemas.microsoft.com/office/drawing/2014/main" id="{AB94E460-7BD4-25F6-D90A-02A015950875}"/>
              </a:ext>
            </a:extLst>
          </p:cNvPr>
          <p:cNvSpPr txBox="1"/>
          <p:nvPr/>
        </p:nvSpPr>
        <p:spPr>
          <a:xfrm>
            <a:off x="3141980" y="136525"/>
            <a:ext cx="6096000" cy="707886"/>
          </a:xfrm>
          <a:prstGeom prst="rect">
            <a:avLst/>
          </a:prstGeom>
          <a:noFill/>
        </p:spPr>
        <p:txBody>
          <a:bodyPr wrap="square">
            <a:spAutoFit/>
          </a:bodyPr>
          <a:lstStyle/>
          <a:p>
            <a:pPr indent="0" algn="l">
              <a:buNone/>
            </a:pPr>
            <a:r>
              <a:rPr lang="en-IN" sz="4000" b="1" i="0" dirty="0">
                <a:solidFill>
                  <a:srgbClr val="000000"/>
                </a:solidFill>
                <a:effectLst/>
                <a:latin typeface="Calibri" panose="020F0502020204030204" pitchFamily="34" charset="0"/>
              </a:rPr>
              <a:t>Binary Search </a:t>
            </a:r>
            <a:r>
              <a:rPr lang="en-IN" sz="4000" b="1" dirty="0">
                <a:solidFill>
                  <a:srgbClr val="000000"/>
                </a:solidFill>
                <a:latin typeface="Calibri" panose="020F0502020204030204" pitchFamily="34" charset="0"/>
              </a:rPr>
              <a:t>T</a:t>
            </a:r>
            <a:r>
              <a:rPr lang="en-IN" sz="4000" b="1" i="0" dirty="0">
                <a:solidFill>
                  <a:srgbClr val="000000"/>
                </a:solidFill>
                <a:effectLst/>
                <a:latin typeface="Calibri" panose="020F0502020204030204" pitchFamily="34" charset="0"/>
              </a:rPr>
              <a:t>rees (BST)</a:t>
            </a:r>
          </a:p>
        </p:txBody>
      </p:sp>
      <p:sp>
        <p:nvSpPr>
          <p:cNvPr id="2" name="Slide Number Placeholder 1">
            <a:extLst>
              <a:ext uri="{FF2B5EF4-FFF2-40B4-BE49-F238E27FC236}">
                <a16:creationId xmlns:a16="http://schemas.microsoft.com/office/drawing/2014/main" id="{7EBA0513-06AC-1763-D713-1735A33F8B01}"/>
              </a:ext>
            </a:extLst>
          </p:cNvPr>
          <p:cNvSpPr>
            <a:spLocks noGrp="1"/>
          </p:cNvSpPr>
          <p:nvPr>
            <p:ph type="sldNum" sz="quarter" idx="12"/>
          </p:nvPr>
        </p:nvSpPr>
        <p:spPr/>
        <p:txBody>
          <a:bodyPr/>
          <a:lstStyle/>
          <a:p>
            <a:fld id="{520A0C6E-EFDF-49F2-A292-CF6FBFE4B673}" type="slidenum">
              <a:rPr lang="en-IN" smtClean="0"/>
              <a:t>5</a:t>
            </a:fld>
            <a:endParaRPr lang="en-IN"/>
          </a:p>
        </p:txBody>
      </p:sp>
      <p:sp>
        <p:nvSpPr>
          <p:cNvPr id="6" name="TextBox 5">
            <a:extLst>
              <a:ext uri="{FF2B5EF4-FFF2-40B4-BE49-F238E27FC236}">
                <a16:creationId xmlns:a16="http://schemas.microsoft.com/office/drawing/2014/main" id="{042A8CE1-1ED5-F068-5007-8A8358C0711C}"/>
              </a:ext>
            </a:extLst>
          </p:cNvPr>
          <p:cNvSpPr txBox="1"/>
          <p:nvPr/>
        </p:nvSpPr>
        <p:spPr>
          <a:xfrm>
            <a:off x="861060" y="765225"/>
            <a:ext cx="10469880" cy="4204356"/>
          </a:xfrm>
          <a:prstGeom prst="rect">
            <a:avLst/>
          </a:prstGeom>
          <a:noFill/>
        </p:spPr>
        <p:txBody>
          <a:bodyPr wrap="square">
            <a:spAutoFit/>
          </a:bodyPr>
          <a:lstStyle/>
          <a:p>
            <a:pPr algn="just">
              <a:lnSpc>
                <a:spcPct val="150000"/>
              </a:lnSpc>
            </a:pPr>
            <a:r>
              <a:rPr lang="en-IN" b="1" dirty="0"/>
              <a:t>Deletion in BST</a:t>
            </a:r>
            <a:endParaRPr lang="en-IN" sz="2000" dirty="0"/>
          </a:p>
          <a:p>
            <a:pPr algn="just">
              <a:lnSpc>
                <a:spcPct val="150000"/>
              </a:lnSpc>
            </a:pPr>
            <a:r>
              <a:rPr lang="en-IN" dirty="0"/>
              <a:t>Let x be a value to be deleted from the BST and let X denote the node containing the value x. Deletion of an element in a BST again uses the BST property in a critical way. When we delete the node X containing x, it would create a "void" that should be filled by a suitable existing node of the BST. There are two possible candidate nodes that can fill this void, in a way that the BST property is not violated: (1). Node containing highest valued element among all descendants of left child of X. (2). Node containing the lowest valued element among all the descendants of the right child of X. In case (1), the selected node will necessarily have a null right link which can be conveniently used in patching up the tree. In case (2), the selected node will necessarily have a null left link which can be used in patching up the tree. Figure illustrates several scenarios for deletion in BSTs.</a:t>
            </a:r>
          </a:p>
        </p:txBody>
      </p:sp>
      <p:sp>
        <p:nvSpPr>
          <p:cNvPr id="7" name="TextBox 6">
            <a:extLst>
              <a:ext uri="{FF2B5EF4-FFF2-40B4-BE49-F238E27FC236}">
                <a16:creationId xmlns:a16="http://schemas.microsoft.com/office/drawing/2014/main" id="{AD04A9CC-3947-D6A8-5387-68727A7B1513}"/>
              </a:ext>
            </a:extLst>
          </p:cNvPr>
          <p:cNvSpPr txBox="1"/>
          <p:nvPr/>
        </p:nvSpPr>
        <p:spPr>
          <a:xfrm>
            <a:off x="3048000" y="5293633"/>
            <a:ext cx="6096000" cy="369332"/>
          </a:xfrm>
          <a:prstGeom prst="rect">
            <a:avLst/>
          </a:prstGeom>
          <a:noFill/>
        </p:spPr>
        <p:txBody>
          <a:bodyPr wrap="square">
            <a:spAutoFit/>
          </a:bodyPr>
          <a:lstStyle/>
          <a:p>
            <a:pPr algn="ctr"/>
            <a:r>
              <a:rPr lang="en-IN" sz="1800" dirty="0">
                <a:solidFill>
                  <a:srgbClr val="FF0000"/>
                </a:solidFill>
              </a:rPr>
              <a:t>For Figure go to next slide</a:t>
            </a:r>
            <a:endParaRPr lang="en-IN" dirty="0">
              <a:solidFill>
                <a:srgbClr val="FF0000"/>
              </a:solidFill>
            </a:endParaRPr>
          </a:p>
        </p:txBody>
      </p:sp>
    </p:spTree>
    <p:extLst>
      <p:ext uri="{BB962C8B-B14F-4D97-AF65-F5344CB8AC3E}">
        <p14:creationId xmlns:p14="http://schemas.microsoft.com/office/powerpoint/2010/main" val="6373347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A3A00E-E411-AD4B-B07C-53A462281EB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B93788E-3197-905A-C92E-9F1B051289C1}"/>
              </a:ext>
            </a:extLst>
          </p:cNvPr>
          <p:cNvSpPr>
            <a:spLocks noGrp="1"/>
          </p:cNvSpPr>
          <p:nvPr>
            <p:ph type="sldNum" sz="quarter" idx="12"/>
          </p:nvPr>
        </p:nvSpPr>
        <p:spPr/>
        <p:txBody>
          <a:bodyPr/>
          <a:lstStyle/>
          <a:p>
            <a:fld id="{520A0C6E-EFDF-49F2-A292-CF6FBFE4B673}" type="slidenum">
              <a:rPr lang="en-IN" smtClean="0"/>
              <a:t>6</a:t>
            </a:fld>
            <a:endParaRPr lang="en-IN"/>
          </a:p>
        </p:txBody>
      </p:sp>
      <p:pic>
        <p:nvPicPr>
          <p:cNvPr id="4" name="Picture 3" descr="\begin{figure}\centerline{\psfig{figure=figures/Fdelbst.ps}}&#10;\end{figure}">
            <a:extLst>
              <a:ext uri="{FF2B5EF4-FFF2-40B4-BE49-F238E27FC236}">
                <a16:creationId xmlns:a16="http://schemas.microsoft.com/office/drawing/2014/main" id="{1FEBCE42-35C1-B6AA-85B9-DEB5BEE1E89F}"/>
              </a:ext>
            </a:extLst>
          </p:cNvPr>
          <p:cNvPicPr>
            <a:picLocks noChangeAspect="1"/>
          </p:cNvPicPr>
          <p:nvPr/>
        </p:nvPicPr>
        <p:blipFill>
          <a:blip r:embed="rId2"/>
          <a:stretch>
            <a:fillRect/>
          </a:stretch>
        </p:blipFill>
        <p:spPr>
          <a:xfrm>
            <a:off x="1692772" y="0"/>
            <a:ext cx="8806456" cy="6858000"/>
          </a:xfrm>
          <a:prstGeom prst="rect">
            <a:avLst/>
          </a:prstGeom>
        </p:spPr>
      </p:pic>
    </p:spTree>
    <p:extLst>
      <p:ext uri="{BB962C8B-B14F-4D97-AF65-F5344CB8AC3E}">
        <p14:creationId xmlns:p14="http://schemas.microsoft.com/office/powerpoint/2010/main" val="6056218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2F3A23-5458-38DF-C2B7-AAA97A58D66E}"/>
              </a:ext>
            </a:extLst>
          </p:cNvPr>
          <p:cNvSpPr>
            <a:spLocks noGrp="1"/>
          </p:cNvSpPr>
          <p:nvPr>
            <p:ph type="title"/>
          </p:nvPr>
        </p:nvSpPr>
        <p:spPr>
          <a:xfrm>
            <a:off x="838200" y="202315"/>
            <a:ext cx="10515600" cy="691515"/>
          </a:xfrm>
        </p:spPr>
        <p:txBody>
          <a:bodyPr>
            <a:normAutofit fontScale="90000"/>
          </a:bodyPr>
          <a:lstStyle/>
          <a:p>
            <a:r>
              <a:rPr lang="en-IN" b="1" dirty="0">
                <a:latin typeface="Calibri" panose="020F0502020204030204" pitchFamily="34" charset="0"/>
                <a:cs typeface="Calibri" panose="020F0502020204030204" pitchFamily="34" charset="0"/>
              </a:rPr>
              <a:t>Inserting into a binary search tree</a:t>
            </a:r>
            <a:endParaRPr lang="en-IN"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13900199-3F94-F2A9-89F4-04682A164AFF}"/>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905760" y="2392532"/>
            <a:ext cx="3006134" cy="1173627"/>
          </a:xfrm>
          <a:prstGeom prst="rect">
            <a:avLst/>
          </a:prstGeom>
        </p:spPr>
      </p:pic>
      <p:sp>
        <p:nvSpPr>
          <p:cNvPr id="8" name="TextBox 7">
            <a:extLst>
              <a:ext uri="{FF2B5EF4-FFF2-40B4-BE49-F238E27FC236}">
                <a16:creationId xmlns:a16="http://schemas.microsoft.com/office/drawing/2014/main" id="{4212AA98-BA5B-9CA7-31FD-355FC53AF278}"/>
              </a:ext>
            </a:extLst>
          </p:cNvPr>
          <p:cNvSpPr txBox="1"/>
          <p:nvPr/>
        </p:nvSpPr>
        <p:spPr>
          <a:xfrm>
            <a:off x="838200" y="1082727"/>
            <a:ext cx="10236200" cy="3788858"/>
          </a:xfrm>
          <a:prstGeom prst="rect">
            <a:avLst/>
          </a:prstGeom>
          <a:noFill/>
        </p:spPr>
        <p:txBody>
          <a:bodyPr wrap="square">
            <a:spAutoFit/>
          </a:bodyPr>
          <a:lstStyle/>
          <a:p>
            <a:pPr indent="0" algn="just">
              <a:lnSpc>
                <a:spcPct val="150000"/>
              </a:lnSpc>
              <a:buNone/>
            </a:pPr>
            <a:r>
              <a:rPr lang="en-IN" b="0" i="0" dirty="0">
                <a:solidFill>
                  <a:srgbClr val="000000"/>
                </a:solidFill>
                <a:effectLst/>
                <a:latin typeface="Calibri" panose="020F0502020204030204" pitchFamily="34" charset="0"/>
              </a:rPr>
              <a:t>To insert a value, just find where that value would have been, had it already been in the tree, then add the value as a new leaf. For example, inserting 13 as shown below would result in the following change.</a:t>
            </a:r>
          </a:p>
          <a:p>
            <a:pPr indent="0" algn="just">
              <a:lnSpc>
                <a:spcPct val="150000"/>
              </a:lnSpc>
              <a:buNone/>
            </a:pPr>
            <a:endParaRPr lang="en-IN" dirty="0">
              <a:solidFill>
                <a:srgbClr val="000000"/>
              </a:solidFill>
              <a:latin typeface="Calibri" panose="020F0502020204030204" pitchFamily="34" charset="0"/>
            </a:endParaRPr>
          </a:p>
          <a:p>
            <a:pPr indent="0" algn="just">
              <a:lnSpc>
                <a:spcPct val="150000"/>
              </a:lnSpc>
              <a:buNone/>
            </a:pPr>
            <a:endParaRPr lang="en-IN" b="0" i="0" dirty="0">
              <a:solidFill>
                <a:srgbClr val="000000"/>
              </a:solidFill>
              <a:effectLst/>
              <a:latin typeface="Calibri" panose="020F0502020204030204" pitchFamily="34" charset="0"/>
            </a:endParaRPr>
          </a:p>
          <a:p>
            <a:pPr indent="0" algn="just">
              <a:lnSpc>
                <a:spcPct val="150000"/>
              </a:lnSpc>
              <a:buNone/>
            </a:pPr>
            <a:endParaRPr lang="en-IN" b="0" i="0" dirty="0">
              <a:solidFill>
                <a:srgbClr val="000000"/>
              </a:solidFill>
              <a:effectLst/>
              <a:latin typeface="Calibri" panose="020F0502020204030204" pitchFamily="34" charset="0"/>
            </a:endParaRPr>
          </a:p>
          <a:p>
            <a:pPr indent="0" algn="just">
              <a:lnSpc>
                <a:spcPct val="150000"/>
              </a:lnSpc>
              <a:buNone/>
            </a:pPr>
            <a:endParaRPr lang="en-IN" dirty="0">
              <a:solidFill>
                <a:srgbClr val="000000"/>
              </a:solidFill>
              <a:latin typeface="Calibri" panose="020F0502020204030204" pitchFamily="34" charset="0"/>
            </a:endParaRPr>
          </a:p>
          <a:p>
            <a:pPr indent="0" algn="just">
              <a:lnSpc>
                <a:spcPct val="150000"/>
              </a:lnSpc>
              <a:buNone/>
            </a:pPr>
            <a:endParaRPr lang="en-IN" b="0" i="0" dirty="0">
              <a:solidFill>
                <a:srgbClr val="000000"/>
              </a:solidFill>
              <a:effectLst/>
              <a:latin typeface="Calibri" panose="020F0502020204030204" pitchFamily="34" charset="0"/>
            </a:endParaRPr>
          </a:p>
          <a:p>
            <a:pPr indent="0" algn="just">
              <a:lnSpc>
                <a:spcPct val="150000"/>
              </a:lnSpc>
              <a:buNone/>
            </a:pPr>
            <a:r>
              <a:rPr lang="en-IN" b="0" i="0" dirty="0">
                <a:solidFill>
                  <a:srgbClr val="000000"/>
                </a:solidFill>
                <a:effectLst/>
                <a:latin typeface="Calibri" panose="020F0502020204030204" pitchFamily="34" charset="0"/>
              </a:rPr>
              <a:t>The actual insertion takes place when a null tree is encountered. The null tree is replaced by a leaf. If the value to be inserted is already in the tree, nothing is done.</a:t>
            </a:r>
          </a:p>
        </p:txBody>
      </p:sp>
      <p:sp>
        <p:nvSpPr>
          <p:cNvPr id="10" name="TextBox 9">
            <a:extLst>
              <a:ext uri="{FF2B5EF4-FFF2-40B4-BE49-F238E27FC236}">
                <a16:creationId xmlns:a16="http://schemas.microsoft.com/office/drawing/2014/main" id="{5ECE6AE9-53E2-7463-EFBC-B3ADD56F400F}"/>
              </a:ext>
            </a:extLst>
          </p:cNvPr>
          <p:cNvSpPr txBox="1"/>
          <p:nvPr/>
        </p:nvSpPr>
        <p:spPr>
          <a:xfrm>
            <a:off x="838200" y="4910526"/>
            <a:ext cx="10337800" cy="1295868"/>
          </a:xfrm>
          <a:prstGeom prst="rect">
            <a:avLst/>
          </a:prstGeom>
          <a:noFill/>
        </p:spPr>
        <p:txBody>
          <a:bodyPr wrap="square">
            <a:spAutoFit/>
          </a:bodyPr>
          <a:lstStyle/>
          <a:p>
            <a:pPr indent="0" algn="just">
              <a:lnSpc>
                <a:spcPct val="150000"/>
              </a:lnSpc>
              <a:buNone/>
            </a:pPr>
            <a:r>
              <a:rPr lang="en-IN" b="0" i="0" dirty="0">
                <a:solidFill>
                  <a:srgbClr val="000000"/>
                </a:solidFill>
                <a:effectLst/>
                <a:latin typeface="Calibri" panose="020F0502020204030204" pitchFamily="34" charset="0"/>
              </a:rPr>
              <a:t>Notice that parameter </a:t>
            </a:r>
            <a:r>
              <a:rPr lang="en-IN" b="0" i="1" dirty="0">
                <a:solidFill>
                  <a:srgbClr val="000000"/>
                </a:solidFill>
                <a:effectLst/>
                <a:latin typeface="Calibri" panose="020F0502020204030204" pitchFamily="34" charset="0"/>
              </a:rPr>
              <a:t>T</a:t>
            </a:r>
            <a:r>
              <a:rPr lang="en-IN" b="0" i="0" dirty="0">
                <a:solidFill>
                  <a:srgbClr val="000000"/>
                </a:solidFill>
                <a:effectLst/>
                <a:latin typeface="Calibri" panose="020F0502020204030204" pitchFamily="34" charset="0"/>
              </a:rPr>
              <a:t> is passed by reference. The first case needs to change the pointer that is stored in </a:t>
            </a:r>
            <a:r>
              <a:rPr lang="en-IN" b="0" i="1" dirty="0">
                <a:solidFill>
                  <a:srgbClr val="000000"/>
                </a:solidFill>
                <a:effectLst/>
                <a:latin typeface="Calibri" panose="020F0502020204030204" pitchFamily="34" charset="0"/>
              </a:rPr>
              <a:t>T</a:t>
            </a:r>
            <a:r>
              <a:rPr lang="en-IN" b="0" i="0" dirty="0">
                <a:solidFill>
                  <a:srgbClr val="000000"/>
                </a:solidFill>
                <a:effectLst/>
                <a:latin typeface="Calibri" panose="020F0502020204030204" pitchFamily="34" charset="0"/>
              </a:rPr>
              <a:t>. Also notice that there is no case for </a:t>
            </a:r>
            <a:r>
              <a:rPr lang="en-IN" b="0" i="1" dirty="0">
                <a:solidFill>
                  <a:srgbClr val="000000"/>
                </a:solidFill>
                <a:effectLst/>
                <a:latin typeface="Calibri" panose="020F0502020204030204" pitchFamily="34" charset="0"/>
              </a:rPr>
              <a:t>x</a:t>
            </a:r>
            <a:r>
              <a:rPr lang="en-IN" b="0" i="0" dirty="0">
                <a:solidFill>
                  <a:srgbClr val="000000"/>
                </a:solidFill>
                <a:effectLst/>
                <a:latin typeface="Calibri" panose="020F0502020204030204" pitchFamily="34" charset="0"/>
              </a:rPr>
              <a:t> = </a:t>
            </a:r>
            <a:r>
              <a:rPr lang="en-IN" b="0" i="1" dirty="0">
                <a:solidFill>
                  <a:srgbClr val="000000"/>
                </a:solidFill>
                <a:effectLst/>
                <a:latin typeface="Calibri" panose="020F0502020204030204" pitchFamily="34" charset="0"/>
              </a:rPr>
              <a:t>T</a:t>
            </a:r>
            <a:r>
              <a:rPr lang="en-IN" b="1" i="0" dirty="0">
                <a:solidFill>
                  <a:srgbClr val="000000"/>
                </a:solidFill>
                <a:effectLst/>
                <a:latin typeface="Calibri" panose="020F0502020204030204" pitchFamily="34" charset="0"/>
              </a:rPr>
              <a:t>-&gt;</a:t>
            </a:r>
            <a:r>
              <a:rPr lang="en-IN" b="0" i="0" dirty="0">
                <a:solidFill>
                  <a:srgbClr val="000000"/>
                </a:solidFill>
                <a:effectLst/>
                <a:latin typeface="Calibri" panose="020F0502020204030204" pitchFamily="34" charset="0"/>
              </a:rPr>
              <a:t>item since insert is supposed to do nothing when </a:t>
            </a:r>
            <a:r>
              <a:rPr lang="en-IN" b="0" i="1" dirty="0">
                <a:solidFill>
                  <a:srgbClr val="000000"/>
                </a:solidFill>
                <a:effectLst/>
                <a:latin typeface="Calibri" panose="020F0502020204030204" pitchFamily="34" charset="0"/>
              </a:rPr>
              <a:t>x</a:t>
            </a:r>
            <a:r>
              <a:rPr lang="en-IN" b="0" i="0" dirty="0">
                <a:solidFill>
                  <a:srgbClr val="000000"/>
                </a:solidFill>
                <a:effectLst/>
                <a:latin typeface="Calibri" panose="020F0502020204030204" pitchFamily="34" charset="0"/>
              </a:rPr>
              <a:t> already occurs in the tree.</a:t>
            </a:r>
          </a:p>
        </p:txBody>
      </p:sp>
      <p:sp>
        <p:nvSpPr>
          <p:cNvPr id="3" name="Slide Number Placeholder 2">
            <a:extLst>
              <a:ext uri="{FF2B5EF4-FFF2-40B4-BE49-F238E27FC236}">
                <a16:creationId xmlns:a16="http://schemas.microsoft.com/office/drawing/2014/main" id="{8991313A-F3D1-7BEA-4F43-5DD190979F79}"/>
              </a:ext>
            </a:extLst>
          </p:cNvPr>
          <p:cNvSpPr>
            <a:spLocks noGrp="1"/>
          </p:cNvSpPr>
          <p:nvPr>
            <p:ph type="sldNum" sz="quarter" idx="12"/>
          </p:nvPr>
        </p:nvSpPr>
        <p:spPr/>
        <p:txBody>
          <a:bodyPr/>
          <a:lstStyle/>
          <a:p>
            <a:fld id="{520A0C6E-EFDF-49F2-A292-CF6FBFE4B673}" type="slidenum">
              <a:rPr lang="en-IN" smtClean="0"/>
              <a:t>7</a:t>
            </a:fld>
            <a:endParaRPr lang="en-IN" dirty="0"/>
          </a:p>
        </p:txBody>
      </p:sp>
    </p:spTree>
    <p:extLst>
      <p:ext uri="{BB962C8B-B14F-4D97-AF65-F5344CB8AC3E}">
        <p14:creationId xmlns:p14="http://schemas.microsoft.com/office/powerpoint/2010/main" val="9357259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21AE82D-C556-FCFE-BB33-A1A6A5ABFB24}"/>
              </a:ext>
            </a:extLst>
          </p:cNvPr>
          <p:cNvSpPr>
            <a:spLocks noGrp="1"/>
          </p:cNvSpPr>
          <p:nvPr>
            <p:ph type="sldNum" sz="quarter" idx="12"/>
          </p:nvPr>
        </p:nvSpPr>
        <p:spPr/>
        <p:txBody>
          <a:bodyPr/>
          <a:lstStyle/>
          <a:p>
            <a:fld id="{520A0C6E-EFDF-49F2-A292-CF6FBFE4B673}" type="slidenum">
              <a:rPr lang="en-IN" smtClean="0"/>
              <a:t>8</a:t>
            </a:fld>
            <a:endParaRPr lang="en-IN"/>
          </a:p>
        </p:txBody>
      </p:sp>
      <p:sp>
        <p:nvSpPr>
          <p:cNvPr id="12" name="TextBox 11">
            <a:extLst>
              <a:ext uri="{FF2B5EF4-FFF2-40B4-BE49-F238E27FC236}">
                <a16:creationId xmlns:a16="http://schemas.microsoft.com/office/drawing/2014/main" id="{8000D80B-7A76-9D31-7A9F-16BD0272A254}"/>
              </a:ext>
            </a:extLst>
          </p:cNvPr>
          <p:cNvSpPr txBox="1"/>
          <p:nvPr/>
        </p:nvSpPr>
        <p:spPr>
          <a:xfrm>
            <a:off x="93980" y="758048"/>
            <a:ext cx="4838700" cy="5963427"/>
          </a:xfrm>
          <a:prstGeom prst="rect">
            <a:avLst/>
          </a:prstGeom>
          <a:noFill/>
          <a:ln>
            <a:solidFill>
              <a:schemeClr val="accent1"/>
            </a:solidFill>
          </a:ln>
        </p:spPr>
        <p:txBody>
          <a:bodyPr wrap="square">
            <a:spAutoFit/>
          </a:bodyPr>
          <a:lstStyle/>
          <a:p>
            <a:pPr>
              <a:lnSpc>
                <a:spcPct val="150000"/>
              </a:lnSpc>
            </a:pPr>
            <a:r>
              <a:rPr lang="en-IN" sz="1600" dirty="0"/>
              <a:t>Algorithm </a:t>
            </a:r>
            <a:r>
              <a:rPr lang="en-IN" sz="1600" dirty="0" err="1"/>
              <a:t>BST_Insert</a:t>
            </a:r>
            <a:r>
              <a:rPr lang="en-IN" sz="1600" dirty="0"/>
              <a:t>(root, x)</a:t>
            </a:r>
          </a:p>
          <a:p>
            <a:pPr>
              <a:lnSpc>
                <a:spcPct val="150000"/>
              </a:lnSpc>
            </a:pPr>
            <a:r>
              <a:rPr lang="en-IN" sz="1600" dirty="0"/>
              <a:t>    // x is the value to be inserted</a:t>
            </a:r>
          </a:p>
          <a:p>
            <a:pPr>
              <a:lnSpc>
                <a:spcPct val="150000"/>
              </a:lnSpc>
            </a:pPr>
            <a:r>
              <a:rPr lang="en-IN" sz="1600" dirty="0"/>
              <a:t>    p := root</a:t>
            </a:r>
          </a:p>
          <a:p>
            <a:pPr>
              <a:lnSpc>
                <a:spcPct val="150000"/>
              </a:lnSpc>
            </a:pPr>
            <a:r>
              <a:rPr lang="en-IN" sz="1600" dirty="0"/>
              <a:t>    q := null  // q will trail p, representing the parent node</a:t>
            </a:r>
          </a:p>
          <a:p>
            <a:pPr>
              <a:lnSpc>
                <a:spcPct val="150000"/>
              </a:lnSpc>
            </a:pPr>
            <a:r>
              <a:rPr lang="en-IN" sz="1600" dirty="0"/>
              <a:t>    </a:t>
            </a:r>
          </a:p>
          <a:p>
            <a:pPr>
              <a:lnSpc>
                <a:spcPct val="150000"/>
              </a:lnSpc>
            </a:pPr>
            <a:r>
              <a:rPr lang="en-IN" sz="1600" dirty="0"/>
              <a:t>    // 1. Search for the insertion point</a:t>
            </a:r>
          </a:p>
          <a:p>
            <a:pPr>
              <a:lnSpc>
                <a:spcPct val="150000"/>
              </a:lnSpc>
            </a:pPr>
            <a:r>
              <a:rPr lang="en-IN" sz="1600" dirty="0"/>
              <a:t>    while p != null do</a:t>
            </a:r>
          </a:p>
          <a:p>
            <a:pPr>
              <a:lnSpc>
                <a:spcPct val="150000"/>
              </a:lnSpc>
            </a:pPr>
            <a:r>
              <a:rPr lang="en-IN" sz="1600" dirty="0"/>
              <a:t>        q := p</a:t>
            </a:r>
          </a:p>
          <a:p>
            <a:pPr>
              <a:lnSpc>
                <a:spcPct val="150000"/>
              </a:lnSpc>
            </a:pPr>
            <a:r>
              <a:rPr lang="en-IN" sz="1600" dirty="0"/>
              <a:t>        if x = </a:t>
            </a:r>
            <a:r>
              <a:rPr lang="en-IN" sz="1600" dirty="0" err="1"/>
              <a:t>p.data</a:t>
            </a:r>
            <a:r>
              <a:rPr lang="en-IN" sz="1600" dirty="0"/>
              <a:t> then</a:t>
            </a:r>
          </a:p>
          <a:p>
            <a:pPr>
              <a:lnSpc>
                <a:spcPct val="150000"/>
              </a:lnSpc>
            </a:pPr>
            <a:r>
              <a:rPr lang="en-IN" sz="1600" dirty="0"/>
              <a:t>            return false // Key already exists</a:t>
            </a:r>
          </a:p>
          <a:p>
            <a:pPr>
              <a:lnSpc>
                <a:spcPct val="150000"/>
              </a:lnSpc>
            </a:pPr>
            <a:r>
              <a:rPr lang="en-IN" sz="1600" dirty="0"/>
              <a:t>        else if x &lt; </a:t>
            </a:r>
            <a:r>
              <a:rPr lang="en-IN" sz="1600" dirty="0" err="1"/>
              <a:t>p.data</a:t>
            </a:r>
            <a:r>
              <a:rPr lang="en-IN" sz="1600" dirty="0"/>
              <a:t> then</a:t>
            </a:r>
          </a:p>
          <a:p>
            <a:pPr>
              <a:lnSpc>
                <a:spcPct val="150000"/>
              </a:lnSpc>
            </a:pPr>
            <a:r>
              <a:rPr lang="en-IN" sz="1600" dirty="0"/>
              <a:t>            p := </a:t>
            </a:r>
            <a:r>
              <a:rPr lang="en-IN" sz="1600" dirty="0" err="1"/>
              <a:t>p.leftChild</a:t>
            </a:r>
            <a:endParaRPr lang="en-IN" sz="1600" dirty="0"/>
          </a:p>
          <a:p>
            <a:pPr>
              <a:lnSpc>
                <a:spcPct val="150000"/>
              </a:lnSpc>
            </a:pPr>
            <a:r>
              <a:rPr lang="en-IN" sz="1600" dirty="0"/>
              <a:t>        else</a:t>
            </a:r>
          </a:p>
          <a:p>
            <a:pPr>
              <a:lnSpc>
                <a:spcPct val="150000"/>
              </a:lnSpc>
            </a:pPr>
            <a:r>
              <a:rPr lang="en-IN" sz="1600" dirty="0"/>
              <a:t>            p := </a:t>
            </a:r>
            <a:r>
              <a:rPr lang="en-IN" sz="1600" dirty="0" err="1"/>
              <a:t>p.rightChild</a:t>
            </a:r>
            <a:endParaRPr lang="en-IN" sz="1600" dirty="0"/>
          </a:p>
          <a:p>
            <a:pPr>
              <a:lnSpc>
                <a:spcPct val="150000"/>
              </a:lnSpc>
            </a:pPr>
            <a:r>
              <a:rPr lang="en-IN" sz="1600" dirty="0"/>
              <a:t>        end if</a:t>
            </a:r>
          </a:p>
          <a:p>
            <a:pPr>
              <a:lnSpc>
                <a:spcPct val="150000"/>
              </a:lnSpc>
            </a:pPr>
            <a:r>
              <a:rPr lang="en-IN" sz="1600" dirty="0"/>
              <a:t>    end while</a:t>
            </a:r>
          </a:p>
        </p:txBody>
      </p:sp>
      <p:sp>
        <p:nvSpPr>
          <p:cNvPr id="14" name="TextBox 13">
            <a:extLst>
              <a:ext uri="{FF2B5EF4-FFF2-40B4-BE49-F238E27FC236}">
                <a16:creationId xmlns:a16="http://schemas.microsoft.com/office/drawing/2014/main" id="{A69EED09-A7EE-208A-77EF-F994ADBA83F6}"/>
              </a:ext>
            </a:extLst>
          </p:cNvPr>
          <p:cNvSpPr txBox="1"/>
          <p:nvPr/>
        </p:nvSpPr>
        <p:spPr>
          <a:xfrm>
            <a:off x="4932680" y="760036"/>
            <a:ext cx="3624580" cy="1900777"/>
          </a:xfrm>
          <a:prstGeom prst="rect">
            <a:avLst/>
          </a:prstGeom>
          <a:noFill/>
          <a:ln>
            <a:solidFill>
              <a:schemeClr val="accent1"/>
            </a:solidFill>
          </a:ln>
        </p:spPr>
        <p:txBody>
          <a:bodyPr wrap="square">
            <a:spAutoFit/>
          </a:bodyPr>
          <a:lstStyle/>
          <a:p>
            <a:pPr>
              <a:lnSpc>
                <a:spcPct val="150000"/>
              </a:lnSpc>
            </a:pPr>
            <a:r>
              <a:rPr lang="en-IN" sz="1600" dirty="0"/>
              <a:t>// 2. Allocate and initialize the new node</a:t>
            </a:r>
          </a:p>
          <a:p>
            <a:pPr>
              <a:lnSpc>
                <a:spcPct val="150000"/>
              </a:lnSpc>
            </a:pPr>
            <a:r>
              <a:rPr lang="en-IN" sz="1600" dirty="0"/>
              <a:t>    </a:t>
            </a:r>
            <a:r>
              <a:rPr lang="en-IN" sz="1600" dirty="0" err="1"/>
              <a:t>newNode</a:t>
            </a:r>
            <a:r>
              <a:rPr lang="en-IN" sz="1600" dirty="0"/>
              <a:t> := create new Node</a:t>
            </a:r>
          </a:p>
          <a:p>
            <a:pPr>
              <a:lnSpc>
                <a:spcPct val="150000"/>
              </a:lnSpc>
            </a:pPr>
            <a:r>
              <a:rPr lang="en-IN" sz="1600" dirty="0"/>
              <a:t>    </a:t>
            </a:r>
            <a:r>
              <a:rPr lang="en-IN" sz="1600" dirty="0" err="1"/>
              <a:t>newNode.data</a:t>
            </a:r>
            <a:r>
              <a:rPr lang="en-IN" sz="1600" dirty="0"/>
              <a:t> := x</a:t>
            </a:r>
          </a:p>
          <a:p>
            <a:pPr>
              <a:lnSpc>
                <a:spcPct val="150000"/>
              </a:lnSpc>
            </a:pPr>
            <a:r>
              <a:rPr lang="en-IN" sz="1600" dirty="0"/>
              <a:t>    </a:t>
            </a:r>
            <a:r>
              <a:rPr lang="en-IN" sz="1600" dirty="0" err="1"/>
              <a:t>newNode.leftChild</a:t>
            </a:r>
            <a:r>
              <a:rPr lang="en-IN" sz="1600" dirty="0"/>
              <a:t> := null</a:t>
            </a:r>
          </a:p>
          <a:p>
            <a:pPr>
              <a:lnSpc>
                <a:spcPct val="150000"/>
              </a:lnSpc>
            </a:pPr>
            <a:r>
              <a:rPr lang="en-IN" sz="1600" dirty="0"/>
              <a:t>    </a:t>
            </a:r>
            <a:r>
              <a:rPr lang="en-IN" sz="1600" dirty="0" err="1"/>
              <a:t>newNode.rightChild</a:t>
            </a:r>
            <a:r>
              <a:rPr lang="en-IN" sz="1600" dirty="0"/>
              <a:t> := null</a:t>
            </a:r>
          </a:p>
        </p:txBody>
      </p:sp>
      <p:sp>
        <p:nvSpPr>
          <p:cNvPr id="16" name="TextBox 15">
            <a:extLst>
              <a:ext uri="{FF2B5EF4-FFF2-40B4-BE49-F238E27FC236}">
                <a16:creationId xmlns:a16="http://schemas.microsoft.com/office/drawing/2014/main" id="{2EC8EDD3-6B85-CFD4-DFC8-F9462726F026}"/>
              </a:ext>
            </a:extLst>
          </p:cNvPr>
          <p:cNvSpPr txBox="1"/>
          <p:nvPr/>
        </p:nvSpPr>
        <p:spPr>
          <a:xfrm>
            <a:off x="568960" y="50162"/>
            <a:ext cx="10668000" cy="707886"/>
          </a:xfrm>
          <a:prstGeom prst="rect">
            <a:avLst/>
          </a:prstGeom>
          <a:noFill/>
        </p:spPr>
        <p:txBody>
          <a:bodyPr wrap="square">
            <a:spAutoFit/>
          </a:bodyPr>
          <a:lstStyle/>
          <a:p>
            <a:pPr algn="ctr"/>
            <a:r>
              <a:rPr lang="en-IN" sz="4000" b="1" dirty="0">
                <a:latin typeface="Calibri" panose="020F0502020204030204" pitchFamily="34" charset="0"/>
                <a:cs typeface="Calibri" panose="020F0502020204030204" pitchFamily="34" charset="0"/>
              </a:rPr>
              <a:t>Algorithm binary search tree Insertion</a:t>
            </a:r>
            <a:endParaRPr lang="en-IN" sz="1600" dirty="0"/>
          </a:p>
        </p:txBody>
      </p:sp>
      <p:sp>
        <p:nvSpPr>
          <p:cNvPr id="18" name="TextBox 17">
            <a:extLst>
              <a:ext uri="{FF2B5EF4-FFF2-40B4-BE49-F238E27FC236}">
                <a16:creationId xmlns:a16="http://schemas.microsoft.com/office/drawing/2014/main" id="{8544CB32-EDA0-3D23-46EE-21EDFD3B28FB}"/>
              </a:ext>
            </a:extLst>
          </p:cNvPr>
          <p:cNvSpPr txBox="1"/>
          <p:nvPr/>
        </p:nvSpPr>
        <p:spPr>
          <a:xfrm>
            <a:off x="8557260" y="760036"/>
            <a:ext cx="3505200" cy="3747436"/>
          </a:xfrm>
          <a:prstGeom prst="rect">
            <a:avLst/>
          </a:prstGeom>
          <a:noFill/>
          <a:ln>
            <a:solidFill>
              <a:schemeClr val="accent1"/>
            </a:solidFill>
          </a:ln>
        </p:spPr>
        <p:txBody>
          <a:bodyPr wrap="square">
            <a:spAutoFit/>
          </a:bodyPr>
          <a:lstStyle/>
          <a:p>
            <a:pPr>
              <a:lnSpc>
                <a:spcPct val="150000"/>
              </a:lnSpc>
            </a:pPr>
            <a:r>
              <a:rPr lang="en-IN" sz="1600" dirty="0"/>
              <a:t> // 3. Attach the new node to the tree</a:t>
            </a:r>
          </a:p>
          <a:p>
            <a:pPr>
              <a:lnSpc>
                <a:spcPct val="150000"/>
              </a:lnSpc>
            </a:pPr>
            <a:r>
              <a:rPr lang="en-IN" sz="1600" dirty="0"/>
              <a:t>    if root = null then</a:t>
            </a:r>
          </a:p>
          <a:p>
            <a:pPr>
              <a:lnSpc>
                <a:spcPct val="150000"/>
              </a:lnSpc>
            </a:pPr>
            <a:r>
              <a:rPr lang="en-IN" sz="1600" dirty="0"/>
              <a:t>        root := </a:t>
            </a:r>
            <a:r>
              <a:rPr lang="en-IN" sz="1600" dirty="0" err="1"/>
              <a:t>newNode</a:t>
            </a:r>
            <a:endParaRPr lang="en-IN" sz="1600" dirty="0"/>
          </a:p>
          <a:p>
            <a:pPr>
              <a:lnSpc>
                <a:spcPct val="150000"/>
              </a:lnSpc>
            </a:pPr>
            <a:r>
              <a:rPr lang="en-IN" sz="1600" dirty="0"/>
              <a:t>    else if x &lt; </a:t>
            </a:r>
            <a:r>
              <a:rPr lang="en-IN" sz="1600" dirty="0" err="1"/>
              <a:t>q.data</a:t>
            </a:r>
            <a:r>
              <a:rPr lang="en-IN" sz="1600" dirty="0"/>
              <a:t> then</a:t>
            </a:r>
          </a:p>
          <a:p>
            <a:pPr>
              <a:lnSpc>
                <a:spcPct val="150000"/>
              </a:lnSpc>
            </a:pPr>
            <a:r>
              <a:rPr lang="en-IN" sz="1600" dirty="0"/>
              <a:t>        </a:t>
            </a:r>
            <a:r>
              <a:rPr lang="en-IN" sz="1600" dirty="0" err="1"/>
              <a:t>q.leftChild</a:t>
            </a:r>
            <a:r>
              <a:rPr lang="en-IN" sz="1600" dirty="0"/>
              <a:t> := </a:t>
            </a:r>
            <a:r>
              <a:rPr lang="en-IN" sz="1600" dirty="0" err="1"/>
              <a:t>newNode</a:t>
            </a:r>
            <a:endParaRPr lang="en-IN" sz="1600" dirty="0"/>
          </a:p>
          <a:p>
            <a:pPr>
              <a:lnSpc>
                <a:spcPct val="150000"/>
              </a:lnSpc>
            </a:pPr>
            <a:r>
              <a:rPr lang="en-IN" sz="1600" dirty="0"/>
              <a:t>    else</a:t>
            </a:r>
          </a:p>
          <a:p>
            <a:pPr>
              <a:lnSpc>
                <a:spcPct val="150000"/>
              </a:lnSpc>
            </a:pPr>
            <a:r>
              <a:rPr lang="en-IN" sz="1600" dirty="0"/>
              <a:t>        </a:t>
            </a:r>
            <a:r>
              <a:rPr lang="en-IN" sz="1600" dirty="0" err="1"/>
              <a:t>q.rightChild</a:t>
            </a:r>
            <a:r>
              <a:rPr lang="en-IN" sz="1600" dirty="0"/>
              <a:t> := </a:t>
            </a:r>
            <a:r>
              <a:rPr lang="en-IN" sz="1600" dirty="0" err="1"/>
              <a:t>newNode</a:t>
            </a:r>
            <a:endParaRPr lang="en-IN" sz="1600" dirty="0"/>
          </a:p>
          <a:p>
            <a:pPr>
              <a:lnSpc>
                <a:spcPct val="150000"/>
              </a:lnSpc>
            </a:pPr>
            <a:r>
              <a:rPr lang="en-IN" sz="1600" dirty="0"/>
              <a:t>    end if</a:t>
            </a:r>
          </a:p>
          <a:p>
            <a:pPr>
              <a:lnSpc>
                <a:spcPct val="150000"/>
              </a:lnSpc>
            </a:pPr>
            <a:r>
              <a:rPr lang="en-IN" sz="1600" dirty="0"/>
              <a:t>    return true</a:t>
            </a:r>
          </a:p>
          <a:p>
            <a:pPr>
              <a:lnSpc>
                <a:spcPct val="150000"/>
              </a:lnSpc>
            </a:pPr>
            <a:r>
              <a:rPr lang="en-IN" sz="1600" dirty="0"/>
              <a:t>end Algorithm</a:t>
            </a:r>
            <a:endParaRPr lang="en-IN" dirty="0"/>
          </a:p>
        </p:txBody>
      </p:sp>
    </p:spTree>
    <p:extLst>
      <p:ext uri="{BB962C8B-B14F-4D97-AF65-F5344CB8AC3E}">
        <p14:creationId xmlns:p14="http://schemas.microsoft.com/office/powerpoint/2010/main" val="4498620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B29E2C2-4282-A6D5-82C3-D06A5E109A4E}"/>
              </a:ext>
            </a:extLst>
          </p:cNvPr>
          <p:cNvSpPr>
            <a:spLocks noGrp="1"/>
          </p:cNvSpPr>
          <p:nvPr>
            <p:ph type="sldNum" sz="quarter" idx="12"/>
          </p:nvPr>
        </p:nvSpPr>
        <p:spPr/>
        <p:txBody>
          <a:bodyPr/>
          <a:lstStyle/>
          <a:p>
            <a:fld id="{520A0C6E-EFDF-49F2-A292-CF6FBFE4B673}" type="slidenum">
              <a:rPr lang="en-IN" smtClean="0"/>
              <a:t>9</a:t>
            </a:fld>
            <a:endParaRPr lang="en-IN"/>
          </a:p>
        </p:txBody>
      </p:sp>
      <p:sp>
        <p:nvSpPr>
          <p:cNvPr id="8" name="TextBox 7">
            <a:extLst>
              <a:ext uri="{FF2B5EF4-FFF2-40B4-BE49-F238E27FC236}">
                <a16:creationId xmlns:a16="http://schemas.microsoft.com/office/drawing/2014/main" id="{EF855A7B-FA8B-9069-E472-148925F6EE8E}"/>
              </a:ext>
            </a:extLst>
          </p:cNvPr>
          <p:cNvSpPr txBox="1"/>
          <p:nvPr/>
        </p:nvSpPr>
        <p:spPr>
          <a:xfrm>
            <a:off x="2585866" y="286363"/>
            <a:ext cx="6492532" cy="584775"/>
          </a:xfrm>
          <a:prstGeom prst="rect">
            <a:avLst/>
          </a:prstGeom>
          <a:noFill/>
        </p:spPr>
        <p:txBody>
          <a:bodyPr wrap="square">
            <a:spAutoFit/>
          </a:bodyPr>
          <a:lstStyle/>
          <a:p>
            <a:r>
              <a:rPr lang="en-IN" sz="3200" b="1" dirty="0">
                <a:latin typeface="Calibri" panose="020F0502020204030204" pitchFamily="34" charset="0"/>
                <a:cs typeface="Calibri" panose="020F0502020204030204" pitchFamily="34" charset="0"/>
              </a:rPr>
              <a:t>Inserting into a binary search tree</a:t>
            </a:r>
            <a:endParaRPr lang="en-IN" sz="1200" dirty="0">
              <a:latin typeface="Calibri" panose="020F0502020204030204" pitchFamily="34" charset="0"/>
            </a:endParaRPr>
          </a:p>
        </p:txBody>
      </p:sp>
      <p:pic>
        <p:nvPicPr>
          <p:cNvPr id="10" name="Picture 9" descr="Image of a graph lightbox">
            <a:extLst>
              <a:ext uri="{FF2B5EF4-FFF2-40B4-BE49-F238E27FC236}">
                <a16:creationId xmlns:a16="http://schemas.microsoft.com/office/drawing/2014/main" id="{C560D76F-1A6B-4F41-0F4D-94381373EE58}"/>
              </a:ext>
            </a:extLst>
          </p:cNvPr>
          <p:cNvPicPr>
            <a:picLocks noChangeAspect="1"/>
          </p:cNvPicPr>
          <p:nvPr/>
        </p:nvPicPr>
        <p:blipFill>
          <a:blip r:embed="rId2"/>
          <a:srcRect t="12564"/>
          <a:stretch>
            <a:fillRect/>
          </a:stretch>
        </p:blipFill>
        <p:spPr>
          <a:xfrm>
            <a:off x="136868" y="2221497"/>
            <a:ext cx="3295907" cy="2025383"/>
          </a:xfrm>
          <a:prstGeom prst="rect">
            <a:avLst/>
          </a:prstGeom>
        </p:spPr>
      </p:pic>
      <p:sp>
        <p:nvSpPr>
          <p:cNvPr id="12" name="TextBox 11">
            <a:extLst>
              <a:ext uri="{FF2B5EF4-FFF2-40B4-BE49-F238E27FC236}">
                <a16:creationId xmlns:a16="http://schemas.microsoft.com/office/drawing/2014/main" id="{11CFE196-A6A2-62F6-D436-44719B8BD411}"/>
              </a:ext>
            </a:extLst>
          </p:cNvPr>
          <p:cNvSpPr txBox="1"/>
          <p:nvPr/>
        </p:nvSpPr>
        <p:spPr>
          <a:xfrm>
            <a:off x="136868" y="1068759"/>
            <a:ext cx="3295907" cy="1077218"/>
          </a:xfrm>
          <a:prstGeom prst="rect">
            <a:avLst/>
          </a:prstGeom>
          <a:noFill/>
        </p:spPr>
        <p:txBody>
          <a:bodyPr wrap="square">
            <a:spAutoFit/>
          </a:bodyPr>
          <a:lstStyle/>
          <a:p>
            <a:pPr marL="0" indent="0" algn="just">
              <a:buNone/>
            </a:pPr>
            <a:r>
              <a:rPr lang="en-IN" sz="1600" dirty="0">
                <a:solidFill>
                  <a:srgbClr val="FF0000"/>
                </a:solidFill>
                <a:latin typeface="Calibri" panose="020F0502020204030204" pitchFamily="34" charset="0"/>
              </a:rPr>
              <a:t>Draw a Binary Search Tree (BST) by inserting the following numbers from left to right: </a:t>
            </a:r>
            <a:r>
              <a:rPr lang="en-IN" sz="1600" b="1" dirty="0">
                <a:solidFill>
                  <a:srgbClr val="FF0000"/>
                </a:solidFill>
                <a:latin typeface="Calibri" panose="020F0502020204030204" pitchFamily="34" charset="0"/>
              </a:rPr>
              <a:t>11, 6, 8, 19, 4, 10, 5, 17, 43, 49, 31</a:t>
            </a:r>
            <a:endParaRPr lang="en-IN" sz="1600" dirty="0">
              <a:solidFill>
                <a:srgbClr val="FF0000"/>
              </a:solidFill>
              <a:latin typeface="Calibri" panose="020F0502020204030204" pitchFamily="34" charset="0"/>
            </a:endParaRPr>
          </a:p>
        </p:txBody>
      </p:sp>
      <p:sp>
        <p:nvSpPr>
          <p:cNvPr id="3" name="TextBox 2">
            <a:extLst>
              <a:ext uri="{FF2B5EF4-FFF2-40B4-BE49-F238E27FC236}">
                <a16:creationId xmlns:a16="http://schemas.microsoft.com/office/drawing/2014/main" id="{66CB42A6-3A8F-6BEA-9C9E-113E97FD29E4}"/>
              </a:ext>
            </a:extLst>
          </p:cNvPr>
          <p:cNvSpPr txBox="1"/>
          <p:nvPr/>
        </p:nvSpPr>
        <p:spPr>
          <a:xfrm>
            <a:off x="3627120" y="1068759"/>
            <a:ext cx="4130332" cy="4485843"/>
          </a:xfrm>
          <a:prstGeom prst="rect">
            <a:avLst/>
          </a:prstGeom>
          <a:noFill/>
          <a:ln>
            <a:solidFill>
              <a:schemeClr val="accent1"/>
            </a:solidFill>
          </a:ln>
        </p:spPr>
        <p:txBody>
          <a:bodyPr wrap="square">
            <a:spAutoFit/>
          </a:bodyPr>
          <a:lstStyle/>
          <a:p>
            <a:pPr marL="0" marR="0">
              <a:spcBef>
                <a:spcPts val="1800"/>
              </a:spcBef>
              <a:spcAft>
                <a:spcPts val="900"/>
              </a:spcAft>
              <a:buNone/>
            </a:pPr>
            <a:r>
              <a:rPr lang="en-IN" sz="2000" b="1" u="none" strike="noStrike" dirty="0">
                <a:effectLst/>
                <a:latin typeface="Google Sans"/>
              </a:rPr>
              <a:t>Rules</a:t>
            </a:r>
          </a:p>
          <a:p>
            <a:pPr marL="285750" marR="0" indent="-285750">
              <a:spcBef>
                <a:spcPts val="900"/>
              </a:spcBef>
              <a:buFont typeface="Arial" panose="020B0604020202020204" pitchFamily="34" charset="0"/>
              <a:buChar char="•"/>
            </a:pPr>
            <a:r>
              <a:rPr lang="en-IN" sz="1600" b="1" u="none" strike="noStrike" dirty="0">
                <a:effectLst/>
                <a:latin typeface="Google Sans"/>
              </a:rPr>
              <a:t>Smaller</a:t>
            </a:r>
            <a:r>
              <a:rPr lang="en-IN" sz="1600" b="0" u="none" strike="noStrike" dirty="0">
                <a:effectLst/>
                <a:latin typeface="Google Sans"/>
              </a:rPr>
              <a:t> numbers go </a:t>
            </a:r>
            <a:r>
              <a:rPr lang="en-IN" sz="1600" b="1" u="none" strike="noStrike" dirty="0">
                <a:effectLst/>
                <a:latin typeface="Google Sans"/>
              </a:rPr>
              <a:t>Left</a:t>
            </a:r>
            <a:r>
              <a:rPr lang="en-IN" sz="1600" b="0" u="none" strike="noStrike" dirty="0">
                <a:effectLst/>
                <a:latin typeface="Google Sans"/>
              </a:rPr>
              <a:t>.</a:t>
            </a:r>
          </a:p>
          <a:p>
            <a:pPr marL="285750" marR="0" indent="-285750">
              <a:spcBef>
                <a:spcPts val="900"/>
              </a:spcBef>
              <a:buFont typeface="Arial" panose="020B0604020202020204" pitchFamily="34" charset="0"/>
              <a:buChar char="•"/>
            </a:pPr>
            <a:r>
              <a:rPr lang="en-IN" sz="1600" b="1" u="none" strike="noStrike" dirty="0">
                <a:effectLst/>
                <a:latin typeface="Google Sans"/>
              </a:rPr>
              <a:t>Bigger</a:t>
            </a:r>
            <a:r>
              <a:rPr lang="en-IN" sz="1600" b="0" u="none" strike="noStrike" dirty="0">
                <a:effectLst/>
                <a:latin typeface="Google Sans"/>
              </a:rPr>
              <a:t> numbers go </a:t>
            </a:r>
            <a:r>
              <a:rPr lang="en-IN" sz="1600" b="1" u="none" strike="noStrike" dirty="0">
                <a:effectLst/>
                <a:latin typeface="Google Sans"/>
              </a:rPr>
              <a:t>Right</a:t>
            </a:r>
            <a:r>
              <a:rPr lang="en-IN" sz="1600" b="0" u="none" strike="noStrike" dirty="0">
                <a:effectLst/>
                <a:latin typeface="Google Sans"/>
              </a:rPr>
              <a:t>.</a:t>
            </a:r>
          </a:p>
          <a:p>
            <a:pPr marL="0" marR="0">
              <a:spcBef>
                <a:spcPts val="1800"/>
              </a:spcBef>
              <a:buNone/>
            </a:pPr>
            <a:r>
              <a:rPr lang="en-IN" sz="2000" b="1" u="none" strike="noStrike" dirty="0">
                <a:effectLst/>
                <a:latin typeface="Google Sans"/>
              </a:rPr>
              <a:t>Step 1: Start with 11, 6, 8</a:t>
            </a:r>
          </a:p>
          <a:p>
            <a:pPr marL="285750" marR="0" indent="-285750">
              <a:spcBef>
                <a:spcPts val="900"/>
              </a:spcBef>
              <a:buFont typeface="Arial" panose="020B0604020202020204" pitchFamily="34" charset="0"/>
              <a:buChar char="•"/>
            </a:pPr>
            <a:r>
              <a:rPr lang="en-IN" sz="1600" b="1" u="none" strike="noStrike" dirty="0">
                <a:effectLst/>
                <a:latin typeface="Google Sans"/>
              </a:rPr>
              <a:t>11</a:t>
            </a:r>
            <a:r>
              <a:rPr lang="en-IN" sz="1600" b="0" u="none" strike="noStrike" dirty="0">
                <a:effectLst/>
                <a:latin typeface="Google Sans"/>
              </a:rPr>
              <a:t> is the root.</a:t>
            </a:r>
          </a:p>
          <a:p>
            <a:pPr marL="285750" marR="0" indent="-285750">
              <a:spcBef>
                <a:spcPts val="900"/>
              </a:spcBef>
              <a:buFont typeface="Arial" panose="020B0604020202020204" pitchFamily="34" charset="0"/>
              <a:buChar char="•"/>
            </a:pPr>
            <a:r>
              <a:rPr lang="en-IN" sz="1600" b="1" u="none" strike="noStrike" dirty="0">
                <a:effectLst/>
                <a:latin typeface="Google Sans"/>
              </a:rPr>
              <a:t>6</a:t>
            </a:r>
            <a:r>
              <a:rPr lang="en-IN" sz="1600" b="0" u="none" strike="noStrike" dirty="0">
                <a:effectLst/>
                <a:latin typeface="Google Sans"/>
              </a:rPr>
              <a:t> goes left of 11.</a:t>
            </a:r>
          </a:p>
          <a:p>
            <a:pPr marL="285750" marR="0" indent="-285750">
              <a:spcBef>
                <a:spcPts val="900"/>
              </a:spcBef>
              <a:buFont typeface="Arial" panose="020B0604020202020204" pitchFamily="34" charset="0"/>
              <a:buChar char="•"/>
            </a:pPr>
            <a:r>
              <a:rPr lang="en-IN" sz="1600" b="1" u="none" strike="noStrike" dirty="0">
                <a:effectLst/>
                <a:latin typeface="Google Sans"/>
              </a:rPr>
              <a:t>8</a:t>
            </a:r>
            <a:r>
              <a:rPr lang="en-IN" sz="1600" b="0" u="none" strike="noStrike" dirty="0">
                <a:effectLst/>
                <a:latin typeface="Google Sans"/>
              </a:rPr>
              <a:t> goes left of 11, then right of 6. </a:t>
            </a:r>
          </a:p>
          <a:p>
            <a:pPr marL="0" marR="0">
              <a:spcBef>
                <a:spcPts val="1800"/>
              </a:spcBef>
              <a:buNone/>
            </a:pPr>
            <a:r>
              <a:rPr lang="en-IN" sz="2000" b="1" u="none" strike="noStrike" dirty="0">
                <a:effectLst/>
                <a:latin typeface="Google Sans"/>
              </a:rPr>
              <a:t>Step 2: Add 19, 4, 10</a:t>
            </a:r>
          </a:p>
          <a:p>
            <a:pPr marL="285750" marR="0" indent="-285750">
              <a:spcBef>
                <a:spcPts val="900"/>
              </a:spcBef>
              <a:buFont typeface="Arial" panose="020B0604020202020204" pitchFamily="34" charset="0"/>
              <a:buChar char="•"/>
            </a:pPr>
            <a:r>
              <a:rPr lang="en-IN" sz="1600" b="1" u="none" strike="noStrike" dirty="0">
                <a:effectLst/>
                <a:latin typeface="Google Sans"/>
              </a:rPr>
              <a:t>19</a:t>
            </a:r>
            <a:r>
              <a:rPr lang="en-IN" sz="1600" b="0" u="none" strike="noStrike" dirty="0">
                <a:effectLst/>
                <a:latin typeface="Google Sans"/>
              </a:rPr>
              <a:t> goes right of 11.</a:t>
            </a:r>
          </a:p>
          <a:p>
            <a:pPr marL="285750" marR="0" indent="-285750">
              <a:spcBef>
                <a:spcPts val="900"/>
              </a:spcBef>
              <a:buFont typeface="Arial" panose="020B0604020202020204" pitchFamily="34" charset="0"/>
              <a:buChar char="•"/>
            </a:pPr>
            <a:r>
              <a:rPr lang="en-IN" sz="1600" b="1" u="none" strike="noStrike" dirty="0">
                <a:effectLst/>
                <a:latin typeface="Google Sans"/>
              </a:rPr>
              <a:t>4</a:t>
            </a:r>
            <a:r>
              <a:rPr lang="en-IN" sz="1600" b="0" u="none" strike="noStrike" dirty="0">
                <a:effectLst/>
                <a:latin typeface="Google Sans"/>
              </a:rPr>
              <a:t> goes left of 11, then left of 6.</a:t>
            </a:r>
          </a:p>
          <a:p>
            <a:pPr marL="285750" marR="0" indent="-285750">
              <a:spcBef>
                <a:spcPts val="900"/>
              </a:spcBef>
              <a:buFont typeface="Arial" panose="020B0604020202020204" pitchFamily="34" charset="0"/>
              <a:buChar char="•"/>
            </a:pPr>
            <a:r>
              <a:rPr lang="en-IN" sz="1600" b="1" u="none" strike="noStrike" dirty="0">
                <a:effectLst/>
                <a:latin typeface="Google Sans"/>
              </a:rPr>
              <a:t>10</a:t>
            </a:r>
            <a:r>
              <a:rPr lang="en-IN" sz="1600" b="0" u="none" strike="noStrike" dirty="0">
                <a:effectLst/>
                <a:latin typeface="Google Sans"/>
              </a:rPr>
              <a:t> goes left of 11, right of 6, then right of 8.</a:t>
            </a:r>
          </a:p>
        </p:txBody>
      </p:sp>
      <p:sp>
        <p:nvSpPr>
          <p:cNvPr id="7" name="TextBox 6">
            <a:extLst>
              <a:ext uri="{FF2B5EF4-FFF2-40B4-BE49-F238E27FC236}">
                <a16:creationId xmlns:a16="http://schemas.microsoft.com/office/drawing/2014/main" id="{6C4229EA-412F-F575-C958-01BFE09F0387}"/>
              </a:ext>
            </a:extLst>
          </p:cNvPr>
          <p:cNvSpPr txBox="1"/>
          <p:nvPr/>
        </p:nvSpPr>
        <p:spPr>
          <a:xfrm>
            <a:off x="7757452" y="1068759"/>
            <a:ext cx="4389120" cy="2746906"/>
          </a:xfrm>
          <a:prstGeom prst="rect">
            <a:avLst/>
          </a:prstGeom>
          <a:noFill/>
          <a:ln>
            <a:solidFill>
              <a:schemeClr val="accent1"/>
            </a:solidFill>
          </a:ln>
        </p:spPr>
        <p:txBody>
          <a:bodyPr wrap="square">
            <a:spAutoFit/>
          </a:bodyPr>
          <a:lstStyle/>
          <a:p>
            <a:pPr marL="0" marR="0">
              <a:spcBef>
                <a:spcPts val="1800"/>
              </a:spcBef>
              <a:buNone/>
            </a:pPr>
            <a:r>
              <a:rPr lang="en-IN" sz="2000" b="1" u="none" strike="noStrike" dirty="0">
                <a:effectLst/>
                <a:latin typeface="Google Sans"/>
              </a:rPr>
              <a:t>Step 3: Add 5, 17, 43</a:t>
            </a:r>
          </a:p>
          <a:p>
            <a:pPr marL="285750" marR="0" indent="-285750">
              <a:spcBef>
                <a:spcPts val="900"/>
              </a:spcBef>
              <a:buFont typeface="Arial" panose="020B0604020202020204" pitchFamily="34" charset="0"/>
              <a:buChar char="•"/>
            </a:pPr>
            <a:r>
              <a:rPr lang="en-IN" sz="1600" b="1" u="none" strike="noStrike" dirty="0">
                <a:effectLst/>
                <a:latin typeface="Google Sans"/>
              </a:rPr>
              <a:t>5</a:t>
            </a:r>
            <a:r>
              <a:rPr lang="en-IN" sz="1600" b="0" u="none" strike="noStrike" dirty="0">
                <a:effectLst/>
                <a:latin typeface="Google Sans"/>
              </a:rPr>
              <a:t> goes left of 11, left of 6, then right of 4.</a:t>
            </a:r>
          </a:p>
          <a:p>
            <a:pPr marL="285750" marR="0" indent="-285750">
              <a:spcBef>
                <a:spcPts val="900"/>
              </a:spcBef>
              <a:buFont typeface="Arial" panose="020B0604020202020204" pitchFamily="34" charset="0"/>
              <a:buChar char="•"/>
            </a:pPr>
            <a:r>
              <a:rPr lang="en-IN" sz="1600" b="1" u="none" strike="noStrike" dirty="0">
                <a:effectLst/>
                <a:latin typeface="Google Sans"/>
              </a:rPr>
              <a:t>17</a:t>
            </a:r>
            <a:r>
              <a:rPr lang="en-IN" sz="1600" b="0" u="none" strike="noStrike" dirty="0">
                <a:effectLst/>
                <a:latin typeface="Google Sans"/>
              </a:rPr>
              <a:t> goes right of 11, then left of 19.</a:t>
            </a:r>
          </a:p>
          <a:p>
            <a:pPr marL="285750" marR="0" indent="-285750">
              <a:spcBef>
                <a:spcPts val="900"/>
              </a:spcBef>
              <a:buFont typeface="Arial" panose="020B0604020202020204" pitchFamily="34" charset="0"/>
              <a:buChar char="•"/>
            </a:pPr>
            <a:r>
              <a:rPr lang="en-IN" sz="1600" b="1" u="none" strike="noStrike" dirty="0">
                <a:effectLst/>
                <a:latin typeface="Google Sans"/>
              </a:rPr>
              <a:t>43</a:t>
            </a:r>
            <a:r>
              <a:rPr lang="en-IN" sz="1600" b="0" u="none" strike="noStrike" dirty="0">
                <a:effectLst/>
                <a:latin typeface="Google Sans"/>
              </a:rPr>
              <a:t> goes right of 11, then right of 19. </a:t>
            </a:r>
          </a:p>
          <a:p>
            <a:pPr marL="0" marR="0">
              <a:spcBef>
                <a:spcPts val="1800"/>
              </a:spcBef>
              <a:buNone/>
            </a:pPr>
            <a:r>
              <a:rPr lang="en-IN" sz="2000" b="1" u="none" strike="noStrike" dirty="0">
                <a:effectLst/>
                <a:latin typeface="Google Sans"/>
              </a:rPr>
              <a:t>Step 4: Add 49, 31</a:t>
            </a:r>
          </a:p>
          <a:p>
            <a:pPr marL="285750" marR="0" indent="-285750">
              <a:spcBef>
                <a:spcPts val="900"/>
              </a:spcBef>
              <a:buFont typeface="Arial" panose="020B0604020202020204" pitchFamily="34" charset="0"/>
              <a:buChar char="•"/>
            </a:pPr>
            <a:r>
              <a:rPr lang="en-IN" sz="1600" b="1" u="none" strike="noStrike" dirty="0">
                <a:effectLst/>
                <a:latin typeface="Google Sans"/>
              </a:rPr>
              <a:t>49</a:t>
            </a:r>
            <a:r>
              <a:rPr lang="en-IN" sz="1600" b="0" u="none" strike="noStrike" dirty="0">
                <a:effectLst/>
                <a:latin typeface="Google Sans"/>
              </a:rPr>
              <a:t> goes right of 11, right of 19, then right of 43.</a:t>
            </a:r>
          </a:p>
          <a:p>
            <a:pPr marL="285750" marR="0" indent="-285750">
              <a:spcBef>
                <a:spcPts val="900"/>
              </a:spcBef>
              <a:buFont typeface="Arial" panose="020B0604020202020204" pitchFamily="34" charset="0"/>
              <a:buChar char="•"/>
            </a:pPr>
            <a:r>
              <a:rPr lang="en-IN" sz="1600" b="1" u="none" strike="noStrike" dirty="0">
                <a:effectLst/>
                <a:latin typeface="Google Sans"/>
              </a:rPr>
              <a:t>31</a:t>
            </a:r>
            <a:r>
              <a:rPr lang="en-IN" sz="1600" b="0" u="none" strike="noStrike" dirty="0">
                <a:effectLst/>
                <a:latin typeface="Google Sans"/>
              </a:rPr>
              <a:t> goes right of 11, right of 19, then left of 43.</a:t>
            </a:r>
            <a:endParaRPr lang="en-IN" sz="2000" dirty="0"/>
          </a:p>
        </p:txBody>
      </p:sp>
    </p:spTree>
    <p:extLst>
      <p:ext uri="{BB962C8B-B14F-4D97-AF65-F5344CB8AC3E}">
        <p14:creationId xmlns:p14="http://schemas.microsoft.com/office/powerpoint/2010/main" val="28131998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94B553-F990-002F-3959-E083FA5A4787}"/>
              </a:ext>
            </a:extLst>
          </p:cNvPr>
          <p:cNvSpPr>
            <a:spLocks noGrp="1"/>
          </p:cNvSpPr>
          <p:nvPr>
            <p:ph type="title"/>
          </p:nvPr>
        </p:nvSpPr>
        <p:spPr>
          <a:xfrm>
            <a:off x="838200" y="365125"/>
            <a:ext cx="10515600" cy="751765"/>
          </a:xfrm>
        </p:spPr>
        <p:txBody>
          <a:bodyPr>
            <a:normAutofit/>
          </a:bodyPr>
          <a:lstStyle/>
          <a:p>
            <a:r>
              <a:rPr lang="en-IN" b="1" dirty="0">
                <a:latin typeface="Calibri" panose="020F0502020204030204" pitchFamily="34" charset="0"/>
              </a:rPr>
              <a:t>Deletion in Binary Search Tree (BST)</a:t>
            </a:r>
            <a:endParaRPr lang="en-IN" dirty="0">
              <a:latin typeface="Calibri" panose="020F0502020204030204" pitchFamily="34" charset="0"/>
            </a:endParaRPr>
          </a:p>
        </p:txBody>
      </p:sp>
      <p:sp>
        <p:nvSpPr>
          <p:cNvPr id="3" name="Content Placeholder 2">
            <a:extLst>
              <a:ext uri="{FF2B5EF4-FFF2-40B4-BE49-F238E27FC236}">
                <a16:creationId xmlns:a16="http://schemas.microsoft.com/office/drawing/2014/main" id="{065EC36A-D84A-2678-74DA-E33D6F45B7E3}"/>
              </a:ext>
            </a:extLst>
          </p:cNvPr>
          <p:cNvSpPr>
            <a:spLocks noGrp="1"/>
          </p:cNvSpPr>
          <p:nvPr>
            <p:ph idx="1"/>
          </p:nvPr>
        </p:nvSpPr>
        <p:spPr>
          <a:xfrm>
            <a:off x="967740" y="1277350"/>
            <a:ext cx="10515600" cy="686897"/>
          </a:xfrm>
        </p:spPr>
        <p:txBody>
          <a:bodyPr>
            <a:normAutofit/>
          </a:bodyPr>
          <a:lstStyle/>
          <a:p>
            <a:pPr marL="0" indent="0" algn="just">
              <a:buNone/>
            </a:pPr>
            <a:r>
              <a:rPr lang="en-IN" sz="2000" dirty="0"/>
              <a:t>Given the </a:t>
            </a:r>
            <a:r>
              <a:rPr lang="en-IN" sz="2000" b="1" dirty="0"/>
              <a:t>root </a:t>
            </a:r>
            <a:r>
              <a:rPr lang="en-IN" sz="2000" dirty="0"/>
              <a:t>of a Binary Search Tree (BST) and an integer</a:t>
            </a:r>
            <a:r>
              <a:rPr lang="en-IN" sz="2000" b="1" dirty="0"/>
              <a:t> x</a:t>
            </a:r>
            <a:r>
              <a:rPr lang="en-IN" sz="2000" dirty="0"/>
              <a:t>, delete the node with value x from the BST while maintaining the BST property.</a:t>
            </a:r>
          </a:p>
        </p:txBody>
      </p:sp>
      <p:sp>
        <p:nvSpPr>
          <p:cNvPr id="4" name="Slide Number Placeholder 3">
            <a:extLst>
              <a:ext uri="{FF2B5EF4-FFF2-40B4-BE49-F238E27FC236}">
                <a16:creationId xmlns:a16="http://schemas.microsoft.com/office/drawing/2014/main" id="{B4BE9406-25A9-B228-4332-E9EFE54CEA2A}"/>
              </a:ext>
            </a:extLst>
          </p:cNvPr>
          <p:cNvSpPr>
            <a:spLocks noGrp="1"/>
          </p:cNvSpPr>
          <p:nvPr>
            <p:ph type="sldNum" sz="quarter" idx="12"/>
          </p:nvPr>
        </p:nvSpPr>
        <p:spPr/>
        <p:txBody>
          <a:bodyPr/>
          <a:lstStyle/>
          <a:p>
            <a:fld id="{520A0C6E-EFDF-49F2-A292-CF6FBFE4B673}" type="slidenum">
              <a:rPr lang="en-IN" smtClean="0"/>
              <a:t>10</a:t>
            </a:fld>
            <a:endParaRPr lang="en-IN"/>
          </a:p>
        </p:txBody>
      </p:sp>
      <p:sp>
        <p:nvSpPr>
          <p:cNvPr id="6" name="TextBox 5">
            <a:extLst>
              <a:ext uri="{FF2B5EF4-FFF2-40B4-BE49-F238E27FC236}">
                <a16:creationId xmlns:a16="http://schemas.microsoft.com/office/drawing/2014/main" id="{1A370126-82FF-46CA-5467-76CFF6714F04}"/>
              </a:ext>
            </a:extLst>
          </p:cNvPr>
          <p:cNvSpPr txBox="1"/>
          <p:nvPr/>
        </p:nvSpPr>
        <p:spPr>
          <a:xfrm>
            <a:off x="967740" y="2100604"/>
            <a:ext cx="10347960" cy="646331"/>
          </a:xfrm>
          <a:prstGeom prst="rect">
            <a:avLst/>
          </a:prstGeom>
          <a:noFill/>
        </p:spPr>
        <p:txBody>
          <a:bodyPr wrap="square">
            <a:spAutoFit/>
          </a:bodyPr>
          <a:lstStyle/>
          <a:p>
            <a:pPr algn="just"/>
            <a:r>
              <a:rPr lang="en-IN" b="0" i="0" spc="12" dirty="0">
                <a:effectLst/>
                <a:latin typeface="Calibri" panose="020F0502020204030204" pitchFamily="34" charset="0"/>
              </a:rPr>
              <a:t>Deleting a node in a BST means removing the target node while ensuring that the tree remains a valid BST. Depending on the structure of the node to be deleted, there are three possible scenarios:</a:t>
            </a:r>
            <a:endParaRPr lang="en-IN" sz="2800" dirty="0">
              <a:latin typeface="Calibri" panose="020F0502020204030204" pitchFamily="34" charset="0"/>
            </a:endParaRPr>
          </a:p>
        </p:txBody>
      </p:sp>
      <p:sp>
        <p:nvSpPr>
          <p:cNvPr id="7" name="Content Placeholder 2">
            <a:extLst>
              <a:ext uri="{FF2B5EF4-FFF2-40B4-BE49-F238E27FC236}">
                <a16:creationId xmlns:a16="http://schemas.microsoft.com/office/drawing/2014/main" id="{F235D8FC-30A1-598A-14FA-BC7C04F59EB9}"/>
              </a:ext>
            </a:extLst>
          </p:cNvPr>
          <p:cNvSpPr txBox="1">
            <a:spLocks/>
          </p:cNvSpPr>
          <p:nvPr/>
        </p:nvSpPr>
        <p:spPr>
          <a:xfrm>
            <a:off x="1005840" y="3043752"/>
            <a:ext cx="10515600" cy="317624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IN" sz="2000" b="1" dirty="0">
                <a:latin typeface="Calibri" panose="020F0502020204030204" pitchFamily="34" charset="0"/>
              </a:rPr>
              <a:t>BST Deletion Cases</a:t>
            </a:r>
          </a:p>
          <a:p>
            <a:r>
              <a:rPr lang="en-IN" sz="2000" b="1" dirty="0">
                <a:latin typeface="Calibri" panose="020F0502020204030204" pitchFamily="34" charset="0"/>
              </a:rPr>
              <a:t>0 Children</a:t>
            </a:r>
            <a:r>
              <a:rPr lang="en-IN" sz="2000" dirty="0">
                <a:latin typeface="Calibri" panose="020F0502020204030204" pitchFamily="34" charset="0"/>
              </a:rPr>
              <a:t>: Simply remove the leaf node.</a:t>
            </a:r>
          </a:p>
          <a:p>
            <a:r>
              <a:rPr lang="en-IN" sz="2000" b="1" dirty="0">
                <a:latin typeface="Calibri" panose="020F0502020204030204" pitchFamily="34" charset="0"/>
              </a:rPr>
              <a:t>1 Child</a:t>
            </a:r>
            <a:r>
              <a:rPr lang="en-IN" sz="2000" dirty="0">
                <a:latin typeface="Calibri" panose="020F0502020204030204" pitchFamily="34" charset="0"/>
              </a:rPr>
              <a:t>: Replace node with its single child.</a:t>
            </a:r>
          </a:p>
          <a:p>
            <a:r>
              <a:rPr lang="en-IN" sz="2000" b="1" dirty="0">
                <a:latin typeface="Calibri" panose="020F0502020204030204" pitchFamily="34" charset="0"/>
              </a:rPr>
              <a:t>2 Children</a:t>
            </a:r>
            <a:r>
              <a:rPr lang="en-IN" sz="2000" dirty="0">
                <a:latin typeface="Calibri" panose="020F0502020204030204" pitchFamily="34" charset="0"/>
              </a:rPr>
              <a:t>: Replace node with an </a:t>
            </a:r>
            <a:r>
              <a:rPr lang="en-IN" sz="2000" dirty="0" err="1">
                <a:latin typeface="Calibri" panose="020F0502020204030204" pitchFamily="34" charset="0"/>
              </a:rPr>
              <a:t>inorder</a:t>
            </a:r>
            <a:r>
              <a:rPr lang="en-IN" sz="2000" dirty="0">
                <a:latin typeface="Calibri" panose="020F0502020204030204" pitchFamily="34" charset="0"/>
              </a:rPr>
              <a:t> relative.</a:t>
            </a:r>
            <a:br>
              <a:rPr lang="en-IN" sz="2000" dirty="0">
                <a:latin typeface="Calibri" panose="020F0502020204030204" pitchFamily="34" charset="0"/>
              </a:rPr>
            </a:br>
            <a:endParaRPr lang="en-IN" sz="2000" dirty="0">
              <a:latin typeface="Calibri" panose="020F0502020204030204" pitchFamily="34" charset="0"/>
            </a:endParaRPr>
          </a:p>
          <a:p>
            <a:pPr marL="0" indent="0">
              <a:buFont typeface="Arial" panose="020B0604020202020204" pitchFamily="34" charset="0"/>
              <a:buNone/>
            </a:pPr>
            <a:r>
              <a:rPr lang="en-IN" sz="2000" b="1" dirty="0">
                <a:latin typeface="Calibri" panose="020F0502020204030204" pitchFamily="34" charset="0"/>
              </a:rPr>
              <a:t>2-Children Deletion Strategies</a:t>
            </a:r>
          </a:p>
          <a:p>
            <a:r>
              <a:rPr lang="en-IN" sz="2000" b="1" dirty="0" err="1">
                <a:latin typeface="Calibri" panose="020F0502020204030204" pitchFamily="34" charset="0"/>
              </a:rPr>
              <a:t>Inorder</a:t>
            </a:r>
            <a:r>
              <a:rPr lang="en-IN" sz="2000" b="1" dirty="0">
                <a:latin typeface="Calibri" panose="020F0502020204030204" pitchFamily="34" charset="0"/>
              </a:rPr>
              <a:t> Predecessor</a:t>
            </a:r>
            <a:r>
              <a:rPr lang="en-IN" sz="2000" dirty="0">
                <a:latin typeface="Calibri" panose="020F0502020204030204" pitchFamily="34" charset="0"/>
              </a:rPr>
              <a:t>: Max value in left subtree.</a:t>
            </a:r>
          </a:p>
          <a:p>
            <a:r>
              <a:rPr lang="en-IN" sz="2000" b="1" dirty="0" err="1">
                <a:latin typeface="Calibri" panose="020F0502020204030204" pitchFamily="34" charset="0"/>
              </a:rPr>
              <a:t>Inorder</a:t>
            </a:r>
            <a:r>
              <a:rPr lang="en-IN" sz="2000" b="1" dirty="0">
                <a:latin typeface="Calibri" panose="020F0502020204030204" pitchFamily="34" charset="0"/>
              </a:rPr>
              <a:t> Successor</a:t>
            </a:r>
            <a:r>
              <a:rPr lang="en-IN" sz="2000" dirty="0">
                <a:latin typeface="Calibri" panose="020F0502020204030204" pitchFamily="34" charset="0"/>
              </a:rPr>
              <a:t>: Min value in right subtree.</a:t>
            </a:r>
          </a:p>
        </p:txBody>
      </p:sp>
    </p:spTree>
    <p:extLst>
      <p:ext uri="{BB962C8B-B14F-4D97-AF65-F5344CB8AC3E}">
        <p14:creationId xmlns:p14="http://schemas.microsoft.com/office/powerpoint/2010/main" val="40181820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5829C3-21AE-0F90-1714-E3E7B7048DEB}"/>
              </a:ext>
            </a:extLst>
          </p:cNvPr>
          <p:cNvSpPr>
            <a:spLocks noGrp="1"/>
          </p:cNvSpPr>
          <p:nvPr>
            <p:ph type="title"/>
          </p:nvPr>
        </p:nvSpPr>
        <p:spPr/>
        <p:txBody>
          <a:bodyPr>
            <a:normAutofit/>
          </a:bodyPr>
          <a:lstStyle/>
          <a:p>
            <a:r>
              <a:rPr lang="en-IN" sz="4000" b="1" dirty="0">
                <a:latin typeface="+mn-lt"/>
              </a:rPr>
              <a:t>Algorithm Deletion in Binary Search Tree (BST)</a:t>
            </a:r>
          </a:p>
        </p:txBody>
      </p:sp>
      <p:sp>
        <p:nvSpPr>
          <p:cNvPr id="4" name="Slide Number Placeholder 3">
            <a:extLst>
              <a:ext uri="{FF2B5EF4-FFF2-40B4-BE49-F238E27FC236}">
                <a16:creationId xmlns:a16="http://schemas.microsoft.com/office/drawing/2014/main" id="{022293E4-9BFF-1626-7891-A92C85C86EAE}"/>
              </a:ext>
            </a:extLst>
          </p:cNvPr>
          <p:cNvSpPr>
            <a:spLocks noGrp="1"/>
          </p:cNvSpPr>
          <p:nvPr>
            <p:ph type="sldNum" sz="quarter" idx="12"/>
          </p:nvPr>
        </p:nvSpPr>
        <p:spPr/>
        <p:txBody>
          <a:bodyPr/>
          <a:lstStyle/>
          <a:p>
            <a:fld id="{520A0C6E-EFDF-49F2-A292-CF6FBFE4B673}" type="slidenum">
              <a:rPr lang="en-IN" smtClean="0"/>
              <a:t>11</a:t>
            </a:fld>
            <a:endParaRPr lang="en-IN"/>
          </a:p>
        </p:txBody>
      </p:sp>
      <p:sp>
        <p:nvSpPr>
          <p:cNvPr id="8" name="TextBox 7">
            <a:extLst>
              <a:ext uri="{FF2B5EF4-FFF2-40B4-BE49-F238E27FC236}">
                <a16:creationId xmlns:a16="http://schemas.microsoft.com/office/drawing/2014/main" id="{BD0EB90F-0ACD-937D-4654-9A597FD2A11D}"/>
              </a:ext>
            </a:extLst>
          </p:cNvPr>
          <p:cNvSpPr txBox="1"/>
          <p:nvPr/>
        </p:nvSpPr>
        <p:spPr>
          <a:xfrm>
            <a:off x="289560" y="1532145"/>
            <a:ext cx="3693160" cy="4116768"/>
          </a:xfrm>
          <a:prstGeom prst="rect">
            <a:avLst/>
          </a:prstGeom>
          <a:noFill/>
          <a:ln>
            <a:solidFill>
              <a:schemeClr val="accent1"/>
            </a:solidFill>
          </a:ln>
        </p:spPr>
        <p:txBody>
          <a:bodyPr wrap="square">
            <a:spAutoFit/>
          </a:bodyPr>
          <a:lstStyle/>
          <a:p>
            <a:pPr>
              <a:lnSpc>
                <a:spcPct val="150000"/>
              </a:lnSpc>
            </a:pPr>
            <a:r>
              <a:rPr lang="en-IN" sz="1600" dirty="0"/>
              <a:t>function Delete(pointer root, key x)</a:t>
            </a:r>
          </a:p>
          <a:p>
            <a:pPr>
              <a:lnSpc>
                <a:spcPct val="150000"/>
              </a:lnSpc>
            </a:pPr>
            <a:r>
              <a:rPr lang="en-IN" sz="1600" dirty="0"/>
              <a:t>    if root is NULL</a:t>
            </a:r>
          </a:p>
          <a:p>
            <a:pPr>
              <a:lnSpc>
                <a:spcPct val="150000"/>
              </a:lnSpc>
            </a:pPr>
            <a:r>
              <a:rPr lang="en-IN" sz="1600" dirty="0"/>
              <a:t>        return root</a:t>
            </a:r>
          </a:p>
          <a:p>
            <a:pPr>
              <a:lnSpc>
                <a:spcPct val="150000"/>
              </a:lnSpc>
            </a:pPr>
            <a:r>
              <a:rPr lang="en-IN" sz="1600" dirty="0"/>
              <a:t>    </a:t>
            </a:r>
          </a:p>
          <a:p>
            <a:pPr>
              <a:lnSpc>
                <a:spcPct val="150000"/>
              </a:lnSpc>
            </a:pPr>
            <a:r>
              <a:rPr lang="en-IN" sz="1600" dirty="0"/>
              <a:t>    // Step 1: Search for the node to delete</a:t>
            </a:r>
          </a:p>
          <a:p>
            <a:pPr>
              <a:lnSpc>
                <a:spcPct val="150000"/>
              </a:lnSpc>
            </a:pPr>
            <a:r>
              <a:rPr lang="en-IN" sz="1600" dirty="0"/>
              <a:t>    if x &lt; </a:t>
            </a:r>
            <a:r>
              <a:rPr lang="en-IN" sz="1600" dirty="0" err="1"/>
              <a:t>root.key</a:t>
            </a:r>
            <a:endParaRPr lang="en-IN" sz="1600" dirty="0"/>
          </a:p>
          <a:p>
            <a:pPr>
              <a:lnSpc>
                <a:spcPct val="150000"/>
              </a:lnSpc>
            </a:pPr>
            <a:r>
              <a:rPr lang="en-IN" sz="1600" dirty="0"/>
              <a:t>        </a:t>
            </a:r>
            <a:r>
              <a:rPr lang="en-IN" sz="1600" dirty="0" err="1"/>
              <a:t>root.left</a:t>
            </a:r>
            <a:r>
              <a:rPr lang="en-IN" sz="1600" dirty="0"/>
              <a:t> = Delete(</a:t>
            </a:r>
            <a:r>
              <a:rPr lang="en-IN" sz="1600" dirty="0" err="1"/>
              <a:t>root.left</a:t>
            </a:r>
            <a:r>
              <a:rPr lang="en-IN" sz="1600" dirty="0"/>
              <a:t>, x)</a:t>
            </a:r>
          </a:p>
          <a:p>
            <a:pPr>
              <a:lnSpc>
                <a:spcPct val="150000"/>
              </a:lnSpc>
            </a:pPr>
            <a:r>
              <a:rPr lang="en-IN" sz="1600" dirty="0"/>
              <a:t>    else if x &gt; </a:t>
            </a:r>
            <a:r>
              <a:rPr lang="en-IN" sz="1600" dirty="0" err="1"/>
              <a:t>root.key</a:t>
            </a:r>
            <a:endParaRPr lang="en-IN" sz="1600" dirty="0"/>
          </a:p>
          <a:p>
            <a:pPr>
              <a:lnSpc>
                <a:spcPct val="150000"/>
              </a:lnSpc>
            </a:pPr>
            <a:r>
              <a:rPr lang="en-IN" sz="1600" dirty="0"/>
              <a:t>        </a:t>
            </a:r>
            <a:r>
              <a:rPr lang="en-IN" sz="1600" dirty="0" err="1"/>
              <a:t>root.right</a:t>
            </a:r>
            <a:r>
              <a:rPr lang="en-IN" sz="1600" dirty="0"/>
              <a:t> = Delete(</a:t>
            </a:r>
            <a:r>
              <a:rPr lang="en-IN" sz="1600" dirty="0" err="1"/>
              <a:t>root.right</a:t>
            </a:r>
            <a:r>
              <a:rPr lang="en-IN" sz="1600" dirty="0"/>
              <a:t>, x)</a:t>
            </a:r>
          </a:p>
          <a:p>
            <a:pPr>
              <a:lnSpc>
                <a:spcPct val="150000"/>
              </a:lnSpc>
            </a:pPr>
            <a:r>
              <a:rPr lang="en-IN" sz="1600" dirty="0"/>
              <a:t>    else</a:t>
            </a:r>
          </a:p>
          <a:p>
            <a:pPr>
              <a:lnSpc>
                <a:spcPct val="150000"/>
              </a:lnSpc>
            </a:pPr>
            <a:r>
              <a:rPr lang="en-IN" sz="1600" dirty="0"/>
              <a:t>        // Node found! Handle the 3 cases.</a:t>
            </a:r>
          </a:p>
        </p:txBody>
      </p:sp>
      <p:sp>
        <p:nvSpPr>
          <p:cNvPr id="10" name="TextBox 9">
            <a:extLst>
              <a:ext uri="{FF2B5EF4-FFF2-40B4-BE49-F238E27FC236}">
                <a16:creationId xmlns:a16="http://schemas.microsoft.com/office/drawing/2014/main" id="{F9826949-2DDF-5EB7-1A15-24AC8D81A8A0}"/>
              </a:ext>
            </a:extLst>
          </p:cNvPr>
          <p:cNvSpPr txBox="1"/>
          <p:nvPr/>
        </p:nvSpPr>
        <p:spPr>
          <a:xfrm>
            <a:off x="3982720" y="1532145"/>
            <a:ext cx="3799840" cy="3378104"/>
          </a:xfrm>
          <a:prstGeom prst="rect">
            <a:avLst/>
          </a:prstGeom>
          <a:noFill/>
          <a:ln>
            <a:solidFill>
              <a:schemeClr val="accent1"/>
            </a:solidFill>
          </a:ln>
        </p:spPr>
        <p:txBody>
          <a:bodyPr wrap="square">
            <a:spAutoFit/>
          </a:bodyPr>
          <a:lstStyle/>
          <a:p>
            <a:pPr>
              <a:lnSpc>
                <a:spcPct val="150000"/>
              </a:lnSpc>
            </a:pPr>
            <a:r>
              <a:rPr lang="en-IN" sz="1600" dirty="0"/>
              <a:t> // Case 1 &amp; 2: Node with 1 or 0 children</a:t>
            </a:r>
          </a:p>
          <a:p>
            <a:pPr>
              <a:lnSpc>
                <a:spcPct val="150000"/>
              </a:lnSpc>
            </a:pPr>
            <a:r>
              <a:rPr lang="en-IN" sz="1600" dirty="0"/>
              <a:t>        if </a:t>
            </a:r>
            <a:r>
              <a:rPr lang="en-IN" sz="1600" dirty="0" err="1"/>
              <a:t>root.left</a:t>
            </a:r>
            <a:r>
              <a:rPr lang="en-IN" sz="1600" dirty="0"/>
              <a:t> is NULL</a:t>
            </a:r>
          </a:p>
          <a:p>
            <a:pPr>
              <a:lnSpc>
                <a:spcPct val="150000"/>
              </a:lnSpc>
            </a:pPr>
            <a:r>
              <a:rPr lang="en-IN" sz="1600" dirty="0"/>
              <a:t>            temp = </a:t>
            </a:r>
            <a:r>
              <a:rPr lang="en-IN" sz="1600" dirty="0" err="1"/>
              <a:t>root.right</a:t>
            </a:r>
            <a:endParaRPr lang="en-IN" sz="1600" dirty="0"/>
          </a:p>
          <a:p>
            <a:pPr>
              <a:lnSpc>
                <a:spcPct val="150000"/>
              </a:lnSpc>
            </a:pPr>
            <a:r>
              <a:rPr lang="en-IN" sz="1600" dirty="0"/>
              <a:t>            free(root)</a:t>
            </a:r>
          </a:p>
          <a:p>
            <a:pPr>
              <a:lnSpc>
                <a:spcPct val="150000"/>
              </a:lnSpc>
            </a:pPr>
            <a:r>
              <a:rPr lang="en-IN" sz="1600" dirty="0"/>
              <a:t>            return temp</a:t>
            </a:r>
          </a:p>
          <a:p>
            <a:pPr>
              <a:lnSpc>
                <a:spcPct val="150000"/>
              </a:lnSpc>
            </a:pPr>
            <a:r>
              <a:rPr lang="en-IN" sz="1600" dirty="0"/>
              <a:t>        else if </a:t>
            </a:r>
            <a:r>
              <a:rPr lang="en-IN" sz="1600" dirty="0" err="1"/>
              <a:t>root.right</a:t>
            </a:r>
            <a:r>
              <a:rPr lang="en-IN" sz="1600" dirty="0"/>
              <a:t> is NULL</a:t>
            </a:r>
          </a:p>
          <a:p>
            <a:pPr>
              <a:lnSpc>
                <a:spcPct val="150000"/>
              </a:lnSpc>
            </a:pPr>
            <a:r>
              <a:rPr lang="en-IN" sz="1600" dirty="0"/>
              <a:t>            temp = </a:t>
            </a:r>
            <a:r>
              <a:rPr lang="en-IN" sz="1600" dirty="0" err="1"/>
              <a:t>root.left</a:t>
            </a:r>
            <a:endParaRPr lang="en-IN" sz="1600" dirty="0"/>
          </a:p>
          <a:p>
            <a:pPr>
              <a:lnSpc>
                <a:spcPct val="150000"/>
              </a:lnSpc>
            </a:pPr>
            <a:r>
              <a:rPr lang="en-IN" sz="1600" dirty="0"/>
              <a:t>            free(root)</a:t>
            </a:r>
          </a:p>
          <a:p>
            <a:pPr>
              <a:lnSpc>
                <a:spcPct val="150000"/>
              </a:lnSpc>
            </a:pPr>
            <a:r>
              <a:rPr lang="en-IN" sz="1600" dirty="0"/>
              <a:t>            return temp</a:t>
            </a:r>
          </a:p>
        </p:txBody>
      </p:sp>
      <p:sp>
        <p:nvSpPr>
          <p:cNvPr id="12" name="TextBox 11">
            <a:extLst>
              <a:ext uri="{FF2B5EF4-FFF2-40B4-BE49-F238E27FC236}">
                <a16:creationId xmlns:a16="http://schemas.microsoft.com/office/drawing/2014/main" id="{F63DA003-5BED-3C46-43FC-1254D38C7B66}"/>
              </a:ext>
            </a:extLst>
          </p:cNvPr>
          <p:cNvSpPr txBox="1"/>
          <p:nvPr/>
        </p:nvSpPr>
        <p:spPr>
          <a:xfrm>
            <a:off x="7782560" y="1532145"/>
            <a:ext cx="4257040" cy="4486100"/>
          </a:xfrm>
          <a:prstGeom prst="rect">
            <a:avLst/>
          </a:prstGeom>
          <a:noFill/>
          <a:ln>
            <a:solidFill>
              <a:schemeClr val="accent1"/>
            </a:solidFill>
          </a:ln>
        </p:spPr>
        <p:txBody>
          <a:bodyPr wrap="square">
            <a:spAutoFit/>
          </a:bodyPr>
          <a:lstStyle/>
          <a:p>
            <a:pPr>
              <a:lnSpc>
                <a:spcPct val="150000"/>
              </a:lnSpc>
            </a:pPr>
            <a:r>
              <a:rPr lang="en-IN" sz="1600" dirty="0"/>
              <a:t> // Case 3: Node with two children</a:t>
            </a:r>
          </a:p>
          <a:p>
            <a:pPr>
              <a:lnSpc>
                <a:spcPct val="150000"/>
              </a:lnSpc>
            </a:pPr>
            <a:r>
              <a:rPr lang="en-IN" sz="1600" dirty="0"/>
              <a:t>        // Find In-Order Successor (Minimum value in the right subtree)</a:t>
            </a:r>
          </a:p>
          <a:p>
            <a:pPr>
              <a:lnSpc>
                <a:spcPct val="150000"/>
              </a:lnSpc>
            </a:pPr>
            <a:r>
              <a:rPr lang="en-IN" sz="1600" dirty="0"/>
              <a:t>        temp = </a:t>
            </a:r>
            <a:r>
              <a:rPr lang="en-IN" sz="1600" dirty="0" err="1"/>
              <a:t>FindMin</a:t>
            </a:r>
            <a:r>
              <a:rPr lang="en-IN" sz="1600" dirty="0"/>
              <a:t>(</a:t>
            </a:r>
            <a:r>
              <a:rPr lang="en-IN" sz="1600" dirty="0" err="1"/>
              <a:t>root.right</a:t>
            </a:r>
            <a:r>
              <a:rPr lang="en-IN" sz="1600" dirty="0"/>
              <a:t>)</a:t>
            </a:r>
          </a:p>
          <a:p>
            <a:pPr>
              <a:lnSpc>
                <a:spcPct val="150000"/>
              </a:lnSpc>
            </a:pPr>
            <a:r>
              <a:rPr lang="en-IN" sz="1600" dirty="0"/>
              <a:t>        </a:t>
            </a:r>
          </a:p>
          <a:p>
            <a:pPr>
              <a:lnSpc>
                <a:spcPct val="150000"/>
              </a:lnSpc>
            </a:pPr>
            <a:r>
              <a:rPr lang="en-IN" sz="1600" dirty="0"/>
              <a:t>        // Copy the Successor's content to this node</a:t>
            </a:r>
          </a:p>
          <a:p>
            <a:pPr>
              <a:lnSpc>
                <a:spcPct val="150000"/>
              </a:lnSpc>
            </a:pPr>
            <a:r>
              <a:rPr lang="en-IN" sz="1600" dirty="0"/>
              <a:t>        </a:t>
            </a:r>
            <a:r>
              <a:rPr lang="en-IN" sz="1600" dirty="0" err="1"/>
              <a:t>root.key</a:t>
            </a:r>
            <a:r>
              <a:rPr lang="en-IN" sz="1600" dirty="0"/>
              <a:t> = </a:t>
            </a:r>
            <a:r>
              <a:rPr lang="en-IN" sz="1600" dirty="0" err="1"/>
              <a:t>temp.key</a:t>
            </a:r>
            <a:endParaRPr lang="en-IN" sz="1600" dirty="0"/>
          </a:p>
          <a:p>
            <a:pPr>
              <a:lnSpc>
                <a:spcPct val="150000"/>
              </a:lnSpc>
            </a:pPr>
            <a:r>
              <a:rPr lang="en-IN" sz="1600" dirty="0"/>
              <a:t>        </a:t>
            </a:r>
          </a:p>
          <a:p>
            <a:pPr>
              <a:lnSpc>
                <a:spcPct val="150000"/>
              </a:lnSpc>
            </a:pPr>
            <a:r>
              <a:rPr lang="en-IN" sz="1600" dirty="0"/>
              <a:t>        // Delete the Successor node from the right subtree</a:t>
            </a:r>
          </a:p>
          <a:p>
            <a:pPr>
              <a:lnSpc>
                <a:spcPct val="150000"/>
              </a:lnSpc>
            </a:pPr>
            <a:r>
              <a:rPr lang="en-IN" sz="1600" dirty="0"/>
              <a:t>        </a:t>
            </a:r>
            <a:r>
              <a:rPr lang="en-IN" sz="1600" dirty="0" err="1"/>
              <a:t>root.right</a:t>
            </a:r>
            <a:r>
              <a:rPr lang="en-IN" sz="1600" dirty="0"/>
              <a:t> = Delete(</a:t>
            </a:r>
            <a:r>
              <a:rPr lang="en-IN" sz="1600" dirty="0" err="1"/>
              <a:t>root.right</a:t>
            </a:r>
            <a:r>
              <a:rPr lang="en-IN" sz="1600" dirty="0"/>
              <a:t>, </a:t>
            </a:r>
            <a:r>
              <a:rPr lang="en-IN" sz="1600" dirty="0" err="1"/>
              <a:t>temp.key</a:t>
            </a:r>
            <a:r>
              <a:rPr lang="en-IN" sz="1600" dirty="0"/>
              <a:t>)</a:t>
            </a:r>
          </a:p>
          <a:p>
            <a:pPr>
              <a:lnSpc>
                <a:spcPct val="150000"/>
              </a:lnSpc>
            </a:pPr>
            <a:r>
              <a:rPr lang="en-IN" sz="1600" dirty="0"/>
              <a:t>    return root</a:t>
            </a:r>
          </a:p>
        </p:txBody>
      </p:sp>
    </p:spTree>
    <p:extLst>
      <p:ext uri="{BB962C8B-B14F-4D97-AF65-F5344CB8AC3E}">
        <p14:creationId xmlns:p14="http://schemas.microsoft.com/office/powerpoint/2010/main" val="20398792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A727F9-AEF0-6527-E88D-84E81FF13218}"/>
              </a:ext>
            </a:extLst>
          </p:cNvPr>
          <p:cNvSpPr>
            <a:spLocks noGrp="1"/>
          </p:cNvSpPr>
          <p:nvPr>
            <p:ph type="title"/>
          </p:nvPr>
        </p:nvSpPr>
        <p:spPr>
          <a:xfrm>
            <a:off x="371742" y="171183"/>
            <a:ext cx="6400349" cy="631237"/>
          </a:xfrm>
        </p:spPr>
        <p:txBody>
          <a:bodyPr>
            <a:normAutofit fontScale="90000"/>
          </a:bodyPr>
          <a:lstStyle/>
          <a:p>
            <a:r>
              <a:rPr lang="en-IN" sz="4000" b="1" dirty="0"/>
              <a:t>Binary Search Tree (BST) Deletion </a:t>
            </a:r>
            <a:endParaRPr lang="en-IN" sz="4000" dirty="0"/>
          </a:p>
        </p:txBody>
      </p:sp>
      <p:sp>
        <p:nvSpPr>
          <p:cNvPr id="4" name="Slide Number Placeholder 3">
            <a:extLst>
              <a:ext uri="{FF2B5EF4-FFF2-40B4-BE49-F238E27FC236}">
                <a16:creationId xmlns:a16="http://schemas.microsoft.com/office/drawing/2014/main" id="{70693A69-C72D-97EA-5B85-9DC540CD955E}"/>
              </a:ext>
            </a:extLst>
          </p:cNvPr>
          <p:cNvSpPr>
            <a:spLocks noGrp="1"/>
          </p:cNvSpPr>
          <p:nvPr>
            <p:ph type="sldNum" sz="quarter" idx="12"/>
          </p:nvPr>
        </p:nvSpPr>
        <p:spPr/>
        <p:txBody>
          <a:bodyPr/>
          <a:lstStyle/>
          <a:p>
            <a:fld id="{520A0C6E-EFDF-49F2-A292-CF6FBFE4B673}" type="slidenum">
              <a:rPr lang="en-IN" smtClean="0"/>
              <a:t>12</a:t>
            </a:fld>
            <a:endParaRPr lang="en-IN"/>
          </a:p>
        </p:txBody>
      </p:sp>
      <p:pic>
        <p:nvPicPr>
          <p:cNvPr id="6" name="Picture 5" descr="Image of a graph lightbox">
            <a:extLst>
              <a:ext uri="{FF2B5EF4-FFF2-40B4-BE49-F238E27FC236}">
                <a16:creationId xmlns:a16="http://schemas.microsoft.com/office/drawing/2014/main" id="{780EAB70-66CB-7510-A6D0-EB3BE74B8D9D}"/>
              </a:ext>
            </a:extLst>
          </p:cNvPr>
          <p:cNvPicPr>
            <a:picLocks noChangeAspect="1"/>
          </p:cNvPicPr>
          <p:nvPr/>
        </p:nvPicPr>
        <p:blipFill>
          <a:blip r:embed="rId2"/>
          <a:srcRect t="12564"/>
          <a:stretch>
            <a:fillRect/>
          </a:stretch>
        </p:blipFill>
        <p:spPr>
          <a:xfrm>
            <a:off x="7416800" y="856134"/>
            <a:ext cx="4311316" cy="2649366"/>
          </a:xfrm>
          <a:prstGeom prst="rect">
            <a:avLst/>
          </a:prstGeom>
          <a:ln>
            <a:solidFill>
              <a:schemeClr val="accent1"/>
            </a:solidFill>
          </a:ln>
        </p:spPr>
      </p:pic>
      <p:sp>
        <p:nvSpPr>
          <p:cNvPr id="10" name="TextBox 9">
            <a:extLst>
              <a:ext uri="{FF2B5EF4-FFF2-40B4-BE49-F238E27FC236}">
                <a16:creationId xmlns:a16="http://schemas.microsoft.com/office/drawing/2014/main" id="{5D2617E8-43D2-EFBD-9558-F18D62A0BF50}"/>
              </a:ext>
            </a:extLst>
          </p:cNvPr>
          <p:cNvSpPr txBox="1"/>
          <p:nvPr/>
        </p:nvSpPr>
        <p:spPr>
          <a:xfrm>
            <a:off x="7663324" y="486802"/>
            <a:ext cx="2954327" cy="369332"/>
          </a:xfrm>
          <a:prstGeom prst="rect">
            <a:avLst/>
          </a:prstGeom>
          <a:noFill/>
        </p:spPr>
        <p:txBody>
          <a:bodyPr wrap="square">
            <a:spAutoFit/>
          </a:bodyPr>
          <a:lstStyle/>
          <a:p>
            <a:pPr algn="ctr"/>
            <a:r>
              <a:rPr lang="en-IN" b="1" dirty="0">
                <a:latin typeface="Calibri" panose="020F0502020204030204" pitchFamily="34" charset="0"/>
              </a:rPr>
              <a:t>Original Binary Search Tree </a:t>
            </a:r>
            <a:endParaRPr lang="en-IN" sz="900" b="1" dirty="0">
              <a:latin typeface="Calibri" panose="020F0502020204030204" pitchFamily="34" charset="0"/>
            </a:endParaRPr>
          </a:p>
        </p:txBody>
      </p:sp>
      <p:sp>
        <p:nvSpPr>
          <p:cNvPr id="11" name="TextBox 10">
            <a:extLst>
              <a:ext uri="{FF2B5EF4-FFF2-40B4-BE49-F238E27FC236}">
                <a16:creationId xmlns:a16="http://schemas.microsoft.com/office/drawing/2014/main" id="{5D7D4B5E-68A6-A207-1895-041FBA1E5AA4}"/>
              </a:ext>
            </a:extLst>
          </p:cNvPr>
          <p:cNvSpPr txBox="1"/>
          <p:nvPr/>
        </p:nvSpPr>
        <p:spPr>
          <a:xfrm>
            <a:off x="463884" y="839002"/>
            <a:ext cx="6546516" cy="5439951"/>
          </a:xfrm>
          <a:prstGeom prst="rect">
            <a:avLst/>
          </a:prstGeom>
          <a:noFill/>
          <a:ln>
            <a:solidFill>
              <a:schemeClr val="accent1"/>
            </a:solidFill>
          </a:ln>
        </p:spPr>
        <p:txBody>
          <a:bodyPr wrap="square">
            <a:spAutoFit/>
          </a:bodyPr>
          <a:lstStyle/>
          <a:p>
            <a:pPr marR="0" algn="just">
              <a:spcBef>
                <a:spcPts val="900"/>
              </a:spcBef>
              <a:spcAft>
                <a:spcPts val="900"/>
              </a:spcAft>
            </a:pPr>
            <a:r>
              <a:rPr lang="en-IN" sz="2000" dirty="0">
                <a:latin typeface="Calibri" panose="020F0502020204030204" pitchFamily="34" charset="0"/>
              </a:rPr>
              <a:t>Lets delete the root </a:t>
            </a:r>
            <a:r>
              <a:rPr lang="en-IN" sz="2000" b="1" dirty="0">
                <a:latin typeface="Calibri" panose="020F0502020204030204" pitchFamily="34" charset="0"/>
              </a:rPr>
              <a:t>11</a:t>
            </a:r>
            <a:r>
              <a:rPr lang="en-IN" sz="2000" dirty="0">
                <a:latin typeface="Calibri" panose="020F0502020204030204" pitchFamily="34" charset="0"/>
              </a:rPr>
              <a:t>.</a:t>
            </a:r>
          </a:p>
          <a:p>
            <a:pPr marL="342900" marR="0" indent="-342900" algn="just">
              <a:spcBef>
                <a:spcPts val="900"/>
              </a:spcBef>
              <a:spcAft>
                <a:spcPts val="900"/>
              </a:spcAft>
              <a:buFont typeface="Arial" panose="020B0604020202020204" pitchFamily="34" charset="0"/>
              <a:buChar char="•"/>
            </a:pPr>
            <a:r>
              <a:rPr lang="en-IN" sz="2000" b="1" u="none" strike="noStrike" dirty="0">
                <a:effectLst/>
                <a:latin typeface="Calibri" panose="020F0502020204030204" pitchFamily="34" charset="0"/>
              </a:rPr>
              <a:t>In-order Successor:</a:t>
            </a:r>
            <a:r>
              <a:rPr lang="en-IN" sz="2000" b="0" u="none" strike="noStrike" dirty="0">
                <a:effectLst/>
                <a:latin typeface="Calibri" panose="020F0502020204030204" pitchFamily="34" charset="0"/>
              </a:rPr>
              <a:t> The smallest value in the right subtree.</a:t>
            </a:r>
          </a:p>
          <a:p>
            <a:pPr marL="342900" marR="0" indent="-342900" algn="just">
              <a:spcBef>
                <a:spcPts val="900"/>
              </a:spcBef>
              <a:spcAft>
                <a:spcPts val="900"/>
              </a:spcAft>
              <a:buFont typeface="Arial" panose="020B0604020202020204" pitchFamily="34" charset="0"/>
              <a:buChar char="•"/>
            </a:pPr>
            <a:r>
              <a:rPr lang="en-IN" sz="2000" b="1" u="none" strike="noStrike" dirty="0">
                <a:effectLst/>
                <a:latin typeface="Calibri" panose="020F0502020204030204" pitchFamily="34" charset="0"/>
              </a:rPr>
              <a:t>In-order Predecessor:</a:t>
            </a:r>
            <a:r>
              <a:rPr lang="en-IN" sz="2000" b="0" u="none" strike="noStrike" dirty="0">
                <a:effectLst/>
                <a:latin typeface="Calibri" panose="020F0502020204030204" pitchFamily="34" charset="0"/>
              </a:rPr>
              <a:t> The largest value in the left subtree. </a:t>
            </a:r>
          </a:p>
          <a:p>
            <a:pPr marL="0" marR="0" algn="just">
              <a:spcBef>
                <a:spcPts val="900"/>
              </a:spcBef>
              <a:spcAft>
                <a:spcPts val="1200"/>
              </a:spcAft>
              <a:buNone/>
            </a:pPr>
            <a:r>
              <a:rPr lang="en-IN" sz="2000" b="0" u="none" strike="noStrike" dirty="0">
                <a:effectLst/>
                <a:latin typeface="Calibri" panose="020F0502020204030204" pitchFamily="34" charset="0"/>
              </a:rPr>
              <a:t>Let’s trace </a:t>
            </a:r>
            <a:r>
              <a:rPr lang="en-IN" sz="2000" b="1" u="none" strike="noStrike" dirty="0">
                <a:effectLst/>
                <a:latin typeface="Calibri" panose="020F0502020204030204" pitchFamily="34" charset="0"/>
              </a:rPr>
              <a:t>In-order Successor</a:t>
            </a:r>
            <a:r>
              <a:rPr lang="en-IN" sz="2000" b="0" u="none" strike="noStrike" dirty="0">
                <a:effectLst/>
                <a:latin typeface="Calibri" panose="020F0502020204030204" pitchFamily="34" charset="0"/>
              </a:rPr>
              <a:t>, which is the standard default approach:</a:t>
            </a:r>
          </a:p>
          <a:p>
            <a:pPr marL="457200" marR="0" indent="-457200" algn="just">
              <a:spcBef>
                <a:spcPts val="900"/>
              </a:spcBef>
              <a:spcAft>
                <a:spcPts val="900"/>
              </a:spcAft>
              <a:buFont typeface="+mj-lt"/>
              <a:buAutoNum type="arabicPeriod"/>
            </a:pPr>
            <a:r>
              <a:rPr lang="en-IN" sz="2000" b="0" u="none" strike="noStrike" dirty="0">
                <a:effectLst/>
                <a:latin typeface="Calibri" panose="020F0502020204030204" pitchFamily="34" charset="0"/>
              </a:rPr>
              <a:t>Go to the right child of the target node (</a:t>
            </a:r>
            <a:r>
              <a:rPr lang="en-IN" sz="2000" b="1" u="none" strike="noStrike" dirty="0">
                <a:effectLst/>
                <a:latin typeface="Calibri" panose="020F0502020204030204" pitchFamily="34" charset="0"/>
              </a:rPr>
              <a:t>19</a:t>
            </a:r>
            <a:r>
              <a:rPr lang="en-IN" sz="2000" b="0" u="none" strike="noStrike" dirty="0">
                <a:effectLst/>
                <a:latin typeface="Calibri" panose="020F0502020204030204" pitchFamily="34" charset="0"/>
              </a:rPr>
              <a:t>).</a:t>
            </a:r>
          </a:p>
          <a:p>
            <a:pPr marL="457200" marR="0" indent="-457200" algn="just">
              <a:spcBef>
                <a:spcPts val="900"/>
              </a:spcBef>
              <a:spcAft>
                <a:spcPts val="900"/>
              </a:spcAft>
              <a:buFont typeface="+mj-lt"/>
              <a:buAutoNum type="arabicPeriod"/>
            </a:pPr>
            <a:r>
              <a:rPr lang="en-IN" sz="2000" b="0" u="none" strike="noStrike" dirty="0">
                <a:effectLst/>
                <a:latin typeface="Calibri" panose="020F0502020204030204" pitchFamily="34" charset="0"/>
              </a:rPr>
              <a:t>Follow the left child pointers as far down as possible to find the minimum value.</a:t>
            </a:r>
          </a:p>
          <a:p>
            <a:pPr marL="457200" marR="0" indent="-457200" algn="just">
              <a:spcBef>
                <a:spcPts val="900"/>
              </a:spcBef>
              <a:spcAft>
                <a:spcPts val="900"/>
              </a:spcAft>
              <a:buFont typeface="+mj-lt"/>
              <a:buAutoNum type="arabicPeriod"/>
            </a:pPr>
            <a:r>
              <a:rPr lang="en-IN" sz="2000" b="0" u="none" strike="noStrike" dirty="0">
                <a:effectLst/>
                <a:latin typeface="Calibri" panose="020F0502020204030204" pitchFamily="34" charset="0"/>
              </a:rPr>
              <a:t>Node 19 has a left child, </a:t>
            </a:r>
            <a:r>
              <a:rPr lang="en-IN" sz="2000" b="1" u="none" strike="noStrike" dirty="0">
                <a:effectLst/>
                <a:latin typeface="Calibri" panose="020F0502020204030204" pitchFamily="34" charset="0"/>
              </a:rPr>
              <a:t>17</a:t>
            </a:r>
            <a:r>
              <a:rPr lang="en-IN" sz="2000" b="0" u="none" strike="noStrike" dirty="0">
                <a:effectLst/>
                <a:latin typeface="Calibri" panose="020F0502020204030204" pitchFamily="34" charset="0"/>
              </a:rPr>
              <a:t>. Node 17 has no left child.</a:t>
            </a:r>
          </a:p>
          <a:p>
            <a:pPr marL="457200" marR="0" indent="-457200" algn="just">
              <a:spcBef>
                <a:spcPts val="900"/>
              </a:spcBef>
              <a:spcAft>
                <a:spcPts val="900"/>
              </a:spcAft>
              <a:buFont typeface="+mj-lt"/>
              <a:buAutoNum type="arabicPeriod"/>
            </a:pPr>
            <a:r>
              <a:rPr lang="en-IN" sz="2000" b="1" u="none" strike="noStrike" dirty="0">
                <a:effectLst/>
                <a:latin typeface="Calibri" panose="020F0502020204030204" pitchFamily="34" charset="0"/>
              </a:rPr>
              <a:t>17</a:t>
            </a:r>
            <a:r>
              <a:rPr lang="en-IN" sz="2000" b="0" u="none" strike="noStrike" dirty="0">
                <a:effectLst/>
                <a:latin typeface="Calibri" panose="020F0502020204030204" pitchFamily="34" charset="0"/>
              </a:rPr>
              <a:t> is chosen as the successor</a:t>
            </a:r>
          </a:p>
        </p:txBody>
      </p:sp>
      <p:pic>
        <p:nvPicPr>
          <p:cNvPr id="13" name="Picture 12" descr="Image of a graph lightbox">
            <a:extLst>
              <a:ext uri="{FF2B5EF4-FFF2-40B4-BE49-F238E27FC236}">
                <a16:creationId xmlns:a16="http://schemas.microsoft.com/office/drawing/2014/main" id="{F1E6160B-D604-C68B-AAC5-813427BAB960}"/>
              </a:ext>
            </a:extLst>
          </p:cNvPr>
          <p:cNvPicPr>
            <a:picLocks noChangeAspect="1"/>
          </p:cNvPicPr>
          <p:nvPr/>
        </p:nvPicPr>
        <p:blipFill>
          <a:blip r:embed="rId3"/>
          <a:stretch>
            <a:fillRect/>
          </a:stretch>
        </p:blipFill>
        <p:spPr>
          <a:xfrm>
            <a:off x="7406640" y="3576401"/>
            <a:ext cx="4311315" cy="3004446"/>
          </a:xfrm>
          <a:prstGeom prst="rect">
            <a:avLst/>
          </a:prstGeom>
          <a:ln>
            <a:solidFill>
              <a:schemeClr val="accent1"/>
            </a:solidFill>
          </a:ln>
        </p:spPr>
      </p:pic>
    </p:spTree>
    <p:extLst>
      <p:ext uri="{BB962C8B-B14F-4D97-AF65-F5344CB8AC3E}">
        <p14:creationId xmlns:p14="http://schemas.microsoft.com/office/powerpoint/2010/main" val="15139595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A1D63-970E-C6BE-A124-18E033BAC5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F629E9-C92C-9490-BDB7-15CEB6D2D8D9}"/>
              </a:ext>
            </a:extLst>
          </p:cNvPr>
          <p:cNvSpPr>
            <a:spLocks noGrp="1"/>
          </p:cNvSpPr>
          <p:nvPr>
            <p:ph type="title"/>
          </p:nvPr>
        </p:nvSpPr>
        <p:spPr>
          <a:xfrm>
            <a:off x="528319" y="147930"/>
            <a:ext cx="10515600" cy="631237"/>
          </a:xfrm>
        </p:spPr>
        <p:txBody>
          <a:bodyPr>
            <a:normAutofit/>
          </a:bodyPr>
          <a:lstStyle/>
          <a:p>
            <a:r>
              <a:rPr lang="en-IN" sz="3600" b="1" dirty="0"/>
              <a:t>Binary Search Tree (BST) Deletion </a:t>
            </a:r>
            <a:endParaRPr lang="en-IN" sz="3600" dirty="0"/>
          </a:p>
        </p:txBody>
      </p:sp>
      <p:sp>
        <p:nvSpPr>
          <p:cNvPr id="4" name="Slide Number Placeholder 3">
            <a:extLst>
              <a:ext uri="{FF2B5EF4-FFF2-40B4-BE49-F238E27FC236}">
                <a16:creationId xmlns:a16="http://schemas.microsoft.com/office/drawing/2014/main" id="{742F8FAC-C6D9-526A-0B6D-28F637CA0257}"/>
              </a:ext>
            </a:extLst>
          </p:cNvPr>
          <p:cNvSpPr>
            <a:spLocks noGrp="1"/>
          </p:cNvSpPr>
          <p:nvPr>
            <p:ph type="sldNum" sz="quarter" idx="12"/>
          </p:nvPr>
        </p:nvSpPr>
        <p:spPr/>
        <p:txBody>
          <a:bodyPr/>
          <a:lstStyle/>
          <a:p>
            <a:fld id="{520A0C6E-EFDF-49F2-A292-CF6FBFE4B673}" type="slidenum">
              <a:rPr lang="en-IN" smtClean="0"/>
              <a:t>13</a:t>
            </a:fld>
            <a:endParaRPr lang="en-IN"/>
          </a:p>
        </p:txBody>
      </p:sp>
      <p:pic>
        <p:nvPicPr>
          <p:cNvPr id="6" name="Picture 5" descr="Image of a graph lightbox">
            <a:extLst>
              <a:ext uri="{FF2B5EF4-FFF2-40B4-BE49-F238E27FC236}">
                <a16:creationId xmlns:a16="http://schemas.microsoft.com/office/drawing/2014/main" id="{CCEF48D0-CB4A-5559-27E2-4AA755A2868B}"/>
              </a:ext>
            </a:extLst>
          </p:cNvPr>
          <p:cNvPicPr>
            <a:picLocks noChangeAspect="1"/>
          </p:cNvPicPr>
          <p:nvPr/>
        </p:nvPicPr>
        <p:blipFill>
          <a:blip r:embed="rId2"/>
          <a:srcRect t="12564"/>
          <a:stretch>
            <a:fillRect/>
          </a:stretch>
        </p:blipFill>
        <p:spPr>
          <a:xfrm>
            <a:off x="7227055" y="982592"/>
            <a:ext cx="4126745" cy="2535945"/>
          </a:xfrm>
          <a:prstGeom prst="rect">
            <a:avLst/>
          </a:prstGeom>
          <a:ln>
            <a:solidFill>
              <a:schemeClr val="accent1"/>
            </a:solidFill>
          </a:ln>
        </p:spPr>
      </p:pic>
      <p:pic>
        <p:nvPicPr>
          <p:cNvPr id="7" name="Picture 6" descr="Image of a graph lightbox">
            <a:extLst>
              <a:ext uri="{FF2B5EF4-FFF2-40B4-BE49-F238E27FC236}">
                <a16:creationId xmlns:a16="http://schemas.microsoft.com/office/drawing/2014/main" id="{3E08E276-5A5C-EAA5-0D91-5E03E7CC602B}"/>
              </a:ext>
            </a:extLst>
          </p:cNvPr>
          <p:cNvPicPr>
            <a:picLocks noChangeAspect="1"/>
          </p:cNvPicPr>
          <p:nvPr/>
        </p:nvPicPr>
        <p:blipFill>
          <a:blip r:embed="rId3"/>
          <a:stretch>
            <a:fillRect/>
          </a:stretch>
        </p:blipFill>
        <p:spPr>
          <a:xfrm>
            <a:off x="7227055" y="3564025"/>
            <a:ext cx="4126745" cy="2963083"/>
          </a:xfrm>
          <a:prstGeom prst="rect">
            <a:avLst/>
          </a:prstGeom>
          <a:ln>
            <a:solidFill>
              <a:schemeClr val="accent1"/>
            </a:solidFill>
          </a:ln>
        </p:spPr>
      </p:pic>
      <p:sp>
        <p:nvSpPr>
          <p:cNvPr id="10" name="TextBox 9">
            <a:extLst>
              <a:ext uri="{FF2B5EF4-FFF2-40B4-BE49-F238E27FC236}">
                <a16:creationId xmlns:a16="http://schemas.microsoft.com/office/drawing/2014/main" id="{2EDFDBC8-89F1-0CF4-86EC-A43B42817C46}"/>
              </a:ext>
            </a:extLst>
          </p:cNvPr>
          <p:cNvSpPr txBox="1"/>
          <p:nvPr/>
        </p:nvSpPr>
        <p:spPr>
          <a:xfrm>
            <a:off x="7836044" y="674815"/>
            <a:ext cx="2954327" cy="369332"/>
          </a:xfrm>
          <a:prstGeom prst="rect">
            <a:avLst/>
          </a:prstGeom>
          <a:noFill/>
        </p:spPr>
        <p:txBody>
          <a:bodyPr wrap="square">
            <a:spAutoFit/>
          </a:bodyPr>
          <a:lstStyle/>
          <a:p>
            <a:pPr algn="ctr"/>
            <a:r>
              <a:rPr lang="en-IN" b="1" dirty="0">
                <a:latin typeface="Calibri" panose="020F0502020204030204" pitchFamily="34" charset="0"/>
              </a:rPr>
              <a:t>Original Binary Search Tree </a:t>
            </a:r>
            <a:endParaRPr lang="en-IN" sz="900" b="1" dirty="0">
              <a:latin typeface="Calibri" panose="020F0502020204030204" pitchFamily="34" charset="0"/>
            </a:endParaRPr>
          </a:p>
        </p:txBody>
      </p:sp>
      <p:sp>
        <p:nvSpPr>
          <p:cNvPr id="9" name="TextBox 8">
            <a:extLst>
              <a:ext uri="{FF2B5EF4-FFF2-40B4-BE49-F238E27FC236}">
                <a16:creationId xmlns:a16="http://schemas.microsoft.com/office/drawing/2014/main" id="{E4E90890-3250-AAF2-6588-C12E4BB249E0}"/>
              </a:ext>
            </a:extLst>
          </p:cNvPr>
          <p:cNvSpPr txBox="1"/>
          <p:nvPr/>
        </p:nvSpPr>
        <p:spPr>
          <a:xfrm>
            <a:off x="528319" y="1039614"/>
            <a:ext cx="5842451" cy="369332"/>
          </a:xfrm>
          <a:prstGeom prst="rect">
            <a:avLst/>
          </a:prstGeom>
          <a:noFill/>
        </p:spPr>
        <p:txBody>
          <a:bodyPr wrap="square">
            <a:spAutoFit/>
          </a:bodyPr>
          <a:lstStyle/>
          <a:p>
            <a:pPr marR="0" algn="just">
              <a:spcBef>
                <a:spcPts val="900"/>
              </a:spcBef>
              <a:spcAft>
                <a:spcPts val="900"/>
              </a:spcAft>
            </a:pPr>
            <a:r>
              <a:rPr lang="en-IN" dirty="0">
                <a:latin typeface="Calibri" panose="020F0502020204030204" pitchFamily="34" charset="0"/>
              </a:rPr>
              <a:t>Lets delete the root </a:t>
            </a:r>
            <a:r>
              <a:rPr lang="en-IN" b="1" dirty="0">
                <a:latin typeface="Calibri" panose="020F0502020204030204" pitchFamily="34" charset="0"/>
              </a:rPr>
              <a:t>11</a:t>
            </a:r>
            <a:r>
              <a:rPr lang="en-IN" dirty="0">
                <a:latin typeface="Calibri" panose="020F0502020204030204" pitchFamily="34" charset="0"/>
              </a:rPr>
              <a:t>.</a:t>
            </a:r>
          </a:p>
        </p:txBody>
      </p:sp>
      <p:sp>
        <p:nvSpPr>
          <p:cNvPr id="13" name="TextBox 12">
            <a:extLst>
              <a:ext uri="{FF2B5EF4-FFF2-40B4-BE49-F238E27FC236}">
                <a16:creationId xmlns:a16="http://schemas.microsoft.com/office/drawing/2014/main" id="{FF3CEC5C-E443-8956-DF55-A62A33EF6A79}"/>
              </a:ext>
            </a:extLst>
          </p:cNvPr>
          <p:cNvSpPr txBox="1"/>
          <p:nvPr/>
        </p:nvSpPr>
        <p:spPr>
          <a:xfrm>
            <a:off x="528320" y="1557410"/>
            <a:ext cx="6319520" cy="3978012"/>
          </a:xfrm>
          <a:prstGeom prst="rect">
            <a:avLst/>
          </a:prstGeom>
          <a:noFill/>
          <a:ln>
            <a:solidFill>
              <a:schemeClr val="accent1"/>
            </a:solidFill>
          </a:ln>
        </p:spPr>
        <p:txBody>
          <a:bodyPr wrap="square">
            <a:spAutoFit/>
          </a:bodyPr>
          <a:lstStyle/>
          <a:p>
            <a:pPr marR="0" algn="just">
              <a:spcBef>
                <a:spcPts val="1800"/>
              </a:spcBef>
              <a:spcAft>
                <a:spcPts val="900"/>
              </a:spcAft>
            </a:pPr>
            <a:r>
              <a:rPr lang="en-IN" sz="2000" b="1" u="none" strike="noStrike" dirty="0">
                <a:effectLst/>
                <a:latin typeface="Calibri" panose="020F0502020204030204" pitchFamily="34" charset="0"/>
              </a:rPr>
              <a:t>Find the In-order Predecessor</a:t>
            </a:r>
          </a:p>
          <a:p>
            <a:pPr marR="0" algn="just">
              <a:spcBef>
                <a:spcPts val="900"/>
              </a:spcBef>
              <a:spcAft>
                <a:spcPts val="1200"/>
              </a:spcAft>
            </a:pPr>
            <a:r>
              <a:rPr lang="en-IN" sz="2000" b="0" u="none" strike="noStrike" dirty="0">
                <a:effectLst/>
                <a:latin typeface="Calibri" panose="020F0502020204030204" pitchFamily="34" charset="0"/>
              </a:rPr>
              <a:t>To find the largest value in the left subtree:</a:t>
            </a:r>
          </a:p>
          <a:p>
            <a:pPr marL="342900" marR="0" indent="-342900" algn="just">
              <a:spcBef>
                <a:spcPts val="900"/>
              </a:spcBef>
              <a:spcAft>
                <a:spcPts val="900"/>
              </a:spcAft>
              <a:buFont typeface="+mj-lt"/>
              <a:buAutoNum type="arabicPeriod"/>
            </a:pPr>
            <a:r>
              <a:rPr lang="en-IN" sz="2000" b="0" u="none" strike="noStrike" dirty="0">
                <a:effectLst/>
                <a:latin typeface="Calibri" panose="020F0502020204030204" pitchFamily="34" charset="0"/>
              </a:rPr>
              <a:t>Move to the left child of the target node (</a:t>
            </a:r>
            <a:r>
              <a:rPr lang="en-IN" sz="2000" b="1" u="none" strike="noStrike" dirty="0">
                <a:effectLst/>
                <a:latin typeface="Calibri" panose="020F0502020204030204" pitchFamily="34" charset="0"/>
              </a:rPr>
              <a:t>6</a:t>
            </a:r>
            <a:r>
              <a:rPr lang="en-IN" sz="2000" b="0" u="none" strike="noStrike" dirty="0">
                <a:effectLst/>
                <a:latin typeface="Calibri" panose="020F0502020204030204" pitchFamily="34" charset="0"/>
              </a:rPr>
              <a:t>).</a:t>
            </a:r>
          </a:p>
          <a:p>
            <a:pPr marL="342900" marR="0" indent="-342900" algn="just">
              <a:spcBef>
                <a:spcPts val="900"/>
              </a:spcBef>
              <a:spcAft>
                <a:spcPts val="900"/>
              </a:spcAft>
              <a:buFont typeface="+mj-lt"/>
              <a:buAutoNum type="arabicPeriod"/>
            </a:pPr>
            <a:r>
              <a:rPr lang="en-IN" sz="2000" b="0" u="none" strike="noStrike" dirty="0">
                <a:effectLst/>
                <a:latin typeface="Calibri" panose="020F0502020204030204" pitchFamily="34" charset="0"/>
              </a:rPr>
              <a:t>Follow the right child pointers as far down as possible to find the maximum value.</a:t>
            </a:r>
          </a:p>
          <a:p>
            <a:pPr marL="342900" marR="0" indent="-342900" algn="just">
              <a:spcBef>
                <a:spcPts val="900"/>
              </a:spcBef>
              <a:spcAft>
                <a:spcPts val="900"/>
              </a:spcAft>
              <a:buFont typeface="+mj-lt"/>
              <a:buAutoNum type="arabicPeriod"/>
            </a:pPr>
            <a:r>
              <a:rPr lang="en-IN" sz="2000" b="0" u="none" strike="noStrike" dirty="0">
                <a:effectLst/>
                <a:latin typeface="Calibri" panose="020F0502020204030204" pitchFamily="34" charset="0"/>
              </a:rPr>
              <a:t>Node 6 has a right child, </a:t>
            </a:r>
            <a:r>
              <a:rPr lang="en-IN" sz="2000" b="1" u="none" strike="noStrike" dirty="0">
                <a:effectLst/>
                <a:latin typeface="Calibri" panose="020F0502020204030204" pitchFamily="34" charset="0"/>
              </a:rPr>
              <a:t>8</a:t>
            </a:r>
            <a:r>
              <a:rPr lang="en-IN" sz="2000" b="0" u="none" strike="noStrike" dirty="0">
                <a:effectLst/>
                <a:latin typeface="Calibri" panose="020F0502020204030204" pitchFamily="34" charset="0"/>
              </a:rPr>
              <a:t>. Node 8 has a right child, </a:t>
            </a:r>
            <a:r>
              <a:rPr lang="en-IN" sz="2000" b="1" u="none" strike="noStrike" dirty="0">
                <a:effectLst/>
                <a:latin typeface="Calibri" panose="020F0502020204030204" pitchFamily="34" charset="0"/>
              </a:rPr>
              <a:t>10</a:t>
            </a:r>
            <a:r>
              <a:rPr lang="en-IN" sz="2000" b="0" u="none" strike="noStrike" dirty="0">
                <a:effectLst/>
                <a:latin typeface="Calibri" panose="020F0502020204030204" pitchFamily="34" charset="0"/>
              </a:rPr>
              <a:t>.</a:t>
            </a:r>
          </a:p>
          <a:p>
            <a:pPr marL="342900" marR="0" indent="-342900" algn="just">
              <a:spcBef>
                <a:spcPts val="900"/>
              </a:spcBef>
              <a:spcAft>
                <a:spcPts val="900"/>
              </a:spcAft>
              <a:buFont typeface="+mj-lt"/>
              <a:buAutoNum type="arabicPeriod"/>
            </a:pPr>
            <a:r>
              <a:rPr lang="en-IN" sz="2000" b="0" u="none" strike="noStrike" dirty="0">
                <a:effectLst/>
                <a:latin typeface="Calibri" panose="020F0502020204030204" pitchFamily="34" charset="0"/>
              </a:rPr>
              <a:t>Node 10 has no right child.</a:t>
            </a:r>
          </a:p>
          <a:p>
            <a:pPr marL="342900" marR="0" indent="-342900" algn="just">
              <a:spcBef>
                <a:spcPts val="900"/>
              </a:spcBef>
              <a:spcAft>
                <a:spcPts val="900"/>
              </a:spcAft>
              <a:buFont typeface="+mj-lt"/>
              <a:buAutoNum type="arabicPeriod"/>
            </a:pPr>
            <a:r>
              <a:rPr lang="en-IN" sz="2000" b="1" u="none" strike="noStrike" dirty="0">
                <a:effectLst/>
                <a:latin typeface="Calibri" panose="020F0502020204030204" pitchFamily="34" charset="0"/>
              </a:rPr>
              <a:t>10</a:t>
            </a:r>
            <a:r>
              <a:rPr lang="en-IN" sz="2000" b="0" u="none" strike="noStrike" dirty="0">
                <a:effectLst/>
                <a:latin typeface="Calibri" panose="020F0502020204030204" pitchFamily="34" charset="0"/>
              </a:rPr>
              <a:t> is chosen as the predecessor</a:t>
            </a:r>
          </a:p>
        </p:txBody>
      </p:sp>
    </p:spTree>
    <p:extLst>
      <p:ext uri="{BB962C8B-B14F-4D97-AF65-F5344CB8AC3E}">
        <p14:creationId xmlns:p14="http://schemas.microsoft.com/office/powerpoint/2010/main" val="13840340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AF7D9D-BA75-42E6-7989-1B628FAF728F}"/>
              </a:ext>
            </a:extLst>
          </p:cNvPr>
          <p:cNvSpPr>
            <a:spLocks noGrp="1"/>
          </p:cNvSpPr>
          <p:nvPr>
            <p:ph type="title"/>
          </p:nvPr>
        </p:nvSpPr>
        <p:spPr>
          <a:xfrm>
            <a:off x="838200" y="365126"/>
            <a:ext cx="10515600" cy="1009904"/>
          </a:xfrm>
        </p:spPr>
        <p:txBody>
          <a:bodyPr/>
          <a:lstStyle/>
          <a:p>
            <a:r>
              <a:rPr lang="en-IN" dirty="0"/>
              <a:t>Exercise: Construction of BST</a:t>
            </a:r>
          </a:p>
        </p:txBody>
      </p:sp>
      <p:sp>
        <p:nvSpPr>
          <p:cNvPr id="3" name="Content Placeholder 2">
            <a:extLst>
              <a:ext uri="{FF2B5EF4-FFF2-40B4-BE49-F238E27FC236}">
                <a16:creationId xmlns:a16="http://schemas.microsoft.com/office/drawing/2014/main" id="{A21D0EE2-7836-CC9F-84C5-883BD4C17BE9}"/>
              </a:ext>
            </a:extLst>
          </p:cNvPr>
          <p:cNvSpPr>
            <a:spLocks noGrp="1"/>
          </p:cNvSpPr>
          <p:nvPr>
            <p:ph idx="1"/>
          </p:nvPr>
        </p:nvSpPr>
        <p:spPr>
          <a:xfrm>
            <a:off x="838200" y="2534443"/>
            <a:ext cx="4516120" cy="1789113"/>
          </a:xfrm>
        </p:spPr>
        <p:txBody>
          <a:bodyPr>
            <a:normAutofit/>
          </a:bodyPr>
          <a:lstStyle/>
          <a:p>
            <a:pPr marL="0" indent="0">
              <a:buNone/>
            </a:pPr>
            <a:r>
              <a:rPr lang="en-IN" sz="2000" b="1" dirty="0" err="1"/>
              <a:t>Inorder</a:t>
            </a:r>
            <a:r>
              <a:rPr lang="en-IN" sz="2000" dirty="0"/>
              <a:t>: 5, 16, 17, 18, 19, 20, 60, 70, 85</a:t>
            </a:r>
          </a:p>
          <a:p>
            <a:r>
              <a:rPr lang="en-IN" sz="2000" b="1" dirty="0"/>
              <a:t>Root</a:t>
            </a:r>
            <a:r>
              <a:rPr lang="en-IN" sz="2000" dirty="0"/>
              <a:t>: </a:t>
            </a:r>
            <a:r>
              <a:rPr lang="en-IN" sz="2000" b="1" dirty="0"/>
              <a:t>20</a:t>
            </a:r>
            <a:endParaRPr lang="en-IN" sz="2000" dirty="0"/>
          </a:p>
          <a:p>
            <a:r>
              <a:rPr lang="en-IN" sz="2000" b="1" dirty="0"/>
              <a:t>Left Subtree (L)</a:t>
            </a:r>
            <a:r>
              <a:rPr lang="en-IN" sz="2000" dirty="0"/>
              <a:t>: 5, 16, 17, 18, 19</a:t>
            </a:r>
          </a:p>
          <a:p>
            <a:r>
              <a:rPr lang="en-IN" sz="2000" b="1" dirty="0"/>
              <a:t>Right Subtree (R)</a:t>
            </a:r>
            <a:r>
              <a:rPr lang="en-IN" sz="2000" dirty="0"/>
              <a:t>: 60, 70, 85</a:t>
            </a:r>
          </a:p>
          <a:p>
            <a:endParaRPr lang="en-IN" sz="2000" dirty="0"/>
          </a:p>
        </p:txBody>
      </p:sp>
      <p:sp>
        <p:nvSpPr>
          <p:cNvPr id="4" name="Slide Number Placeholder 3">
            <a:extLst>
              <a:ext uri="{FF2B5EF4-FFF2-40B4-BE49-F238E27FC236}">
                <a16:creationId xmlns:a16="http://schemas.microsoft.com/office/drawing/2014/main" id="{AC84E48E-B571-5304-72B9-71B4303208C5}"/>
              </a:ext>
            </a:extLst>
          </p:cNvPr>
          <p:cNvSpPr>
            <a:spLocks noGrp="1"/>
          </p:cNvSpPr>
          <p:nvPr>
            <p:ph type="sldNum" sz="quarter" idx="12"/>
          </p:nvPr>
        </p:nvSpPr>
        <p:spPr/>
        <p:txBody>
          <a:bodyPr/>
          <a:lstStyle/>
          <a:p>
            <a:fld id="{520A0C6E-EFDF-49F2-A292-CF6FBFE4B673}" type="slidenum">
              <a:rPr lang="en-IN" smtClean="0"/>
              <a:t>14</a:t>
            </a:fld>
            <a:endParaRPr lang="en-IN"/>
          </a:p>
        </p:txBody>
      </p:sp>
      <p:pic>
        <p:nvPicPr>
          <p:cNvPr id="5" name="Picture 4" descr="Image of a graph lightbox">
            <a:extLst>
              <a:ext uri="{FF2B5EF4-FFF2-40B4-BE49-F238E27FC236}">
                <a16:creationId xmlns:a16="http://schemas.microsoft.com/office/drawing/2014/main" id="{D029BA2F-775C-E599-4832-00D26B350677}"/>
              </a:ext>
            </a:extLst>
          </p:cNvPr>
          <p:cNvPicPr>
            <a:picLocks noChangeAspect="1"/>
          </p:cNvPicPr>
          <p:nvPr/>
        </p:nvPicPr>
        <p:blipFill>
          <a:blip r:embed="rId2"/>
          <a:stretch>
            <a:fillRect/>
          </a:stretch>
        </p:blipFill>
        <p:spPr>
          <a:xfrm>
            <a:off x="5891602" y="2534443"/>
            <a:ext cx="5437996" cy="3821907"/>
          </a:xfrm>
          <a:prstGeom prst="rect">
            <a:avLst/>
          </a:prstGeom>
        </p:spPr>
      </p:pic>
      <p:sp>
        <p:nvSpPr>
          <p:cNvPr id="7" name="TextBox 6">
            <a:extLst>
              <a:ext uri="{FF2B5EF4-FFF2-40B4-BE49-F238E27FC236}">
                <a16:creationId xmlns:a16="http://schemas.microsoft.com/office/drawing/2014/main" id="{970DF935-4418-A67B-7F68-D19A2248509E}"/>
              </a:ext>
            </a:extLst>
          </p:cNvPr>
          <p:cNvSpPr txBox="1"/>
          <p:nvPr/>
        </p:nvSpPr>
        <p:spPr>
          <a:xfrm>
            <a:off x="658610" y="1375029"/>
            <a:ext cx="10695190" cy="830997"/>
          </a:xfrm>
          <a:prstGeom prst="rect">
            <a:avLst/>
          </a:prstGeom>
          <a:noFill/>
        </p:spPr>
        <p:txBody>
          <a:bodyPr wrap="square">
            <a:spAutoFit/>
          </a:bodyPr>
          <a:lstStyle/>
          <a:p>
            <a:pPr marL="0" indent="0" algn="just">
              <a:buNone/>
            </a:pPr>
            <a:r>
              <a:rPr lang="en-IN" sz="2400" dirty="0">
                <a:solidFill>
                  <a:srgbClr val="FF0000"/>
                </a:solidFill>
              </a:rPr>
              <a:t>Construct a unique Binary Search Tree (BST) given only its </a:t>
            </a:r>
            <a:r>
              <a:rPr lang="en-IN" sz="2400" b="1" dirty="0">
                <a:solidFill>
                  <a:srgbClr val="FF0000"/>
                </a:solidFill>
              </a:rPr>
              <a:t>Preorder</a:t>
            </a:r>
            <a:r>
              <a:rPr lang="en-IN" sz="2400" dirty="0">
                <a:solidFill>
                  <a:srgbClr val="FF0000"/>
                </a:solidFill>
              </a:rPr>
              <a:t> traversal sequence: 20, 16, 5, 18, 17, 19, 60, 85, 70</a:t>
            </a:r>
          </a:p>
        </p:txBody>
      </p:sp>
    </p:spTree>
    <p:extLst>
      <p:ext uri="{BB962C8B-B14F-4D97-AF65-F5344CB8AC3E}">
        <p14:creationId xmlns:p14="http://schemas.microsoft.com/office/powerpoint/2010/main" val="27384601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CA277-EC67-C60A-1F6D-7C50DD86FE48}"/>
              </a:ext>
            </a:extLst>
          </p:cNvPr>
          <p:cNvSpPr>
            <a:spLocks noGrp="1"/>
          </p:cNvSpPr>
          <p:nvPr>
            <p:ph type="title"/>
          </p:nvPr>
        </p:nvSpPr>
        <p:spPr>
          <a:xfrm>
            <a:off x="838200" y="160376"/>
            <a:ext cx="10515600" cy="1325563"/>
          </a:xfrm>
        </p:spPr>
        <p:txBody>
          <a:bodyPr>
            <a:normAutofit/>
          </a:bodyPr>
          <a:lstStyle/>
          <a:p>
            <a:r>
              <a:rPr lang="en-IN" sz="3200" b="1" dirty="0">
                <a:latin typeface="Calibri" panose="020F0502020204030204" pitchFamily="34" charset="0"/>
                <a:cs typeface="Calibri" panose="020F0502020204030204" pitchFamily="34" charset="0"/>
              </a:rPr>
              <a:t>Height-Balanced Tree or AVL Tree</a:t>
            </a:r>
            <a:endParaRPr lang="en-IN" sz="32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D2EBB4EA-0E73-E973-8D90-928CB5BA519E}"/>
              </a:ext>
            </a:extLst>
          </p:cNvPr>
          <p:cNvSpPr txBox="1"/>
          <p:nvPr/>
        </p:nvSpPr>
        <p:spPr>
          <a:xfrm>
            <a:off x="838200" y="1419899"/>
            <a:ext cx="10439400" cy="2249142"/>
          </a:xfrm>
          <a:prstGeom prst="rect">
            <a:avLst/>
          </a:prstGeom>
          <a:noFill/>
        </p:spPr>
        <p:txBody>
          <a:bodyPr wrap="square">
            <a:spAutoFit/>
          </a:bodyPr>
          <a:lstStyle/>
          <a:p>
            <a:pPr indent="0" algn="just">
              <a:lnSpc>
                <a:spcPct val="150000"/>
              </a:lnSpc>
              <a:buNone/>
            </a:pPr>
            <a:r>
              <a:rPr lang="en-IN" sz="2400" dirty="0">
                <a:latin typeface="Calibri" panose="020F0502020204030204" pitchFamily="34" charset="0"/>
              </a:rPr>
              <a:t>A height-balanced tree (often an </a:t>
            </a:r>
            <a:r>
              <a:rPr lang="en-IN" sz="2400" b="1" dirty="0">
                <a:latin typeface="Calibri" panose="020F0502020204030204" pitchFamily="34" charset="0"/>
              </a:rPr>
              <a:t>AVL tree)</a:t>
            </a:r>
            <a:r>
              <a:rPr lang="en-IN" sz="2400" dirty="0">
                <a:latin typeface="Calibri" panose="020F0502020204030204" pitchFamily="34" charset="0"/>
              </a:rPr>
              <a:t> is a </a:t>
            </a:r>
            <a:r>
              <a:rPr lang="en-IN" sz="2400" b="1" dirty="0">
                <a:latin typeface="Calibri" panose="020F0502020204030204" pitchFamily="34" charset="0"/>
              </a:rPr>
              <a:t>BST </a:t>
            </a:r>
            <a:r>
              <a:rPr lang="en-IN" sz="2400" dirty="0">
                <a:latin typeface="Calibri" panose="020F0502020204030204" pitchFamily="34" charset="0"/>
              </a:rPr>
              <a:t>(</a:t>
            </a:r>
            <a:r>
              <a:rPr lang="en-IN" sz="2400" b="1" dirty="0">
                <a:latin typeface="Calibri" panose="020F0502020204030204" pitchFamily="34" charset="0"/>
              </a:rPr>
              <a:t>binary search tree) </a:t>
            </a:r>
            <a:r>
              <a:rPr lang="en-IN" sz="2400" dirty="0">
                <a:latin typeface="Calibri" panose="020F0502020204030204" pitchFamily="34" charset="0"/>
              </a:rPr>
              <a:t>where the height of the left and right subtrees of </a:t>
            </a:r>
            <a:r>
              <a:rPr lang="en-IN" sz="2400" i="1" dirty="0">
                <a:latin typeface="Calibri" panose="020F0502020204030204" pitchFamily="34" charset="0"/>
              </a:rPr>
              <a:t>any</a:t>
            </a:r>
            <a:r>
              <a:rPr lang="en-IN" sz="2400" dirty="0">
                <a:latin typeface="Calibri" panose="020F0502020204030204" pitchFamily="34" charset="0"/>
              </a:rPr>
              <a:t> node differ by at most 1. This structural rule limits the tree's height to O(log n), ensuring fast searching, insertion, and deletion times.</a:t>
            </a:r>
            <a:endParaRPr lang="en-IN" sz="2400" b="0" i="0" dirty="0">
              <a:solidFill>
                <a:srgbClr val="000000"/>
              </a:solidFill>
              <a:effectLst/>
              <a:latin typeface="Calibri" panose="020F0502020204030204" pitchFamily="34" charset="0"/>
              <a:cs typeface="Calibri" panose="020F0502020204030204" pitchFamily="34" charset="0"/>
            </a:endParaRPr>
          </a:p>
        </p:txBody>
      </p:sp>
      <p:sp>
        <p:nvSpPr>
          <p:cNvPr id="3" name="Slide Number Placeholder 2">
            <a:extLst>
              <a:ext uri="{FF2B5EF4-FFF2-40B4-BE49-F238E27FC236}">
                <a16:creationId xmlns:a16="http://schemas.microsoft.com/office/drawing/2014/main" id="{36D5D0B8-C9F1-AD21-57C5-4E84A89901D1}"/>
              </a:ext>
            </a:extLst>
          </p:cNvPr>
          <p:cNvSpPr>
            <a:spLocks noGrp="1"/>
          </p:cNvSpPr>
          <p:nvPr>
            <p:ph type="sldNum" sz="quarter" idx="12"/>
          </p:nvPr>
        </p:nvSpPr>
        <p:spPr/>
        <p:txBody>
          <a:bodyPr/>
          <a:lstStyle/>
          <a:p>
            <a:fld id="{520A0C6E-EFDF-49F2-A292-CF6FBFE4B673}" type="slidenum">
              <a:rPr lang="en-IN" smtClean="0"/>
              <a:t>15</a:t>
            </a:fld>
            <a:endParaRPr lang="en-IN"/>
          </a:p>
        </p:txBody>
      </p:sp>
      <p:sp>
        <p:nvSpPr>
          <p:cNvPr id="5" name="TextBox 4">
            <a:extLst>
              <a:ext uri="{FF2B5EF4-FFF2-40B4-BE49-F238E27FC236}">
                <a16:creationId xmlns:a16="http://schemas.microsoft.com/office/drawing/2014/main" id="{6B94646D-30B6-E2B2-453E-505A03E3A0B2}"/>
              </a:ext>
            </a:extLst>
          </p:cNvPr>
          <p:cNvSpPr txBox="1"/>
          <p:nvPr/>
        </p:nvSpPr>
        <p:spPr>
          <a:xfrm>
            <a:off x="914400" y="3807936"/>
            <a:ext cx="10281920" cy="1429622"/>
          </a:xfrm>
          <a:prstGeom prst="rect">
            <a:avLst/>
          </a:prstGeom>
          <a:noFill/>
        </p:spPr>
        <p:txBody>
          <a:bodyPr wrap="square">
            <a:spAutoFit/>
          </a:bodyPr>
          <a:lstStyle/>
          <a:p>
            <a:pPr marL="342900" marR="0" indent="-342900">
              <a:lnSpc>
                <a:spcPct val="150000"/>
              </a:lnSpc>
              <a:buFont typeface="Arial" panose="020B0604020202020204" pitchFamily="34" charset="0"/>
              <a:buChar char="•"/>
            </a:pPr>
            <a:r>
              <a:rPr lang="en-IN" sz="2000" b="1" u="none" strike="noStrike" dirty="0">
                <a:effectLst/>
                <a:latin typeface="Google Sans"/>
              </a:rPr>
              <a:t>Balance Factor:</a:t>
            </a:r>
            <a:r>
              <a:rPr lang="en-IN" sz="2000" b="0" u="none" strike="noStrike" dirty="0">
                <a:effectLst/>
                <a:latin typeface="Google Sans"/>
              </a:rPr>
              <a:t> For any node, the Balance Factor is defined as:</a:t>
            </a:r>
            <a:br>
              <a:rPr lang="en-IN" sz="2000" b="0" u="none" strike="noStrike" dirty="0">
                <a:effectLst/>
                <a:latin typeface="Google Sans"/>
              </a:rPr>
            </a:br>
            <a:r>
              <a:rPr lang="en-IN" sz="2000" b="0" u="none" strike="noStrike" dirty="0">
                <a:effectLst/>
                <a:latin typeface="Google Sans"/>
              </a:rPr>
              <a:t>		Balance Factor</a:t>
            </a:r>
            <a:r>
              <a:rPr lang="en-IN" sz="2000" dirty="0">
                <a:latin typeface="Google Sans"/>
              </a:rPr>
              <a:t> </a:t>
            </a:r>
            <a:r>
              <a:rPr lang="en-IN" sz="2000" b="0" u="none" strike="noStrike" dirty="0">
                <a:effectLst/>
                <a:latin typeface="Google Sans"/>
              </a:rPr>
              <a:t>= Height(Left Subtree) - Height(Right Subtree)</a:t>
            </a:r>
          </a:p>
          <a:p>
            <a:pPr marL="342900" marR="0" indent="-342900">
              <a:lnSpc>
                <a:spcPct val="150000"/>
              </a:lnSpc>
              <a:buFont typeface="Arial" panose="020B0604020202020204" pitchFamily="34" charset="0"/>
              <a:buChar char="•"/>
            </a:pPr>
            <a:r>
              <a:rPr lang="en-IN" sz="2000" b="1" u="none" strike="noStrike" dirty="0">
                <a:effectLst/>
                <a:latin typeface="Google Sans"/>
              </a:rPr>
              <a:t>Condition:</a:t>
            </a:r>
            <a:r>
              <a:rPr lang="en-IN" sz="2000" b="0" u="none" strike="noStrike" dirty="0">
                <a:effectLst/>
                <a:latin typeface="Google Sans"/>
              </a:rPr>
              <a:t> The Balance Factor of </a:t>
            </a:r>
            <a:r>
              <a:rPr lang="en-IN" sz="2000" b="0" i="1" u="none" strike="noStrike" dirty="0">
                <a:effectLst/>
                <a:latin typeface="Google Sans"/>
              </a:rPr>
              <a:t>every</a:t>
            </a:r>
            <a:r>
              <a:rPr lang="en-IN" sz="2000" b="0" u="none" strike="noStrike" dirty="0">
                <a:effectLst/>
                <a:latin typeface="Google Sans"/>
              </a:rPr>
              <a:t> node must be -1, 0, or 1.</a:t>
            </a:r>
          </a:p>
        </p:txBody>
      </p:sp>
    </p:spTree>
    <p:extLst>
      <p:ext uri="{BB962C8B-B14F-4D97-AF65-F5344CB8AC3E}">
        <p14:creationId xmlns:p14="http://schemas.microsoft.com/office/powerpoint/2010/main" val="38941668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D521FF2-1843-3768-1D93-B8A037D80C71}"/>
              </a:ext>
            </a:extLst>
          </p:cNvPr>
          <p:cNvSpPr>
            <a:spLocks noGrp="1"/>
          </p:cNvSpPr>
          <p:nvPr>
            <p:ph type="title"/>
          </p:nvPr>
        </p:nvSpPr>
        <p:spPr>
          <a:xfrm>
            <a:off x="838200" y="251816"/>
            <a:ext cx="10515600" cy="816571"/>
          </a:xfrm>
        </p:spPr>
        <p:txBody>
          <a:bodyPr>
            <a:normAutofit/>
          </a:bodyPr>
          <a:lstStyle/>
          <a:p>
            <a:r>
              <a:rPr lang="en-IN" sz="3200" b="1" dirty="0">
                <a:latin typeface="Calibri" panose="020F0502020204030204" pitchFamily="34" charset="0"/>
                <a:cs typeface="Calibri" panose="020F0502020204030204" pitchFamily="34" charset="0"/>
              </a:rPr>
              <a:t>Height-Balanced Tree or AVL Tree or Red-Black Tree</a:t>
            </a:r>
            <a:endParaRPr lang="en-IN" sz="32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CC9901F-65C6-8D25-56AE-6C2809EC0558}"/>
              </a:ext>
            </a:extLst>
          </p:cNvPr>
          <p:cNvSpPr txBox="1"/>
          <p:nvPr/>
        </p:nvSpPr>
        <p:spPr>
          <a:xfrm>
            <a:off x="1082040" y="1068387"/>
            <a:ext cx="10271760" cy="4157805"/>
          </a:xfrm>
          <a:prstGeom prst="rect">
            <a:avLst/>
          </a:prstGeom>
          <a:noFill/>
        </p:spPr>
        <p:txBody>
          <a:bodyPr wrap="square">
            <a:spAutoFit/>
          </a:bodyPr>
          <a:lstStyle/>
          <a:p>
            <a:pPr marL="0" marR="0" algn="just">
              <a:lnSpc>
                <a:spcPct val="150000"/>
              </a:lnSpc>
              <a:spcBef>
                <a:spcPts val="1800"/>
              </a:spcBef>
              <a:spcAft>
                <a:spcPts val="900"/>
              </a:spcAft>
              <a:buNone/>
            </a:pPr>
            <a:r>
              <a:rPr lang="en-IN" sz="2800" b="1" u="none" strike="noStrike" dirty="0">
                <a:effectLst/>
                <a:latin typeface="Google Sans"/>
              </a:rPr>
              <a:t>Rotations</a:t>
            </a:r>
          </a:p>
          <a:p>
            <a:pPr marL="342900" marR="0" indent="-342900" algn="just">
              <a:lnSpc>
                <a:spcPct val="150000"/>
              </a:lnSpc>
              <a:spcBef>
                <a:spcPts val="900"/>
              </a:spcBef>
              <a:spcAft>
                <a:spcPts val="900"/>
              </a:spcAft>
              <a:buFont typeface="Arial" panose="020B0604020202020204" pitchFamily="34" charset="0"/>
              <a:buChar char="•"/>
            </a:pPr>
            <a:r>
              <a:rPr lang="en-IN" sz="2000" b="1" u="none" strike="noStrike" dirty="0">
                <a:effectLst/>
                <a:latin typeface="Google Sans"/>
              </a:rPr>
              <a:t>Left Rotation (RR Imbalance)</a:t>
            </a:r>
            <a:r>
              <a:rPr lang="en-IN" sz="2000" b="0" u="none" strike="noStrike" dirty="0">
                <a:effectLst/>
                <a:latin typeface="Google Sans"/>
              </a:rPr>
              <a:t>: Occurs when a node gets inserted into the right subtree of a right child. A left rotation around node </a:t>
            </a:r>
            <a:r>
              <a:rPr lang="en-IN" sz="1600" b="0" u="none" strike="noStrike" dirty="0">
                <a:effectLst/>
                <a:latin typeface="Courier New" panose="02070309020205020404" pitchFamily="49" charset="0"/>
              </a:rPr>
              <a:t>X</a:t>
            </a:r>
            <a:r>
              <a:rPr lang="en-IN" sz="2000" b="0" u="none" strike="noStrike" dirty="0">
                <a:effectLst/>
                <a:latin typeface="Google Sans"/>
              </a:rPr>
              <a:t> brings </a:t>
            </a:r>
            <a:r>
              <a:rPr lang="en-IN" sz="1600" b="0" u="none" strike="noStrike" dirty="0">
                <a:effectLst/>
                <a:latin typeface="Courier New" panose="02070309020205020404" pitchFamily="49" charset="0"/>
              </a:rPr>
              <a:t>Y</a:t>
            </a:r>
            <a:r>
              <a:rPr lang="en-IN" sz="2000" b="0" u="none" strike="noStrike" dirty="0">
                <a:effectLst/>
                <a:latin typeface="Google Sans"/>
              </a:rPr>
              <a:t> up to balance the tree.</a:t>
            </a:r>
          </a:p>
          <a:p>
            <a:pPr marL="342900" marR="0" indent="-342900" algn="just">
              <a:lnSpc>
                <a:spcPct val="150000"/>
              </a:lnSpc>
              <a:spcBef>
                <a:spcPts val="900"/>
              </a:spcBef>
              <a:spcAft>
                <a:spcPts val="900"/>
              </a:spcAft>
              <a:buFont typeface="Arial" panose="020B0604020202020204" pitchFamily="34" charset="0"/>
              <a:buChar char="•"/>
            </a:pPr>
            <a:r>
              <a:rPr lang="en-IN" sz="2000" b="1" u="none" strike="noStrike" dirty="0">
                <a:effectLst/>
                <a:latin typeface="Google Sans"/>
              </a:rPr>
              <a:t>Right Rotation (LL Imbalance)</a:t>
            </a:r>
            <a:r>
              <a:rPr lang="en-IN" sz="2000" b="0" u="none" strike="noStrike" dirty="0">
                <a:effectLst/>
                <a:latin typeface="Google Sans"/>
              </a:rPr>
              <a:t>: Occurs when a node gets inserted into the left subtree of a left child. A right rotation around node </a:t>
            </a:r>
            <a:r>
              <a:rPr lang="en-IN" sz="1600" b="0" u="none" strike="noStrike" dirty="0">
                <a:effectLst/>
                <a:latin typeface="Courier New" panose="02070309020205020404" pitchFamily="49" charset="0"/>
              </a:rPr>
              <a:t>Z</a:t>
            </a:r>
            <a:r>
              <a:rPr lang="en-IN" sz="2000" b="0" u="none" strike="noStrike" dirty="0">
                <a:effectLst/>
                <a:latin typeface="Google Sans"/>
              </a:rPr>
              <a:t> brings </a:t>
            </a:r>
            <a:r>
              <a:rPr lang="en-IN" sz="1600" b="0" u="none" strike="noStrike" dirty="0">
                <a:effectLst/>
                <a:latin typeface="Courier New" panose="02070309020205020404" pitchFamily="49" charset="0"/>
              </a:rPr>
              <a:t>Y</a:t>
            </a:r>
            <a:r>
              <a:rPr lang="en-IN" sz="2000" b="0" u="none" strike="noStrike" dirty="0">
                <a:effectLst/>
                <a:latin typeface="Google Sans"/>
              </a:rPr>
              <a:t> up to balance the tree.</a:t>
            </a:r>
          </a:p>
          <a:p>
            <a:pPr marL="342900" marR="0" indent="-342900" algn="just">
              <a:lnSpc>
                <a:spcPct val="150000"/>
              </a:lnSpc>
              <a:spcBef>
                <a:spcPts val="900"/>
              </a:spcBef>
              <a:spcAft>
                <a:spcPts val="900"/>
              </a:spcAft>
              <a:buFont typeface="Arial" panose="020B0604020202020204" pitchFamily="34" charset="0"/>
              <a:buChar char="•"/>
            </a:pPr>
            <a:r>
              <a:rPr lang="en-IN" sz="2000" b="1" u="none" strike="noStrike" dirty="0">
                <a:effectLst/>
                <a:latin typeface="Google Sans"/>
              </a:rPr>
              <a:t>Balance Factor (BF)</a:t>
            </a:r>
            <a:r>
              <a:rPr lang="en-IN" sz="2000" b="0" u="none" strike="noStrike" dirty="0">
                <a:effectLst/>
                <a:latin typeface="Google Sans"/>
              </a:rPr>
              <a:t>: Calculated as </a:t>
            </a:r>
            <a:r>
              <a:rPr lang="en-IN" sz="1600" b="0" u="none" strike="noStrike" dirty="0">
                <a:effectLst/>
                <a:latin typeface="Courier New" panose="02070309020205020404" pitchFamily="49" charset="0"/>
              </a:rPr>
              <a:t>Height(Left Subtree) - Height(Right Subtree)</a:t>
            </a:r>
            <a:r>
              <a:rPr lang="en-IN" sz="2000" b="0" u="none" strike="noStrike" dirty="0">
                <a:effectLst/>
                <a:latin typeface="Google Sans"/>
              </a:rPr>
              <a:t>. A tree is considered unbalanced if any node's BF goes outside the range </a:t>
            </a:r>
            <a:r>
              <a:rPr lang="en-IN" sz="1600" b="0" u="none" strike="noStrike" dirty="0">
                <a:effectLst/>
                <a:latin typeface="Courier New" panose="02070309020205020404" pitchFamily="49" charset="0"/>
              </a:rPr>
              <a:t>[-1, 0, 1]</a:t>
            </a:r>
            <a:endParaRPr lang="en-IN" sz="2000" b="0" u="none" strike="noStrike" dirty="0">
              <a:effectLst/>
              <a:latin typeface="Google Sans"/>
            </a:endParaRPr>
          </a:p>
        </p:txBody>
      </p:sp>
    </p:spTree>
    <p:extLst>
      <p:ext uri="{BB962C8B-B14F-4D97-AF65-F5344CB8AC3E}">
        <p14:creationId xmlns:p14="http://schemas.microsoft.com/office/powerpoint/2010/main" val="2232495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44689CF-FE27-E759-2CE7-35CE9BA731E0}"/>
              </a:ext>
            </a:extLst>
          </p:cNvPr>
          <p:cNvSpPr>
            <a:spLocks noGrp="1"/>
          </p:cNvSpPr>
          <p:nvPr>
            <p:ph type="sldNum" sz="quarter" idx="12"/>
          </p:nvPr>
        </p:nvSpPr>
        <p:spPr/>
        <p:txBody>
          <a:bodyPr/>
          <a:lstStyle/>
          <a:p>
            <a:fld id="{520A0C6E-EFDF-49F2-A292-CF6FBFE4B673}" type="slidenum">
              <a:rPr lang="en-IN" smtClean="0"/>
              <a:t>17</a:t>
            </a:fld>
            <a:endParaRPr lang="en-IN"/>
          </a:p>
        </p:txBody>
      </p:sp>
      <p:pic>
        <p:nvPicPr>
          <p:cNvPr id="5" name="Picture 4" descr="Image of a graph lightbox">
            <a:extLst>
              <a:ext uri="{FF2B5EF4-FFF2-40B4-BE49-F238E27FC236}">
                <a16:creationId xmlns:a16="http://schemas.microsoft.com/office/drawing/2014/main" id="{0AA202FA-6095-2028-688D-ADCC1634DE48}"/>
              </a:ext>
            </a:extLst>
          </p:cNvPr>
          <p:cNvPicPr>
            <a:picLocks noChangeAspect="1"/>
          </p:cNvPicPr>
          <p:nvPr/>
        </p:nvPicPr>
        <p:blipFill>
          <a:blip r:embed="rId2">
            <a:extLst>
              <a:ext uri="{BEBA8EAE-BF5A-486C-A8C5-ECC9F3942E4B}">
                <a14:imgProps xmlns:a14="http://schemas.microsoft.com/office/drawing/2010/main">
                  <a14:imgLayer r:embed="rId3">
                    <a14:imgEffect>
                      <a14:saturation sat="400000"/>
                    </a14:imgEffect>
                  </a14:imgLayer>
                </a14:imgProps>
              </a:ext>
            </a:extLst>
          </a:blip>
          <a:stretch>
            <a:fillRect/>
          </a:stretch>
        </p:blipFill>
        <p:spPr>
          <a:xfrm>
            <a:off x="1737359" y="53331"/>
            <a:ext cx="8473441" cy="6751337"/>
          </a:xfrm>
          <a:prstGeom prst="rect">
            <a:avLst/>
          </a:prstGeom>
        </p:spPr>
      </p:pic>
    </p:spTree>
    <p:extLst>
      <p:ext uri="{BB962C8B-B14F-4D97-AF65-F5344CB8AC3E}">
        <p14:creationId xmlns:p14="http://schemas.microsoft.com/office/powerpoint/2010/main" val="39661962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E72279E-5AF2-9A0F-E37F-729E758A71EF}"/>
              </a:ext>
            </a:extLst>
          </p:cNvPr>
          <p:cNvSpPr txBox="1"/>
          <p:nvPr/>
        </p:nvSpPr>
        <p:spPr>
          <a:xfrm>
            <a:off x="1493520" y="1068387"/>
            <a:ext cx="9519920" cy="4924425"/>
          </a:xfrm>
          <a:prstGeom prst="rect">
            <a:avLst/>
          </a:prstGeom>
          <a:noFill/>
        </p:spPr>
        <p:txBody>
          <a:bodyPr wrap="square">
            <a:spAutoFit/>
          </a:bodyPr>
          <a:lstStyle/>
          <a:p>
            <a:pPr marR="0" algn="just">
              <a:spcBef>
                <a:spcPts val="1800"/>
              </a:spcBef>
              <a:spcAft>
                <a:spcPts val="900"/>
              </a:spcAft>
            </a:pPr>
            <a:r>
              <a:rPr lang="en-IN" sz="2400" b="1" u="none" strike="noStrike" dirty="0">
                <a:effectLst/>
                <a:latin typeface="Google Sans"/>
              </a:rPr>
              <a:t>Double Rotation </a:t>
            </a:r>
          </a:p>
          <a:p>
            <a:pPr marR="0" algn="just">
              <a:spcBef>
                <a:spcPts val="900"/>
              </a:spcBef>
              <a:spcAft>
                <a:spcPts val="900"/>
              </a:spcAft>
            </a:pPr>
            <a:r>
              <a:rPr lang="en-IN" sz="2000" b="1" u="none" strike="noStrike" dirty="0">
                <a:effectLst/>
                <a:latin typeface="Google Sans"/>
              </a:rPr>
              <a:t>Left-Right (LR) Rotation</a:t>
            </a:r>
            <a:r>
              <a:rPr lang="en-IN" sz="2000" b="0" u="none" strike="noStrike" dirty="0">
                <a:effectLst/>
                <a:latin typeface="Google Sans"/>
              </a:rPr>
              <a:t>:</a:t>
            </a:r>
          </a:p>
          <a:p>
            <a:pPr marL="800100" marR="0" lvl="1" indent="-342900" algn="just">
              <a:spcBef>
                <a:spcPts val="900"/>
              </a:spcBef>
              <a:spcAft>
                <a:spcPts val="900"/>
              </a:spcAft>
              <a:buFont typeface="Arial" panose="020B0604020202020204" pitchFamily="34" charset="0"/>
              <a:buChar char="•"/>
            </a:pPr>
            <a:r>
              <a:rPr lang="en-IN" sz="2000" b="1" u="none" strike="noStrike" dirty="0">
                <a:effectLst/>
                <a:latin typeface="Google Sans"/>
              </a:rPr>
              <a:t>When it occurs</a:t>
            </a:r>
            <a:r>
              <a:rPr lang="en-IN" sz="2000" b="0" u="none" strike="noStrike" dirty="0">
                <a:effectLst/>
                <a:latin typeface="Google Sans"/>
              </a:rPr>
              <a:t>: A node is inserted into the </a:t>
            </a:r>
            <a:r>
              <a:rPr lang="en-IN" sz="2000" b="0" i="1" u="none" strike="noStrike" dirty="0">
                <a:effectLst/>
                <a:latin typeface="Google Sans"/>
              </a:rPr>
              <a:t>right</a:t>
            </a:r>
            <a:r>
              <a:rPr lang="en-IN" sz="2000" b="0" u="none" strike="noStrike" dirty="0">
                <a:effectLst/>
                <a:latin typeface="Google Sans"/>
              </a:rPr>
              <a:t> subtree of a </a:t>
            </a:r>
            <a:r>
              <a:rPr lang="en-IN" sz="2000" b="0" i="1" u="none" strike="noStrike" dirty="0">
                <a:effectLst/>
                <a:latin typeface="Google Sans"/>
              </a:rPr>
              <a:t>left</a:t>
            </a:r>
            <a:r>
              <a:rPr lang="en-IN" sz="2000" b="0" u="none" strike="noStrike" dirty="0">
                <a:effectLst/>
                <a:latin typeface="Google Sans"/>
              </a:rPr>
              <a:t> child.</a:t>
            </a:r>
          </a:p>
          <a:p>
            <a:pPr marL="800100" marR="0" lvl="1" indent="-342900" algn="just">
              <a:spcBef>
                <a:spcPts val="900"/>
              </a:spcBef>
              <a:spcAft>
                <a:spcPts val="900"/>
              </a:spcAft>
              <a:buFont typeface="Arial" panose="020B0604020202020204" pitchFamily="34" charset="0"/>
              <a:buChar char="•"/>
            </a:pPr>
            <a:r>
              <a:rPr lang="en-IN" sz="2000" b="1" u="none" strike="noStrike" dirty="0">
                <a:effectLst/>
                <a:latin typeface="Google Sans"/>
              </a:rPr>
              <a:t>How to fix</a:t>
            </a:r>
            <a:r>
              <a:rPr lang="en-IN" sz="2000" b="0" u="none" strike="noStrike" dirty="0">
                <a:effectLst/>
                <a:latin typeface="Google Sans"/>
              </a:rPr>
              <a:t>: First, perform a </a:t>
            </a:r>
            <a:r>
              <a:rPr lang="en-IN" sz="2000" b="1" u="none" strike="noStrike" dirty="0">
                <a:effectLst/>
                <a:latin typeface="Google Sans"/>
              </a:rPr>
              <a:t>Left Rotation</a:t>
            </a:r>
            <a:r>
              <a:rPr lang="en-IN" sz="2000" b="0" u="none" strike="noStrike" dirty="0">
                <a:effectLst/>
                <a:latin typeface="Google Sans"/>
              </a:rPr>
              <a:t> on the child node (</a:t>
            </a:r>
            <a:r>
              <a:rPr lang="en-IN" sz="1600" b="0" u="none" strike="noStrike" dirty="0">
                <a:effectLst/>
                <a:latin typeface="Courier New" panose="02070309020205020404" pitchFamily="49" charset="0"/>
              </a:rPr>
              <a:t>Y</a:t>
            </a:r>
            <a:r>
              <a:rPr lang="en-IN" sz="2000" b="0" u="none" strike="noStrike" dirty="0">
                <a:effectLst/>
                <a:latin typeface="Google Sans"/>
              </a:rPr>
              <a:t>), converting it into an LL imbalance. Then, perform a </a:t>
            </a:r>
            <a:r>
              <a:rPr lang="en-IN" sz="2000" b="1" u="none" strike="noStrike" dirty="0">
                <a:effectLst/>
                <a:latin typeface="Google Sans"/>
              </a:rPr>
              <a:t>Right Rotation</a:t>
            </a:r>
            <a:r>
              <a:rPr lang="en-IN" sz="2000" b="0" u="none" strike="noStrike" dirty="0">
                <a:effectLst/>
                <a:latin typeface="Google Sans"/>
              </a:rPr>
              <a:t> on the parent node (</a:t>
            </a:r>
            <a:r>
              <a:rPr lang="en-IN" sz="1600" b="0" u="none" strike="noStrike" dirty="0">
                <a:effectLst/>
                <a:latin typeface="Courier New" panose="02070309020205020404" pitchFamily="49" charset="0"/>
              </a:rPr>
              <a:t>X</a:t>
            </a:r>
            <a:r>
              <a:rPr lang="en-IN" sz="2000" b="0" u="none" strike="noStrike" dirty="0">
                <a:effectLst/>
                <a:latin typeface="Google Sans"/>
              </a:rPr>
              <a:t>) to fully balance the tree.</a:t>
            </a:r>
          </a:p>
          <a:p>
            <a:pPr marR="0" algn="just">
              <a:spcBef>
                <a:spcPts val="900"/>
              </a:spcBef>
              <a:spcAft>
                <a:spcPts val="900"/>
              </a:spcAft>
            </a:pPr>
            <a:r>
              <a:rPr lang="en-IN" sz="2000" b="1" u="none" strike="noStrike" dirty="0">
                <a:effectLst/>
                <a:latin typeface="Google Sans"/>
              </a:rPr>
              <a:t>Right-Left (RL) Rotation</a:t>
            </a:r>
            <a:r>
              <a:rPr lang="en-IN" sz="2000" b="0" u="none" strike="noStrike" dirty="0">
                <a:effectLst/>
                <a:latin typeface="Google Sans"/>
              </a:rPr>
              <a:t>:</a:t>
            </a:r>
          </a:p>
          <a:p>
            <a:pPr marL="800100" marR="0" lvl="1" indent="-342900" algn="just">
              <a:spcBef>
                <a:spcPts val="900"/>
              </a:spcBef>
              <a:spcAft>
                <a:spcPts val="900"/>
              </a:spcAft>
              <a:buFont typeface="Arial" panose="020B0604020202020204" pitchFamily="34" charset="0"/>
              <a:buChar char="•"/>
            </a:pPr>
            <a:r>
              <a:rPr lang="en-IN" sz="2000" b="1" u="none" strike="noStrike" dirty="0">
                <a:effectLst/>
                <a:latin typeface="Google Sans"/>
              </a:rPr>
              <a:t>When it occurs</a:t>
            </a:r>
            <a:r>
              <a:rPr lang="en-IN" sz="2000" b="0" u="none" strike="noStrike" dirty="0">
                <a:effectLst/>
                <a:latin typeface="Google Sans"/>
              </a:rPr>
              <a:t>: A node is inserted into the </a:t>
            </a:r>
            <a:r>
              <a:rPr lang="en-IN" sz="2000" b="0" i="1" u="none" strike="noStrike" dirty="0">
                <a:effectLst/>
                <a:latin typeface="Google Sans"/>
              </a:rPr>
              <a:t>left</a:t>
            </a:r>
            <a:r>
              <a:rPr lang="en-IN" sz="2000" b="0" u="none" strike="noStrike" dirty="0">
                <a:effectLst/>
                <a:latin typeface="Google Sans"/>
              </a:rPr>
              <a:t> subtree of a </a:t>
            </a:r>
            <a:r>
              <a:rPr lang="en-IN" sz="2000" b="0" i="1" u="none" strike="noStrike" dirty="0">
                <a:effectLst/>
                <a:latin typeface="Google Sans"/>
              </a:rPr>
              <a:t>right</a:t>
            </a:r>
            <a:r>
              <a:rPr lang="en-IN" sz="2000" b="0" u="none" strike="noStrike" dirty="0">
                <a:effectLst/>
                <a:latin typeface="Google Sans"/>
              </a:rPr>
              <a:t> child.</a:t>
            </a:r>
          </a:p>
          <a:p>
            <a:pPr marL="800100" marR="0" lvl="1" indent="-342900" algn="just">
              <a:spcBef>
                <a:spcPts val="900"/>
              </a:spcBef>
              <a:spcAft>
                <a:spcPts val="900"/>
              </a:spcAft>
              <a:buFont typeface="Arial" panose="020B0604020202020204" pitchFamily="34" charset="0"/>
              <a:buChar char="•"/>
            </a:pPr>
            <a:r>
              <a:rPr lang="en-IN" sz="2000" b="1" u="none" strike="noStrike" dirty="0">
                <a:effectLst/>
                <a:latin typeface="Google Sans"/>
              </a:rPr>
              <a:t>How to fix</a:t>
            </a:r>
            <a:r>
              <a:rPr lang="en-IN" sz="2000" b="0" u="none" strike="noStrike" dirty="0">
                <a:effectLst/>
                <a:latin typeface="Google Sans"/>
              </a:rPr>
              <a:t>: First, perform a </a:t>
            </a:r>
            <a:r>
              <a:rPr lang="en-IN" sz="2000" b="1" u="none" strike="noStrike" dirty="0">
                <a:effectLst/>
                <a:latin typeface="Google Sans"/>
              </a:rPr>
              <a:t>Right Rotation</a:t>
            </a:r>
            <a:r>
              <a:rPr lang="en-IN" sz="2000" b="0" u="none" strike="noStrike" dirty="0">
                <a:effectLst/>
                <a:latin typeface="Google Sans"/>
              </a:rPr>
              <a:t> on the child node (</a:t>
            </a:r>
            <a:r>
              <a:rPr lang="en-IN" sz="1600" b="0" u="none" strike="noStrike" dirty="0">
                <a:effectLst/>
                <a:latin typeface="Courier New" panose="02070309020205020404" pitchFamily="49" charset="0"/>
              </a:rPr>
              <a:t>Y</a:t>
            </a:r>
            <a:r>
              <a:rPr lang="en-IN" sz="2000" b="0" u="none" strike="noStrike" dirty="0">
                <a:effectLst/>
                <a:latin typeface="Google Sans"/>
              </a:rPr>
              <a:t>), converting it into an RR imbalance. Then, perform a </a:t>
            </a:r>
            <a:r>
              <a:rPr lang="en-IN" sz="2000" b="1" u="none" strike="noStrike" dirty="0">
                <a:effectLst/>
                <a:latin typeface="Google Sans"/>
              </a:rPr>
              <a:t>Left Rotation</a:t>
            </a:r>
            <a:r>
              <a:rPr lang="en-IN" sz="2000" b="0" u="none" strike="noStrike" dirty="0">
                <a:effectLst/>
                <a:latin typeface="Google Sans"/>
              </a:rPr>
              <a:t> on the parent node (</a:t>
            </a:r>
            <a:r>
              <a:rPr lang="en-IN" sz="1600" b="0" u="none" strike="noStrike" dirty="0">
                <a:effectLst/>
                <a:latin typeface="Courier New" panose="02070309020205020404" pitchFamily="49" charset="0"/>
              </a:rPr>
              <a:t>X</a:t>
            </a:r>
            <a:r>
              <a:rPr lang="en-IN" sz="2000" b="0" u="none" strike="noStrike" dirty="0">
                <a:effectLst/>
                <a:latin typeface="Google Sans"/>
              </a:rPr>
              <a:t>) to fully balance the tree.</a:t>
            </a:r>
            <a:endParaRPr lang="en-IN" sz="3200" dirty="0">
              <a:latin typeface="Calibri" panose="020F0502020204030204" pitchFamily="34" charset="0"/>
            </a:endParaRPr>
          </a:p>
        </p:txBody>
      </p:sp>
      <p:sp>
        <p:nvSpPr>
          <p:cNvPr id="7" name="Title 1">
            <a:extLst>
              <a:ext uri="{FF2B5EF4-FFF2-40B4-BE49-F238E27FC236}">
                <a16:creationId xmlns:a16="http://schemas.microsoft.com/office/drawing/2014/main" id="{08BED0ED-47FB-069C-CC3D-895C62D19EF6}"/>
              </a:ext>
            </a:extLst>
          </p:cNvPr>
          <p:cNvSpPr>
            <a:spLocks noGrp="1"/>
          </p:cNvSpPr>
          <p:nvPr>
            <p:ph type="title"/>
          </p:nvPr>
        </p:nvSpPr>
        <p:spPr>
          <a:xfrm>
            <a:off x="838200" y="251816"/>
            <a:ext cx="10515600" cy="816571"/>
          </a:xfrm>
        </p:spPr>
        <p:txBody>
          <a:bodyPr>
            <a:normAutofit/>
          </a:bodyPr>
          <a:lstStyle/>
          <a:p>
            <a:r>
              <a:rPr lang="en-IN" sz="3200" b="1" dirty="0">
                <a:latin typeface="Calibri" panose="020F0502020204030204" pitchFamily="34" charset="0"/>
                <a:cs typeface="Calibri" panose="020F0502020204030204" pitchFamily="34" charset="0"/>
              </a:rPr>
              <a:t>Height-Balanced Tree or AVL Tree or Red-Black Tree</a:t>
            </a:r>
            <a:endParaRPr lang="en-IN" sz="3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1075567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Image of a graph lightbox">
            <a:extLst>
              <a:ext uri="{FF2B5EF4-FFF2-40B4-BE49-F238E27FC236}">
                <a16:creationId xmlns:a16="http://schemas.microsoft.com/office/drawing/2014/main" id="{9514AE9E-D9DD-53E1-7498-768A0533B499}"/>
              </a:ext>
            </a:extLst>
          </p:cNvPr>
          <p:cNvPicPr>
            <a:picLocks noChangeAspect="1"/>
          </p:cNvPicPr>
          <p:nvPr/>
        </p:nvPicPr>
        <p:blipFill>
          <a:blip r:embed="rId2">
            <a:extLst>
              <a:ext uri="{BEBA8EAE-BF5A-486C-A8C5-ECC9F3942E4B}">
                <a14:imgProps xmlns:a14="http://schemas.microsoft.com/office/drawing/2010/main">
                  <a14:imgLayer r:embed="rId3">
                    <a14:imgEffect>
                      <a14:saturation sat="400000"/>
                    </a14:imgEffect>
                  </a14:imgLayer>
                </a14:imgProps>
              </a:ext>
            </a:extLst>
          </a:blip>
          <a:stretch>
            <a:fillRect/>
          </a:stretch>
        </p:blipFill>
        <p:spPr>
          <a:xfrm>
            <a:off x="1126793" y="128481"/>
            <a:ext cx="9938414" cy="6601037"/>
          </a:xfrm>
          <a:prstGeom prst="rect">
            <a:avLst/>
          </a:prstGeom>
        </p:spPr>
      </p:pic>
    </p:spTree>
    <p:extLst>
      <p:ext uri="{BB962C8B-B14F-4D97-AF65-F5344CB8AC3E}">
        <p14:creationId xmlns:p14="http://schemas.microsoft.com/office/powerpoint/2010/main" val="26929216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6FA4E46-5793-589F-982E-A5E260ED788E}"/>
              </a:ext>
            </a:extLst>
          </p:cNvPr>
          <p:cNvSpPr>
            <a:spLocks noGrp="1"/>
          </p:cNvSpPr>
          <p:nvPr>
            <p:ph type="sldNum" sz="quarter" idx="12"/>
          </p:nvPr>
        </p:nvSpPr>
        <p:spPr/>
        <p:txBody>
          <a:bodyPr/>
          <a:lstStyle/>
          <a:p>
            <a:fld id="{520A0C6E-EFDF-49F2-A292-CF6FBFE4B673}" type="slidenum">
              <a:rPr lang="en-IN" smtClean="0"/>
              <a:t>20</a:t>
            </a:fld>
            <a:endParaRPr lang="en-IN"/>
          </a:p>
        </p:txBody>
      </p:sp>
      <p:sp>
        <p:nvSpPr>
          <p:cNvPr id="5" name="Title 1">
            <a:extLst>
              <a:ext uri="{FF2B5EF4-FFF2-40B4-BE49-F238E27FC236}">
                <a16:creationId xmlns:a16="http://schemas.microsoft.com/office/drawing/2014/main" id="{3F05244C-72D3-E02F-42AE-F9CAA3661431}"/>
              </a:ext>
            </a:extLst>
          </p:cNvPr>
          <p:cNvSpPr txBox="1">
            <a:spLocks/>
          </p:cNvSpPr>
          <p:nvPr/>
        </p:nvSpPr>
        <p:spPr>
          <a:xfrm>
            <a:off x="370840" y="129822"/>
            <a:ext cx="10515600" cy="516647"/>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sz="3200" b="1" dirty="0">
                <a:latin typeface="Calibri" panose="020F0502020204030204" pitchFamily="34" charset="0"/>
                <a:cs typeface="Calibri" panose="020F0502020204030204" pitchFamily="34" charset="0"/>
              </a:rPr>
              <a:t>Height-Balanced Tree Insertion</a:t>
            </a:r>
            <a:endParaRPr lang="en-IN" sz="3200" dirty="0">
              <a:latin typeface="Calibri" panose="020F0502020204030204" pitchFamily="34" charset="0"/>
              <a:cs typeface="Calibri" panose="020F0502020204030204" pitchFamily="34" charset="0"/>
            </a:endParaRPr>
          </a:p>
        </p:txBody>
      </p:sp>
      <p:sp>
        <p:nvSpPr>
          <p:cNvPr id="12" name="TextBox 11">
            <a:extLst>
              <a:ext uri="{FF2B5EF4-FFF2-40B4-BE49-F238E27FC236}">
                <a16:creationId xmlns:a16="http://schemas.microsoft.com/office/drawing/2014/main" id="{97C2BBDE-83B4-D58A-6173-2B8D7BF96DD8}"/>
              </a:ext>
            </a:extLst>
          </p:cNvPr>
          <p:cNvSpPr txBox="1"/>
          <p:nvPr/>
        </p:nvSpPr>
        <p:spPr>
          <a:xfrm>
            <a:off x="339319" y="751653"/>
            <a:ext cx="4862134" cy="830997"/>
          </a:xfrm>
          <a:prstGeom prst="rect">
            <a:avLst/>
          </a:prstGeom>
          <a:noFill/>
        </p:spPr>
        <p:txBody>
          <a:bodyPr wrap="square">
            <a:spAutoFit/>
          </a:bodyPr>
          <a:lstStyle/>
          <a:p>
            <a:pPr marL="0" marR="0">
              <a:spcBef>
                <a:spcPts val="900"/>
              </a:spcBef>
              <a:spcAft>
                <a:spcPts val="1200"/>
              </a:spcAft>
              <a:buNone/>
            </a:pPr>
            <a:r>
              <a:rPr lang="en-IN" sz="2400" dirty="0">
                <a:solidFill>
                  <a:srgbClr val="FF0000"/>
                </a:solidFill>
                <a:latin typeface="Google Sans"/>
              </a:rPr>
              <a:t>C</a:t>
            </a:r>
            <a:r>
              <a:rPr lang="en-IN" sz="2400" b="0" u="none" strike="noStrike" dirty="0">
                <a:solidFill>
                  <a:srgbClr val="FF0000"/>
                </a:solidFill>
                <a:effectLst/>
                <a:latin typeface="Google Sans"/>
              </a:rPr>
              <a:t>onstruct an </a:t>
            </a:r>
            <a:r>
              <a:rPr lang="en-IN" sz="2400" b="1" u="none" strike="noStrike" dirty="0">
                <a:solidFill>
                  <a:srgbClr val="FF0000"/>
                </a:solidFill>
                <a:effectLst/>
                <a:latin typeface="Google Sans"/>
              </a:rPr>
              <a:t>AVL Tree</a:t>
            </a:r>
            <a:r>
              <a:rPr lang="en-IN" sz="2400" b="0" u="none" strike="noStrike" dirty="0">
                <a:solidFill>
                  <a:srgbClr val="FF0000"/>
                </a:solidFill>
                <a:effectLst/>
                <a:latin typeface="Google Sans"/>
              </a:rPr>
              <a:t> using the keys: </a:t>
            </a:r>
            <a:r>
              <a:rPr lang="en-IN" sz="2400" b="1" u="none" strike="noStrike" dirty="0">
                <a:solidFill>
                  <a:srgbClr val="FF0000"/>
                </a:solidFill>
                <a:effectLst/>
                <a:latin typeface="Google Sans"/>
              </a:rPr>
              <a:t>40, 20, 10, 25, 30, 22, 50</a:t>
            </a:r>
            <a:r>
              <a:rPr lang="en-IN" sz="2400" b="0" u="none" strike="noStrike" dirty="0">
                <a:solidFill>
                  <a:srgbClr val="FF0000"/>
                </a:solidFill>
                <a:effectLst/>
                <a:latin typeface="Google Sans"/>
              </a:rPr>
              <a:t>.</a:t>
            </a:r>
          </a:p>
        </p:txBody>
      </p:sp>
      <p:pic>
        <p:nvPicPr>
          <p:cNvPr id="14" name="Picture 13">
            <a:extLst>
              <a:ext uri="{FF2B5EF4-FFF2-40B4-BE49-F238E27FC236}">
                <a16:creationId xmlns:a16="http://schemas.microsoft.com/office/drawing/2014/main" id="{951EE678-B68F-0822-BFB1-A995A13BB45C}"/>
              </a:ext>
            </a:extLst>
          </p:cNvPr>
          <p:cNvPicPr>
            <a:picLocks noChangeAspect="1"/>
          </p:cNvPicPr>
          <p:nvPr/>
        </p:nvPicPr>
        <p:blipFill>
          <a:blip r:embed="rId2">
            <a:extLst>
              <a:ext uri="{BEBA8EAE-BF5A-486C-A8C5-ECC9F3942E4B}">
                <a14:imgProps xmlns:a14="http://schemas.microsoft.com/office/drawing/2010/main">
                  <a14:imgLayer r:embed="rId3">
                    <a14:imgEffect>
                      <a14:sharpenSoften amount="25000"/>
                    </a14:imgEffect>
                  </a14:imgLayer>
                </a14:imgProps>
              </a:ext>
              <a:ext uri="{28A0092B-C50C-407E-A947-70E740481C1C}">
                <a14:useLocalDpi xmlns:a14="http://schemas.microsoft.com/office/drawing/2010/main" val="0"/>
              </a:ext>
            </a:extLst>
          </a:blip>
          <a:stretch>
            <a:fillRect/>
          </a:stretch>
        </p:blipFill>
        <p:spPr>
          <a:xfrm>
            <a:off x="87204" y="1696720"/>
            <a:ext cx="5372288" cy="2875014"/>
          </a:xfrm>
          <a:prstGeom prst="rect">
            <a:avLst/>
          </a:prstGeom>
          <a:ln>
            <a:solidFill>
              <a:schemeClr val="accent1"/>
            </a:solidFill>
          </a:ln>
        </p:spPr>
      </p:pic>
      <p:sp>
        <p:nvSpPr>
          <p:cNvPr id="3" name="TextBox 2">
            <a:extLst>
              <a:ext uri="{FF2B5EF4-FFF2-40B4-BE49-F238E27FC236}">
                <a16:creationId xmlns:a16="http://schemas.microsoft.com/office/drawing/2014/main" id="{7BCFCCC9-818C-4732-8831-700D2E6A1B5A}"/>
              </a:ext>
            </a:extLst>
          </p:cNvPr>
          <p:cNvSpPr txBox="1"/>
          <p:nvPr/>
        </p:nvSpPr>
        <p:spPr>
          <a:xfrm>
            <a:off x="5540773" y="651505"/>
            <a:ext cx="6387067" cy="6132448"/>
          </a:xfrm>
          <a:prstGeom prst="rect">
            <a:avLst/>
          </a:prstGeom>
          <a:noFill/>
          <a:ln>
            <a:solidFill>
              <a:schemeClr val="accent1"/>
            </a:solidFill>
          </a:ln>
        </p:spPr>
        <p:txBody>
          <a:bodyPr wrap="square">
            <a:spAutoFit/>
          </a:bodyPr>
          <a:lstStyle/>
          <a:p>
            <a:pPr marL="0" marR="0" algn="just">
              <a:spcBef>
                <a:spcPts val="1800"/>
              </a:spcBef>
              <a:buNone/>
            </a:pPr>
            <a:r>
              <a:rPr lang="en-IN" sz="2000" b="1" u="none" strike="noStrike" dirty="0">
                <a:effectLst/>
                <a:latin typeface="Calibri" panose="020F0502020204030204" pitchFamily="34" charset="0"/>
              </a:rPr>
              <a:t>RL Imbalance at Root 20</a:t>
            </a:r>
          </a:p>
          <a:p>
            <a:pPr marL="285750" marR="0" indent="-285750" algn="just">
              <a:spcBef>
                <a:spcPts val="900"/>
              </a:spcBef>
              <a:buFont typeface="Arial" panose="020B0604020202020204" pitchFamily="34" charset="0"/>
              <a:buChar char="•"/>
            </a:pPr>
            <a:r>
              <a:rPr lang="en-IN" b="1" dirty="0">
                <a:latin typeface="Calibri" panose="020F0502020204030204" pitchFamily="34" charset="0"/>
              </a:rPr>
              <a:t> </a:t>
            </a:r>
            <a:r>
              <a:rPr lang="en-IN" b="0" u="none" strike="noStrike" dirty="0">
                <a:effectLst/>
                <a:latin typeface="Calibri" panose="020F0502020204030204" pitchFamily="34" charset="0"/>
              </a:rPr>
              <a:t>After inserting </a:t>
            </a:r>
            <a:r>
              <a:rPr lang="en-IN" sz="1400" b="0" u="none" strike="noStrike" dirty="0">
                <a:effectLst/>
                <a:latin typeface="Calibri" panose="020F0502020204030204" pitchFamily="34" charset="0"/>
              </a:rPr>
              <a:t>22</a:t>
            </a:r>
            <a:r>
              <a:rPr lang="en-IN" b="0" u="none" strike="noStrike" dirty="0">
                <a:effectLst/>
                <a:latin typeface="Calibri" panose="020F0502020204030204" pitchFamily="34" charset="0"/>
              </a:rPr>
              <a:t>, the root node </a:t>
            </a:r>
            <a:r>
              <a:rPr lang="en-IN" sz="1400" b="0" u="none" strike="noStrike" dirty="0">
                <a:effectLst/>
                <a:latin typeface="Calibri" panose="020F0502020204030204" pitchFamily="34" charset="0"/>
              </a:rPr>
              <a:t>20</a:t>
            </a:r>
            <a:r>
              <a:rPr lang="en-IN" b="0" u="none" strike="noStrike" dirty="0">
                <a:effectLst/>
                <a:latin typeface="Calibri" panose="020F0502020204030204" pitchFamily="34" charset="0"/>
              </a:rPr>
              <a:t> becomes imbalanced with a balance factor of </a:t>
            </a:r>
            <a:r>
              <a:rPr lang="en-IN" b="1" u="none" strike="noStrike" dirty="0">
                <a:effectLst/>
                <a:latin typeface="Calibri" panose="020F0502020204030204" pitchFamily="34" charset="0"/>
              </a:rPr>
              <a:t>-2</a:t>
            </a:r>
            <a:r>
              <a:rPr lang="en-IN" b="0" u="none" strike="noStrike" dirty="0">
                <a:effectLst/>
                <a:latin typeface="Calibri" panose="020F0502020204030204" pitchFamily="34" charset="0"/>
              </a:rPr>
              <a:t> (1 - 3 = -2).</a:t>
            </a:r>
          </a:p>
          <a:p>
            <a:pPr marL="285750" marR="0" indent="-285750" algn="just">
              <a:spcBef>
                <a:spcPts val="900"/>
              </a:spcBef>
              <a:buFont typeface="Arial" panose="020B0604020202020204" pitchFamily="34" charset="0"/>
              <a:buChar char="•"/>
            </a:pPr>
            <a:r>
              <a:rPr lang="en-IN" b="0" u="none" strike="noStrike" dirty="0">
                <a:effectLst/>
                <a:latin typeface="Calibri" panose="020F0502020204030204" pitchFamily="34" charset="0"/>
              </a:rPr>
              <a:t>A </a:t>
            </a:r>
            <a:r>
              <a:rPr lang="en-IN" b="1" u="none" strike="noStrike" dirty="0">
                <a:effectLst/>
                <a:latin typeface="Calibri" panose="020F0502020204030204" pitchFamily="34" charset="0"/>
              </a:rPr>
              <a:t>Double Right-Left (RL) Rotation</a:t>
            </a:r>
            <a:r>
              <a:rPr lang="en-IN" b="0" u="none" strike="noStrike" dirty="0">
                <a:effectLst/>
                <a:latin typeface="Calibri" panose="020F0502020204030204" pitchFamily="34" charset="0"/>
              </a:rPr>
              <a:t> is performed around nodes </a:t>
            </a:r>
            <a:r>
              <a:rPr lang="en-IN" sz="1400" b="0" u="none" strike="noStrike" dirty="0">
                <a:effectLst/>
                <a:latin typeface="Calibri" panose="020F0502020204030204" pitchFamily="34" charset="0"/>
              </a:rPr>
              <a:t>20</a:t>
            </a:r>
            <a:r>
              <a:rPr lang="en-IN" b="0" u="none" strike="noStrike" dirty="0">
                <a:effectLst/>
                <a:latin typeface="Calibri" panose="020F0502020204030204" pitchFamily="34" charset="0"/>
              </a:rPr>
              <a:t>, </a:t>
            </a:r>
            <a:r>
              <a:rPr lang="en-IN" sz="1400" b="0" u="none" strike="noStrike" dirty="0">
                <a:effectLst/>
                <a:latin typeface="Calibri" panose="020F0502020204030204" pitchFamily="34" charset="0"/>
              </a:rPr>
              <a:t>30</a:t>
            </a:r>
            <a:r>
              <a:rPr lang="en-IN" b="0" u="none" strike="noStrike" dirty="0">
                <a:effectLst/>
                <a:latin typeface="Calibri" panose="020F0502020204030204" pitchFamily="34" charset="0"/>
              </a:rPr>
              <a:t>, and </a:t>
            </a:r>
            <a:r>
              <a:rPr lang="en-IN" sz="1400" b="0" u="none" strike="noStrike" dirty="0">
                <a:effectLst/>
                <a:latin typeface="Calibri" panose="020F0502020204030204" pitchFamily="34" charset="0"/>
              </a:rPr>
              <a:t>25</a:t>
            </a:r>
            <a:r>
              <a:rPr lang="en-IN" b="0" u="none" strike="noStrike" dirty="0">
                <a:effectLst/>
                <a:latin typeface="Calibri" panose="020F0502020204030204" pitchFamily="34" charset="0"/>
              </a:rPr>
              <a:t>. Node </a:t>
            </a:r>
            <a:r>
              <a:rPr lang="en-IN" sz="1400" b="0" u="none" strike="noStrike" dirty="0">
                <a:effectLst/>
                <a:latin typeface="Calibri" panose="020F0502020204030204" pitchFamily="34" charset="0"/>
              </a:rPr>
              <a:t>25</a:t>
            </a:r>
            <a:r>
              <a:rPr lang="en-IN" b="0" u="none" strike="noStrike" dirty="0">
                <a:effectLst/>
                <a:latin typeface="Calibri" panose="020F0502020204030204" pitchFamily="34" charset="0"/>
              </a:rPr>
              <a:t> moves up to become the new root.</a:t>
            </a:r>
          </a:p>
          <a:p>
            <a:pPr marL="0" marR="0" algn="just">
              <a:spcBef>
                <a:spcPts val="1800"/>
              </a:spcBef>
              <a:buNone/>
            </a:pPr>
            <a:r>
              <a:rPr lang="en-IN" sz="2000" b="1" u="none" strike="noStrike" dirty="0">
                <a:effectLst/>
                <a:latin typeface="Calibri" panose="020F0502020204030204" pitchFamily="34" charset="0"/>
              </a:rPr>
              <a:t>RR Imbalance at Node 30 after Inserting 50</a:t>
            </a:r>
          </a:p>
          <a:p>
            <a:pPr marL="285750" marR="0" indent="-285750" algn="just">
              <a:spcBef>
                <a:spcPts val="900"/>
              </a:spcBef>
              <a:buFont typeface="Arial" panose="020B0604020202020204" pitchFamily="34" charset="0"/>
              <a:buChar char="•"/>
            </a:pPr>
            <a:r>
              <a:rPr lang="en-IN" b="0" u="none" strike="noStrike" dirty="0">
                <a:effectLst/>
                <a:latin typeface="Calibri" panose="020F0502020204030204" pitchFamily="34" charset="0"/>
              </a:rPr>
              <a:t>After the RL rotation and the insertion of </a:t>
            </a:r>
            <a:r>
              <a:rPr lang="en-IN" sz="1400" b="0" u="none" strike="noStrike" dirty="0">
                <a:effectLst/>
                <a:latin typeface="Calibri" panose="020F0502020204030204" pitchFamily="34" charset="0"/>
              </a:rPr>
              <a:t>50</a:t>
            </a:r>
            <a:r>
              <a:rPr lang="en-IN" b="0" u="none" strike="noStrike" dirty="0">
                <a:effectLst/>
                <a:latin typeface="Calibri" panose="020F0502020204030204" pitchFamily="34" charset="0"/>
              </a:rPr>
              <a:t> under </a:t>
            </a:r>
            <a:r>
              <a:rPr lang="en-IN" sz="1400" b="0" u="none" strike="noStrike" dirty="0">
                <a:effectLst/>
                <a:latin typeface="Calibri" panose="020F0502020204030204" pitchFamily="34" charset="0"/>
              </a:rPr>
              <a:t>40</a:t>
            </a:r>
            <a:r>
              <a:rPr lang="en-IN" b="0" u="none" strike="noStrike" dirty="0">
                <a:effectLst/>
                <a:latin typeface="Calibri" panose="020F0502020204030204" pitchFamily="34" charset="0"/>
              </a:rPr>
              <a:t>, we must check the balance factors again.</a:t>
            </a:r>
          </a:p>
          <a:p>
            <a:pPr marL="285750" marR="0" indent="-285750" algn="just">
              <a:spcBef>
                <a:spcPts val="900"/>
              </a:spcBef>
              <a:buFont typeface="Arial" panose="020B0604020202020204" pitchFamily="34" charset="0"/>
              <a:buChar char="•"/>
            </a:pPr>
            <a:r>
              <a:rPr lang="en-IN" b="0" u="none" strike="noStrike" dirty="0">
                <a:effectLst/>
                <a:latin typeface="Calibri" panose="020F0502020204030204" pitchFamily="34" charset="0"/>
              </a:rPr>
              <a:t>Node </a:t>
            </a:r>
            <a:r>
              <a:rPr lang="en-IN" sz="1400" b="0" u="none" strike="noStrike" dirty="0">
                <a:effectLst/>
                <a:latin typeface="Calibri" panose="020F0502020204030204" pitchFamily="34" charset="0"/>
              </a:rPr>
              <a:t>30</a:t>
            </a:r>
            <a:r>
              <a:rPr lang="en-IN" b="0" u="none" strike="noStrike" dirty="0">
                <a:effectLst/>
                <a:latin typeface="Calibri" panose="020F0502020204030204" pitchFamily="34" charset="0"/>
              </a:rPr>
              <a:t> has no left child (height 0) and a right subtree of height 2 (nodes </a:t>
            </a:r>
            <a:r>
              <a:rPr lang="en-IN" sz="1400" b="0" u="none" strike="noStrike" dirty="0">
                <a:effectLst/>
                <a:latin typeface="Calibri" panose="020F0502020204030204" pitchFamily="34" charset="0"/>
              </a:rPr>
              <a:t>40</a:t>
            </a:r>
            <a:r>
              <a:rPr lang="en-IN" b="0" u="none" strike="noStrike" dirty="0">
                <a:effectLst/>
                <a:latin typeface="Calibri" panose="020F0502020204030204" pitchFamily="34" charset="0"/>
              </a:rPr>
              <a:t> </a:t>
            </a:r>
            <a:r>
              <a:rPr lang="en-IN" dirty="0">
                <a:latin typeface="Calibri" panose="020F0502020204030204" pitchFamily="34" charset="0"/>
              </a:rPr>
              <a:t>-&gt;</a:t>
            </a:r>
            <a:r>
              <a:rPr lang="en-IN" sz="1400" b="0" u="none" strike="noStrike" dirty="0">
                <a:effectLst/>
                <a:latin typeface="Calibri" panose="020F0502020204030204" pitchFamily="34" charset="0"/>
              </a:rPr>
              <a:t>50</a:t>
            </a:r>
            <a:r>
              <a:rPr lang="en-IN" b="0" u="none" strike="noStrike" dirty="0">
                <a:effectLst/>
                <a:latin typeface="Calibri" panose="020F0502020204030204" pitchFamily="34" charset="0"/>
              </a:rPr>
              <a:t>).</a:t>
            </a:r>
          </a:p>
          <a:p>
            <a:pPr marL="285750" marR="0" indent="-285750" algn="just">
              <a:spcBef>
                <a:spcPts val="900"/>
              </a:spcBef>
              <a:buFont typeface="Arial" panose="020B0604020202020204" pitchFamily="34" charset="0"/>
              <a:buChar char="•"/>
            </a:pPr>
            <a:r>
              <a:rPr lang="en-IN" b="0" u="none" strike="noStrike" dirty="0">
                <a:effectLst/>
                <a:latin typeface="Calibri" panose="020F0502020204030204" pitchFamily="34" charset="0"/>
              </a:rPr>
              <a:t>This makes the balance factor of node </a:t>
            </a:r>
            <a:r>
              <a:rPr lang="en-IN" sz="1400" b="0" u="none" strike="noStrike" dirty="0">
                <a:effectLst/>
                <a:latin typeface="Calibri" panose="020F0502020204030204" pitchFamily="34" charset="0"/>
              </a:rPr>
              <a:t>30</a:t>
            </a:r>
            <a:r>
              <a:rPr lang="en-IN" b="0" u="none" strike="noStrike" dirty="0">
                <a:effectLst/>
                <a:latin typeface="Calibri" panose="020F0502020204030204" pitchFamily="34" charset="0"/>
              </a:rPr>
              <a:t> equal to </a:t>
            </a:r>
            <a:r>
              <a:rPr lang="en-IN" b="1" u="none" strike="noStrike" dirty="0">
                <a:effectLst/>
                <a:latin typeface="Calibri" panose="020F0502020204030204" pitchFamily="34" charset="0"/>
              </a:rPr>
              <a:t>-2</a:t>
            </a:r>
            <a:r>
              <a:rPr lang="en-IN" b="0" u="none" strike="noStrike" dirty="0">
                <a:effectLst/>
                <a:latin typeface="Calibri" panose="020F0502020204030204" pitchFamily="34" charset="0"/>
              </a:rPr>
              <a:t> (0 - 2 = -2), creating a </a:t>
            </a:r>
            <a:r>
              <a:rPr lang="en-IN" b="1" u="none" strike="noStrike" dirty="0">
                <a:effectLst/>
                <a:latin typeface="Calibri" panose="020F0502020204030204" pitchFamily="34" charset="0"/>
              </a:rPr>
              <a:t>Right-Right (RR) Imbalance</a:t>
            </a:r>
            <a:r>
              <a:rPr lang="en-IN" b="0" u="none" strike="noStrike" dirty="0">
                <a:effectLst/>
                <a:latin typeface="Calibri" panose="020F0502020204030204" pitchFamily="34" charset="0"/>
              </a:rPr>
              <a:t>.</a:t>
            </a:r>
          </a:p>
          <a:p>
            <a:pPr marL="0" marR="0" algn="just">
              <a:spcBef>
                <a:spcPts val="1800"/>
              </a:spcBef>
              <a:buNone/>
            </a:pPr>
            <a:r>
              <a:rPr lang="en-IN" sz="2000" b="1" u="none" strike="noStrike" dirty="0">
                <a:effectLst/>
                <a:latin typeface="Calibri" panose="020F0502020204030204" pitchFamily="34" charset="0"/>
              </a:rPr>
              <a:t>Final Balanced Tree</a:t>
            </a:r>
          </a:p>
          <a:p>
            <a:pPr marL="285750" marR="0" indent="-285750" algn="just">
              <a:spcBef>
                <a:spcPts val="900"/>
              </a:spcBef>
              <a:buFont typeface="Arial" panose="020B0604020202020204" pitchFamily="34" charset="0"/>
              <a:buChar char="•"/>
            </a:pPr>
            <a:r>
              <a:rPr lang="en-IN" b="0" u="none" strike="noStrike" dirty="0">
                <a:effectLst/>
                <a:latin typeface="Calibri" panose="020F0502020204030204" pitchFamily="34" charset="0"/>
              </a:rPr>
              <a:t>To resolve the RR imbalance at node </a:t>
            </a:r>
            <a:r>
              <a:rPr lang="en-IN" sz="1400" b="0" u="none" strike="noStrike" dirty="0">
                <a:effectLst/>
                <a:latin typeface="Calibri" panose="020F0502020204030204" pitchFamily="34" charset="0"/>
              </a:rPr>
              <a:t>30</a:t>
            </a:r>
            <a:r>
              <a:rPr lang="en-IN" b="0" u="none" strike="noStrike" dirty="0">
                <a:effectLst/>
                <a:latin typeface="Calibri" panose="020F0502020204030204" pitchFamily="34" charset="0"/>
              </a:rPr>
              <a:t>, a </a:t>
            </a:r>
            <a:r>
              <a:rPr lang="en-IN" b="1" u="none" strike="noStrike" dirty="0">
                <a:effectLst/>
                <a:latin typeface="Calibri" panose="020F0502020204030204" pitchFamily="34" charset="0"/>
              </a:rPr>
              <a:t>Single Left Rotation</a:t>
            </a:r>
            <a:r>
              <a:rPr lang="en-IN" b="0" u="none" strike="noStrike" dirty="0">
                <a:effectLst/>
                <a:latin typeface="Calibri" panose="020F0502020204030204" pitchFamily="34" charset="0"/>
              </a:rPr>
              <a:t> is performed at node </a:t>
            </a:r>
            <a:r>
              <a:rPr lang="en-IN" sz="1400" b="0" u="none" strike="noStrike" dirty="0">
                <a:effectLst/>
                <a:latin typeface="Calibri" panose="020F0502020204030204" pitchFamily="34" charset="0"/>
              </a:rPr>
              <a:t>30</a:t>
            </a:r>
            <a:r>
              <a:rPr lang="en-IN" b="0" u="none" strike="noStrike" dirty="0">
                <a:effectLst/>
                <a:latin typeface="Calibri" panose="020F0502020204030204" pitchFamily="34" charset="0"/>
              </a:rPr>
              <a:t>.</a:t>
            </a:r>
          </a:p>
          <a:p>
            <a:pPr marL="285750" marR="0" indent="-285750" algn="just">
              <a:spcBef>
                <a:spcPts val="900"/>
              </a:spcBef>
              <a:buFont typeface="Arial" panose="020B0604020202020204" pitchFamily="34" charset="0"/>
              <a:buChar char="•"/>
            </a:pPr>
            <a:r>
              <a:rPr lang="en-IN" b="0" u="none" strike="noStrike" dirty="0">
                <a:effectLst/>
                <a:latin typeface="Calibri" panose="020F0502020204030204" pitchFamily="34" charset="0"/>
              </a:rPr>
              <a:t>Node </a:t>
            </a:r>
            <a:r>
              <a:rPr lang="en-IN" sz="1400" b="0" u="none" strike="noStrike" dirty="0">
                <a:effectLst/>
                <a:latin typeface="Calibri" panose="020F0502020204030204" pitchFamily="34" charset="0"/>
              </a:rPr>
              <a:t>40</a:t>
            </a:r>
            <a:r>
              <a:rPr lang="en-IN" b="0" u="none" strike="noStrike" dirty="0">
                <a:effectLst/>
                <a:latin typeface="Calibri" panose="020F0502020204030204" pitchFamily="34" charset="0"/>
              </a:rPr>
              <a:t> moves up to take the place of </a:t>
            </a:r>
            <a:r>
              <a:rPr lang="en-IN" sz="1400" b="0" u="none" strike="noStrike" dirty="0">
                <a:effectLst/>
                <a:latin typeface="Calibri" panose="020F0502020204030204" pitchFamily="34" charset="0"/>
              </a:rPr>
              <a:t>30</a:t>
            </a:r>
            <a:r>
              <a:rPr lang="en-IN" b="0" u="none" strike="noStrike" dirty="0">
                <a:effectLst/>
                <a:latin typeface="Calibri" panose="020F0502020204030204" pitchFamily="34" charset="0"/>
              </a:rPr>
              <a:t>, while </a:t>
            </a:r>
            <a:r>
              <a:rPr lang="en-IN" sz="1400" b="0" u="none" strike="noStrike" dirty="0">
                <a:effectLst/>
                <a:latin typeface="Calibri" panose="020F0502020204030204" pitchFamily="34" charset="0"/>
              </a:rPr>
              <a:t>30</a:t>
            </a:r>
            <a:r>
              <a:rPr lang="en-IN" b="0" u="none" strike="noStrike" dirty="0">
                <a:effectLst/>
                <a:latin typeface="Calibri" panose="020F0502020204030204" pitchFamily="34" charset="0"/>
              </a:rPr>
              <a:t> becomes its left child.</a:t>
            </a:r>
          </a:p>
        </p:txBody>
      </p:sp>
    </p:spTree>
    <p:extLst>
      <p:ext uri="{BB962C8B-B14F-4D97-AF65-F5344CB8AC3E}">
        <p14:creationId xmlns:p14="http://schemas.microsoft.com/office/powerpoint/2010/main" val="27464003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02A92A-DB62-15B5-B60D-5E1DAFF0B38D}"/>
              </a:ext>
            </a:extLst>
          </p:cNvPr>
          <p:cNvSpPr>
            <a:spLocks noGrp="1"/>
          </p:cNvSpPr>
          <p:nvPr>
            <p:ph type="title"/>
          </p:nvPr>
        </p:nvSpPr>
        <p:spPr/>
        <p:txBody>
          <a:bodyPr/>
          <a:lstStyle/>
          <a:p>
            <a:r>
              <a:rPr lang="en-IN" dirty="0"/>
              <a:t>Algorithm: AVL Tree Insertion</a:t>
            </a:r>
          </a:p>
        </p:txBody>
      </p:sp>
      <p:sp>
        <p:nvSpPr>
          <p:cNvPr id="4" name="Slide Number Placeholder 3">
            <a:extLst>
              <a:ext uri="{FF2B5EF4-FFF2-40B4-BE49-F238E27FC236}">
                <a16:creationId xmlns:a16="http://schemas.microsoft.com/office/drawing/2014/main" id="{DBFAB2A0-8CFC-AA9C-F1BF-C2A9A5A1A4A1}"/>
              </a:ext>
            </a:extLst>
          </p:cNvPr>
          <p:cNvSpPr>
            <a:spLocks noGrp="1"/>
          </p:cNvSpPr>
          <p:nvPr>
            <p:ph type="sldNum" sz="quarter" idx="12"/>
          </p:nvPr>
        </p:nvSpPr>
        <p:spPr/>
        <p:txBody>
          <a:bodyPr/>
          <a:lstStyle/>
          <a:p>
            <a:fld id="{520A0C6E-EFDF-49F2-A292-CF6FBFE4B673}" type="slidenum">
              <a:rPr lang="en-IN" smtClean="0"/>
              <a:t>21</a:t>
            </a:fld>
            <a:endParaRPr lang="en-IN"/>
          </a:p>
        </p:txBody>
      </p:sp>
      <p:sp>
        <p:nvSpPr>
          <p:cNvPr id="8" name="TextBox 7">
            <a:extLst>
              <a:ext uri="{FF2B5EF4-FFF2-40B4-BE49-F238E27FC236}">
                <a16:creationId xmlns:a16="http://schemas.microsoft.com/office/drawing/2014/main" id="{8A35B4AD-DF34-C4B6-3C02-406354DE5325}"/>
              </a:ext>
            </a:extLst>
          </p:cNvPr>
          <p:cNvSpPr txBox="1"/>
          <p:nvPr/>
        </p:nvSpPr>
        <p:spPr>
          <a:xfrm>
            <a:off x="680720" y="1503559"/>
            <a:ext cx="5415280" cy="4619854"/>
          </a:xfrm>
          <a:prstGeom prst="rect">
            <a:avLst/>
          </a:prstGeom>
          <a:noFill/>
          <a:ln>
            <a:solidFill>
              <a:schemeClr val="accent1"/>
            </a:solidFill>
          </a:ln>
        </p:spPr>
        <p:txBody>
          <a:bodyPr wrap="square">
            <a:spAutoFit/>
          </a:bodyPr>
          <a:lstStyle/>
          <a:p>
            <a:pPr>
              <a:lnSpc>
                <a:spcPct val="150000"/>
              </a:lnSpc>
            </a:pPr>
            <a:r>
              <a:rPr lang="en-IN" dirty="0"/>
              <a:t>Algorithm Insert(Tree, x)</a:t>
            </a:r>
          </a:p>
          <a:p>
            <a:pPr>
              <a:lnSpc>
                <a:spcPct val="150000"/>
              </a:lnSpc>
            </a:pPr>
            <a:r>
              <a:rPr lang="en-IN" dirty="0"/>
              <a:t>// Inserts x into an AVL Tree. Rebalances if necessary.</a:t>
            </a:r>
          </a:p>
          <a:p>
            <a:pPr>
              <a:lnSpc>
                <a:spcPct val="150000"/>
              </a:lnSpc>
            </a:pPr>
            <a:r>
              <a:rPr lang="en-IN" dirty="0"/>
              <a:t>If Tree == NULL</a:t>
            </a:r>
          </a:p>
          <a:p>
            <a:pPr>
              <a:lnSpc>
                <a:spcPct val="150000"/>
              </a:lnSpc>
            </a:pPr>
            <a:r>
              <a:rPr lang="en-IN" dirty="0"/>
              <a:t>    Return new Node(x)</a:t>
            </a:r>
          </a:p>
          <a:p>
            <a:pPr>
              <a:lnSpc>
                <a:spcPct val="150000"/>
              </a:lnSpc>
            </a:pPr>
            <a:r>
              <a:rPr lang="en-IN" dirty="0"/>
              <a:t>If x &lt; </a:t>
            </a:r>
            <a:r>
              <a:rPr lang="en-IN" dirty="0" err="1"/>
              <a:t>Tree.data</a:t>
            </a:r>
            <a:endParaRPr lang="en-IN" dirty="0"/>
          </a:p>
          <a:p>
            <a:pPr>
              <a:lnSpc>
                <a:spcPct val="150000"/>
              </a:lnSpc>
            </a:pPr>
            <a:r>
              <a:rPr lang="en-IN" dirty="0"/>
              <a:t>    </a:t>
            </a:r>
            <a:r>
              <a:rPr lang="en-IN" dirty="0" err="1"/>
              <a:t>Tree.leftChild</a:t>
            </a:r>
            <a:r>
              <a:rPr lang="en-IN" dirty="0"/>
              <a:t> = Insert(</a:t>
            </a:r>
            <a:r>
              <a:rPr lang="en-IN" dirty="0" err="1"/>
              <a:t>Tree.leftChild</a:t>
            </a:r>
            <a:r>
              <a:rPr lang="en-IN" dirty="0"/>
              <a:t>, x)</a:t>
            </a:r>
          </a:p>
          <a:p>
            <a:pPr>
              <a:lnSpc>
                <a:spcPct val="150000"/>
              </a:lnSpc>
            </a:pPr>
            <a:r>
              <a:rPr lang="en-IN" dirty="0"/>
              <a:t>    If Height(</a:t>
            </a:r>
            <a:r>
              <a:rPr lang="en-IN" dirty="0" err="1"/>
              <a:t>Tree.leftChild</a:t>
            </a:r>
            <a:r>
              <a:rPr lang="en-IN" dirty="0"/>
              <a:t>) - Height(</a:t>
            </a:r>
            <a:r>
              <a:rPr lang="en-IN" dirty="0" err="1"/>
              <a:t>Tree.rightChild</a:t>
            </a:r>
            <a:r>
              <a:rPr lang="en-IN" dirty="0"/>
              <a:t>) == 2</a:t>
            </a:r>
          </a:p>
          <a:p>
            <a:pPr>
              <a:lnSpc>
                <a:spcPct val="150000"/>
              </a:lnSpc>
            </a:pPr>
            <a:r>
              <a:rPr lang="en-IN" dirty="0"/>
              <a:t>        If x &lt; </a:t>
            </a:r>
            <a:r>
              <a:rPr lang="en-IN" dirty="0" err="1"/>
              <a:t>Tree.leftChild.data</a:t>
            </a:r>
            <a:endParaRPr lang="en-IN" dirty="0"/>
          </a:p>
          <a:p>
            <a:pPr>
              <a:lnSpc>
                <a:spcPct val="150000"/>
              </a:lnSpc>
            </a:pPr>
            <a:r>
              <a:rPr lang="en-IN" dirty="0"/>
              <a:t>            Tree = </a:t>
            </a:r>
            <a:r>
              <a:rPr lang="en-IN" dirty="0" err="1"/>
              <a:t>LL_Rotate</a:t>
            </a:r>
            <a:r>
              <a:rPr lang="en-IN" dirty="0"/>
              <a:t>(Tree)</a:t>
            </a:r>
          </a:p>
          <a:p>
            <a:pPr>
              <a:lnSpc>
                <a:spcPct val="150000"/>
              </a:lnSpc>
            </a:pPr>
            <a:r>
              <a:rPr lang="en-IN" dirty="0"/>
              <a:t>        Else</a:t>
            </a:r>
          </a:p>
          <a:p>
            <a:pPr>
              <a:lnSpc>
                <a:spcPct val="150000"/>
              </a:lnSpc>
            </a:pPr>
            <a:r>
              <a:rPr lang="en-IN" dirty="0"/>
              <a:t>            Tree = </a:t>
            </a:r>
            <a:r>
              <a:rPr lang="en-IN" dirty="0" err="1"/>
              <a:t>LR_Rotate</a:t>
            </a:r>
            <a:r>
              <a:rPr lang="en-IN" dirty="0"/>
              <a:t>(Tree)</a:t>
            </a:r>
          </a:p>
        </p:txBody>
      </p:sp>
      <p:sp>
        <p:nvSpPr>
          <p:cNvPr id="10" name="TextBox 9">
            <a:extLst>
              <a:ext uri="{FF2B5EF4-FFF2-40B4-BE49-F238E27FC236}">
                <a16:creationId xmlns:a16="http://schemas.microsoft.com/office/drawing/2014/main" id="{99008F78-931C-4837-4FC4-6BEED40AEA89}"/>
              </a:ext>
            </a:extLst>
          </p:cNvPr>
          <p:cNvSpPr txBox="1"/>
          <p:nvPr/>
        </p:nvSpPr>
        <p:spPr>
          <a:xfrm>
            <a:off x="6167120" y="1503559"/>
            <a:ext cx="5415280" cy="4204356"/>
          </a:xfrm>
          <a:prstGeom prst="rect">
            <a:avLst/>
          </a:prstGeom>
          <a:noFill/>
          <a:ln>
            <a:solidFill>
              <a:schemeClr val="accent1"/>
            </a:solidFill>
          </a:ln>
        </p:spPr>
        <p:txBody>
          <a:bodyPr wrap="square">
            <a:spAutoFit/>
          </a:bodyPr>
          <a:lstStyle/>
          <a:p>
            <a:pPr>
              <a:lnSpc>
                <a:spcPct val="150000"/>
              </a:lnSpc>
            </a:pPr>
            <a:r>
              <a:rPr lang="en-IN" dirty="0"/>
              <a:t>Else If x &gt; </a:t>
            </a:r>
            <a:r>
              <a:rPr lang="en-IN" dirty="0" err="1"/>
              <a:t>Tree.data</a:t>
            </a:r>
            <a:endParaRPr lang="en-IN" dirty="0"/>
          </a:p>
          <a:p>
            <a:pPr>
              <a:lnSpc>
                <a:spcPct val="150000"/>
              </a:lnSpc>
            </a:pPr>
            <a:r>
              <a:rPr lang="en-IN" dirty="0"/>
              <a:t>    </a:t>
            </a:r>
            <a:r>
              <a:rPr lang="en-IN" dirty="0" err="1"/>
              <a:t>Tree.rightChild</a:t>
            </a:r>
            <a:r>
              <a:rPr lang="en-IN" dirty="0"/>
              <a:t> = Insert(</a:t>
            </a:r>
            <a:r>
              <a:rPr lang="en-IN" dirty="0" err="1"/>
              <a:t>Tree.rightChild</a:t>
            </a:r>
            <a:r>
              <a:rPr lang="en-IN" dirty="0"/>
              <a:t>, x)</a:t>
            </a:r>
          </a:p>
          <a:p>
            <a:pPr>
              <a:lnSpc>
                <a:spcPct val="150000"/>
              </a:lnSpc>
            </a:pPr>
            <a:r>
              <a:rPr lang="en-IN" dirty="0"/>
              <a:t>    If Height(</a:t>
            </a:r>
            <a:r>
              <a:rPr lang="en-IN" dirty="0" err="1"/>
              <a:t>Tree.rightChild</a:t>
            </a:r>
            <a:r>
              <a:rPr lang="en-IN" dirty="0"/>
              <a:t>) - Height(</a:t>
            </a:r>
            <a:r>
              <a:rPr lang="en-IN" dirty="0" err="1"/>
              <a:t>Tree.leftChild</a:t>
            </a:r>
            <a:r>
              <a:rPr lang="en-IN" dirty="0"/>
              <a:t>) == 2</a:t>
            </a:r>
          </a:p>
          <a:p>
            <a:pPr>
              <a:lnSpc>
                <a:spcPct val="150000"/>
              </a:lnSpc>
            </a:pPr>
            <a:r>
              <a:rPr lang="en-IN" dirty="0"/>
              <a:t>        If x &gt; </a:t>
            </a:r>
            <a:r>
              <a:rPr lang="en-IN" dirty="0" err="1"/>
              <a:t>Tree.rightChild.data</a:t>
            </a:r>
            <a:endParaRPr lang="en-IN" dirty="0"/>
          </a:p>
          <a:p>
            <a:pPr>
              <a:lnSpc>
                <a:spcPct val="150000"/>
              </a:lnSpc>
            </a:pPr>
            <a:r>
              <a:rPr lang="en-IN" dirty="0"/>
              <a:t>            Tree = </a:t>
            </a:r>
            <a:r>
              <a:rPr lang="en-IN" dirty="0" err="1"/>
              <a:t>RR_Rotate</a:t>
            </a:r>
            <a:r>
              <a:rPr lang="en-IN" dirty="0"/>
              <a:t>(Tree)</a:t>
            </a:r>
          </a:p>
          <a:p>
            <a:pPr>
              <a:lnSpc>
                <a:spcPct val="150000"/>
              </a:lnSpc>
            </a:pPr>
            <a:r>
              <a:rPr lang="en-IN" dirty="0"/>
              <a:t>        Else</a:t>
            </a:r>
          </a:p>
          <a:p>
            <a:pPr>
              <a:lnSpc>
                <a:spcPct val="150000"/>
              </a:lnSpc>
            </a:pPr>
            <a:r>
              <a:rPr lang="en-IN" dirty="0"/>
              <a:t>            Tree = </a:t>
            </a:r>
            <a:r>
              <a:rPr lang="en-IN" dirty="0" err="1"/>
              <a:t>RL_Rotate</a:t>
            </a:r>
            <a:r>
              <a:rPr lang="en-IN" dirty="0"/>
              <a:t>(Tree)</a:t>
            </a:r>
          </a:p>
          <a:p>
            <a:pPr>
              <a:lnSpc>
                <a:spcPct val="150000"/>
              </a:lnSpc>
            </a:pPr>
            <a:r>
              <a:rPr lang="en-IN" dirty="0" err="1"/>
              <a:t>Tree.height</a:t>
            </a:r>
            <a:r>
              <a:rPr lang="en-IN" dirty="0"/>
              <a:t> = Max(Height(</a:t>
            </a:r>
            <a:r>
              <a:rPr lang="en-IN" dirty="0" err="1"/>
              <a:t>Tree.leftChild</a:t>
            </a:r>
            <a:r>
              <a:rPr lang="en-IN" dirty="0"/>
              <a:t>), Height(</a:t>
            </a:r>
            <a:r>
              <a:rPr lang="en-IN" dirty="0" err="1"/>
              <a:t>Tree.rightChild</a:t>
            </a:r>
            <a:r>
              <a:rPr lang="en-IN" dirty="0"/>
              <a:t>)) + 1</a:t>
            </a:r>
          </a:p>
          <a:p>
            <a:pPr>
              <a:lnSpc>
                <a:spcPct val="150000"/>
              </a:lnSpc>
            </a:pPr>
            <a:r>
              <a:rPr lang="en-IN" dirty="0"/>
              <a:t>Return Tree</a:t>
            </a:r>
          </a:p>
        </p:txBody>
      </p:sp>
    </p:spTree>
    <p:extLst>
      <p:ext uri="{BB962C8B-B14F-4D97-AF65-F5344CB8AC3E}">
        <p14:creationId xmlns:p14="http://schemas.microsoft.com/office/powerpoint/2010/main" val="7133204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B515CCA-4B8F-3A4D-E17A-BB56EFAC7FAD}"/>
              </a:ext>
            </a:extLst>
          </p:cNvPr>
          <p:cNvSpPr>
            <a:spLocks noGrp="1"/>
          </p:cNvSpPr>
          <p:nvPr>
            <p:ph type="sldNum" sz="quarter" idx="12"/>
          </p:nvPr>
        </p:nvSpPr>
        <p:spPr/>
        <p:txBody>
          <a:bodyPr/>
          <a:lstStyle/>
          <a:p>
            <a:fld id="{520A0C6E-EFDF-49F2-A292-CF6FBFE4B673}" type="slidenum">
              <a:rPr lang="en-IN" smtClean="0"/>
              <a:t>22</a:t>
            </a:fld>
            <a:endParaRPr lang="en-IN"/>
          </a:p>
        </p:txBody>
      </p:sp>
      <p:sp>
        <p:nvSpPr>
          <p:cNvPr id="6" name="Title 1">
            <a:extLst>
              <a:ext uri="{FF2B5EF4-FFF2-40B4-BE49-F238E27FC236}">
                <a16:creationId xmlns:a16="http://schemas.microsoft.com/office/drawing/2014/main" id="{08727928-5615-DB68-AA31-79514E7B5A22}"/>
              </a:ext>
            </a:extLst>
          </p:cNvPr>
          <p:cNvSpPr txBox="1">
            <a:spLocks noGrp="1"/>
          </p:cNvSpPr>
          <p:nvPr>
            <p:ph type="title"/>
          </p:nvPr>
        </p:nvSpPr>
        <p:spPr>
          <a:xfrm>
            <a:off x="365818" y="103044"/>
            <a:ext cx="10515600" cy="55224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sz="2800" b="1" dirty="0">
                <a:latin typeface="Calibri" panose="020F0502020204030204" pitchFamily="34" charset="0"/>
                <a:cs typeface="Calibri" panose="020F0502020204030204" pitchFamily="34" charset="0"/>
              </a:rPr>
              <a:t>Height-Balanced Tree Deletion</a:t>
            </a:r>
            <a:endParaRPr lang="en-IN" sz="2800" dirty="0">
              <a:latin typeface="Calibri" panose="020F0502020204030204" pitchFamily="34" charset="0"/>
              <a:cs typeface="Calibri" panose="020F0502020204030204" pitchFamily="34" charset="0"/>
            </a:endParaRPr>
          </a:p>
        </p:txBody>
      </p:sp>
      <p:pic>
        <p:nvPicPr>
          <p:cNvPr id="10" name="Picture 9">
            <a:extLst>
              <a:ext uri="{FF2B5EF4-FFF2-40B4-BE49-F238E27FC236}">
                <a16:creationId xmlns:a16="http://schemas.microsoft.com/office/drawing/2014/main" id="{9D3A5E86-8E66-9F15-1DFE-895DE8E2C70E}"/>
              </a:ext>
            </a:extLst>
          </p:cNvPr>
          <p:cNvPicPr>
            <a:picLocks noChangeAspect="1"/>
          </p:cNvPicPr>
          <p:nvPr/>
        </p:nvPicPr>
        <p:blipFill>
          <a:blip r:embed="rId2">
            <a:extLst>
              <a:ext uri="{BEBA8EAE-BF5A-486C-A8C5-ECC9F3942E4B}">
                <a14:imgProps xmlns:a14="http://schemas.microsoft.com/office/drawing/2010/main">
                  <a14:imgLayer r:embed="rId3">
                    <a14:imgEffect>
                      <a14:sharpenSoften amount="25000"/>
                    </a14:imgEffect>
                  </a14:imgLayer>
                </a14:imgProps>
              </a:ext>
              <a:ext uri="{28A0092B-C50C-407E-A947-70E740481C1C}">
                <a14:useLocalDpi xmlns:a14="http://schemas.microsoft.com/office/drawing/2010/main" val="0"/>
              </a:ext>
            </a:extLst>
          </a:blip>
          <a:srcRect l="70689" t="15407" r="3823" b="30798"/>
          <a:stretch>
            <a:fillRect/>
          </a:stretch>
        </p:blipFill>
        <p:spPr>
          <a:xfrm>
            <a:off x="6578658" y="3862547"/>
            <a:ext cx="2031942" cy="2295071"/>
          </a:xfrm>
          <a:prstGeom prst="rect">
            <a:avLst/>
          </a:prstGeom>
          <a:ln>
            <a:solidFill>
              <a:schemeClr val="accent1"/>
            </a:solidFill>
          </a:ln>
        </p:spPr>
      </p:pic>
      <p:sp>
        <p:nvSpPr>
          <p:cNvPr id="12" name="TextBox 11">
            <a:extLst>
              <a:ext uri="{FF2B5EF4-FFF2-40B4-BE49-F238E27FC236}">
                <a16:creationId xmlns:a16="http://schemas.microsoft.com/office/drawing/2014/main" id="{E0DBA54C-8C0F-364E-930F-06C2A2C7003F}"/>
              </a:ext>
            </a:extLst>
          </p:cNvPr>
          <p:cNvSpPr txBox="1"/>
          <p:nvPr/>
        </p:nvSpPr>
        <p:spPr>
          <a:xfrm>
            <a:off x="497898" y="1293989"/>
            <a:ext cx="5750502" cy="5262979"/>
          </a:xfrm>
          <a:prstGeom prst="rect">
            <a:avLst/>
          </a:prstGeom>
          <a:noFill/>
          <a:ln>
            <a:noFill/>
          </a:ln>
        </p:spPr>
        <p:txBody>
          <a:bodyPr wrap="square">
            <a:spAutoFit/>
          </a:bodyPr>
          <a:lstStyle/>
          <a:p>
            <a:pPr marL="0" marR="0" algn="just">
              <a:spcBef>
                <a:spcPts val="1800"/>
              </a:spcBef>
              <a:spcAft>
                <a:spcPts val="900"/>
              </a:spcAft>
              <a:buNone/>
            </a:pPr>
            <a:r>
              <a:rPr lang="en-IN" sz="1600" b="1" u="none" strike="noStrike" dirty="0">
                <a:effectLst/>
                <a:latin typeface="Google Sans"/>
              </a:rPr>
              <a:t>Find the Substitute (</a:t>
            </a:r>
            <a:r>
              <a:rPr lang="en-IN" sz="1600" b="1" u="none" strike="noStrike" dirty="0" err="1">
                <a:effectLst/>
                <a:latin typeface="Google Sans"/>
              </a:rPr>
              <a:t>Inorder</a:t>
            </a:r>
            <a:r>
              <a:rPr lang="en-IN" sz="1600" b="1" u="none" strike="noStrike" dirty="0">
                <a:effectLst/>
                <a:latin typeface="Google Sans"/>
              </a:rPr>
              <a:t> Successor)</a:t>
            </a:r>
          </a:p>
          <a:p>
            <a:pPr marL="0" marR="0" algn="just">
              <a:spcBef>
                <a:spcPts val="900"/>
              </a:spcBef>
              <a:spcAft>
                <a:spcPts val="1200"/>
              </a:spcAft>
              <a:buNone/>
            </a:pPr>
            <a:r>
              <a:rPr lang="en-IN" sz="1400" b="0" u="none" strike="noStrike" dirty="0">
                <a:effectLst/>
                <a:latin typeface="Google Sans"/>
              </a:rPr>
              <a:t>Since </a:t>
            </a:r>
            <a:r>
              <a:rPr lang="en-IN" sz="1400" b="1" u="none" strike="noStrike" dirty="0">
                <a:effectLst/>
                <a:latin typeface="Google Sans"/>
              </a:rPr>
              <a:t>25</a:t>
            </a:r>
            <a:r>
              <a:rPr lang="en-IN" sz="1400" b="0" u="none" strike="noStrike" dirty="0">
                <a:effectLst/>
                <a:latin typeface="Google Sans"/>
              </a:rPr>
              <a:t> has two children, we cannot just delete it. We must replace it with either its </a:t>
            </a:r>
            <a:r>
              <a:rPr lang="en-IN" sz="1400" b="0" i="1" u="none" strike="noStrike" dirty="0" err="1">
                <a:effectLst/>
                <a:latin typeface="Google Sans"/>
              </a:rPr>
              <a:t>Inorder</a:t>
            </a:r>
            <a:r>
              <a:rPr lang="en-IN" sz="1400" b="0" i="1" u="none" strike="noStrike" dirty="0">
                <a:effectLst/>
                <a:latin typeface="Google Sans"/>
              </a:rPr>
              <a:t> Predecessor</a:t>
            </a:r>
            <a:r>
              <a:rPr lang="en-IN" sz="1400" b="0" u="none" strike="noStrike" dirty="0">
                <a:effectLst/>
                <a:latin typeface="Google Sans"/>
              </a:rPr>
              <a:t> (largest value in the left subtree) or its </a:t>
            </a:r>
            <a:r>
              <a:rPr lang="en-IN" sz="1400" b="0" i="1" u="none" strike="noStrike" dirty="0" err="1">
                <a:effectLst/>
                <a:latin typeface="Google Sans"/>
              </a:rPr>
              <a:t>Inorder</a:t>
            </a:r>
            <a:r>
              <a:rPr lang="en-IN" sz="1400" b="0" i="1" u="none" strike="noStrike" dirty="0">
                <a:effectLst/>
                <a:latin typeface="Google Sans"/>
              </a:rPr>
              <a:t> Successor</a:t>
            </a:r>
            <a:r>
              <a:rPr lang="en-IN" sz="1400" b="0" u="none" strike="noStrike" dirty="0">
                <a:effectLst/>
                <a:latin typeface="Google Sans"/>
              </a:rPr>
              <a:t> (smallest value in the right subtree).</a:t>
            </a:r>
          </a:p>
          <a:p>
            <a:pPr marL="0" marR="0" algn="just">
              <a:spcBef>
                <a:spcPts val="900"/>
              </a:spcBef>
              <a:spcAft>
                <a:spcPts val="1200"/>
              </a:spcAft>
              <a:buNone/>
            </a:pPr>
            <a:r>
              <a:rPr lang="en-IN" sz="1400" b="0" u="none" strike="noStrike" dirty="0">
                <a:effectLst/>
                <a:latin typeface="Google Sans"/>
              </a:rPr>
              <a:t>Let's choose the </a:t>
            </a:r>
            <a:r>
              <a:rPr lang="en-IN" sz="1400" b="1" u="none" strike="noStrike" dirty="0" err="1">
                <a:effectLst/>
                <a:latin typeface="Google Sans"/>
              </a:rPr>
              <a:t>Inorder</a:t>
            </a:r>
            <a:r>
              <a:rPr lang="en-IN" sz="1400" b="1" u="none" strike="noStrike" dirty="0">
                <a:effectLst/>
                <a:latin typeface="Google Sans"/>
              </a:rPr>
              <a:t> Successor</a:t>
            </a:r>
            <a:r>
              <a:rPr lang="en-IN" sz="1400" b="0" u="none" strike="noStrike" dirty="0">
                <a:effectLst/>
                <a:latin typeface="Google Sans"/>
              </a:rPr>
              <a:t>:</a:t>
            </a:r>
          </a:p>
          <a:p>
            <a:pPr marL="171450" marR="0" indent="-171450" algn="just">
              <a:spcBef>
                <a:spcPts val="900"/>
              </a:spcBef>
              <a:spcAft>
                <a:spcPts val="900"/>
              </a:spcAft>
              <a:buFont typeface="Arial" panose="020B0604020202020204" pitchFamily="34" charset="0"/>
              <a:buChar char="•"/>
            </a:pPr>
            <a:r>
              <a:rPr lang="en-IN" sz="1400" b="0" u="none" strike="noStrike" dirty="0">
                <a:effectLst/>
                <a:latin typeface="Google Sans"/>
              </a:rPr>
              <a:t>Go to the right child (</a:t>
            </a:r>
            <a:r>
              <a:rPr lang="en-IN" sz="1400" b="1" u="none" strike="noStrike" dirty="0">
                <a:effectLst/>
                <a:latin typeface="Google Sans"/>
              </a:rPr>
              <a:t>40</a:t>
            </a:r>
            <a:r>
              <a:rPr lang="en-IN" sz="1400" b="0" u="none" strike="noStrike" dirty="0">
                <a:effectLst/>
                <a:latin typeface="Google Sans"/>
              </a:rPr>
              <a:t>).</a:t>
            </a:r>
          </a:p>
          <a:p>
            <a:pPr marL="171450" marR="0" indent="-171450" algn="just">
              <a:spcBef>
                <a:spcPts val="900"/>
              </a:spcBef>
              <a:spcAft>
                <a:spcPts val="900"/>
              </a:spcAft>
              <a:buFont typeface="Arial" panose="020B0604020202020204" pitchFamily="34" charset="0"/>
              <a:buChar char="•"/>
            </a:pPr>
            <a:r>
              <a:rPr lang="en-IN" sz="1400" b="0" u="none" strike="noStrike" dirty="0">
                <a:effectLst/>
                <a:latin typeface="Google Sans"/>
              </a:rPr>
              <a:t>Follow the leftmost path down. The smallest value is </a:t>
            </a:r>
            <a:r>
              <a:rPr lang="en-IN" sz="1400" b="1" u="none" strike="noStrike" dirty="0">
                <a:effectLst/>
                <a:latin typeface="Google Sans"/>
              </a:rPr>
              <a:t>30</a:t>
            </a:r>
            <a:r>
              <a:rPr lang="en-IN" sz="1400" b="0" u="none" strike="noStrike" dirty="0">
                <a:effectLst/>
                <a:latin typeface="Google Sans"/>
              </a:rPr>
              <a:t>.</a:t>
            </a:r>
          </a:p>
          <a:p>
            <a:pPr>
              <a:spcBef>
                <a:spcPts val="1800"/>
              </a:spcBef>
              <a:spcAft>
                <a:spcPts val="900"/>
              </a:spcAft>
            </a:pPr>
            <a:r>
              <a:rPr lang="en-IN" sz="1600" b="1" dirty="0">
                <a:latin typeface="Google Sans"/>
              </a:rPr>
              <a:t>Check Balance Factors (BF)</a:t>
            </a:r>
          </a:p>
          <a:p>
            <a:pPr>
              <a:spcBef>
                <a:spcPts val="900"/>
              </a:spcBef>
              <a:spcAft>
                <a:spcPts val="1200"/>
              </a:spcAft>
            </a:pPr>
            <a:r>
              <a:rPr lang="en-IN" sz="1400" dirty="0">
                <a:latin typeface="Google Sans"/>
              </a:rPr>
              <a:t>We now calculate the Balance Factors from the bottom up, starting from where node 30 was removed:</a:t>
            </a:r>
          </a:p>
          <a:p>
            <a:pPr marL="285750" indent="-285750">
              <a:spcBef>
                <a:spcPts val="900"/>
              </a:spcBef>
              <a:spcAft>
                <a:spcPts val="900"/>
              </a:spcAft>
              <a:buFont typeface="Arial" panose="020B0604020202020204" pitchFamily="34" charset="0"/>
              <a:buChar char="•"/>
            </a:pPr>
            <a:r>
              <a:rPr lang="en-IN" sz="1400" b="1" dirty="0">
                <a:latin typeface="Google Sans"/>
              </a:rPr>
              <a:t>Node 50</a:t>
            </a:r>
            <a:r>
              <a:rPr lang="en-IN" sz="1400" dirty="0">
                <a:latin typeface="Google Sans"/>
              </a:rPr>
              <a:t>: Has no children. BF=0-0=0</a:t>
            </a:r>
          </a:p>
          <a:p>
            <a:pPr marL="285750" indent="-285750">
              <a:spcBef>
                <a:spcPts val="900"/>
              </a:spcBef>
              <a:spcAft>
                <a:spcPts val="900"/>
              </a:spcAft>
              <a:buFont typeface="Arial" panose="020B0604020202020204" pitchFamily="34" charset="0"/>
              <a:buChar char="•"/>
            </a:pPr>
            <a:r>
              <a:rPr lang="en-IN" sz="1400" b="1" dirty="0">
                <a:latin typeface="Google Sans"/>
              </a:rPr>
              <a:t>Node 40</a:t>
            </a:r>
            <a:r>
              <a:rPr lang="en-IN" sz="1400" dirty="0">
                <a:latin typeface="Google Sans"/>
              </a:rPr>
              <a:t>: Left height = 0, Right height = 1 (node 50).  BF=0-1=-1</a:t>
            </a:r>
          </a:p>
          <a:p>
            <a:pPr marL="285750" indent="-285750">
              <a:spcBef>
                <a:spcPts val="900"/>
              </a:spcBef>
              <a:spcAft>
                <a:spcPts val="900"/>
              </a:spcAft>
              <a:buFont typeface="Arial" panose="020B0604020202020204" pitchFamily="34" charset="0"/>
              <a:buChar char="•"/>
            </a:pPr>
            <a:r>
              <a:rPr lang="en-IN" sz="1400" b="1" dirty="0">
                <a:latin typeface="Google Sans"/>
              </a:rPr>
              <a:t>Node 22</a:t>
            </a:r>
            <a:r>
              <a:rPr lang="en-IN" sz="1400" dirty="0">
                <a:latin typeface="Google Sans"/>
              </a:rPr>
              <a:t>: Has no children. BF=0-0=0</a:t>
            </a:r>
          </a:p>
        </p:txBody>
      </p:sp>
      <p:sp>
        <p:nvSpPr>
          <p:cNvPr id="14" name="TextBox 13">
            <a:extLst>
              <a:ext uri="{FF2B5EF4-FFF2-40B4-BE49-F238E27FC236}">
                <a16:creationId xmlns:a16="http://schemas.microsoft.com/office/drawing/2014/main" id="{E490C892-7EBA-86DD-5CF8-D35284E085DB}"/>
              </a:ext>
            </a:extLst>
          </p:cNvPr>
          <p:cNvSpPr txBox="1"/>
          <p:nvPr/>
        </p:nvSpPr>
        <p:spPr>
          <a:xfrm>
            <a:off x="6599568" y="2447463"/>
            <a:ext cx="4495151" cy="1231106"/>
          </a:xfrm>
          <a:prstGeom prst="rect">
            <a:avLst/>
          </a:prstGeom>
          <a:noFill/>
        </p:spPr>
        <p:txBody>
          <a:bodyPr wrap="square">
            <a:spAutoFit/>
          </a:bodyPr>
          <a:lstStyle/>
          <a:p>
            <a:pPr marL="0" marR="0">
              <a:spcBef>
                <a:spcPts val="1800"/>
              </a:spcBef>
              <a:spcAft>
                <a:spcPts val="900"/>
              </a:spcAft>
              <a:buNone/>
            </a:pPr>
            <a:r>
              <a:rPr lang="en-IN" sz="1600" b="1" u="none" strike="noStrike" dirty="0">
                <a:effectLst/>
                <a:latin typeface="Google Sans"/>
              </a:rPr>
              <a:t>Replace and Remove</a:t>
            </a:r>
          </a:p>
          <a:p>
            <a:pPr marL="228600" marR="0" indent="-228600">
              <a:spcBef>
                <a:spcPts val="900"/>
              </a:spcBef>
              <a:spcAft>
                <a:spcPts val="900"/>
              </a:spcAft>
              <a:buFont typeface="+mj-lt"/>
              <a:buAutoNum type="arabicPeriod"/>
            </a:pPr>
            <a:r>
              <a:rPr lang="en-IN" sz="1400" b="0" u="none" strike="noStrike" dirty="0">
                <a:effectLst/>
                <a:latin typeface="Google Sans"/>
              </a:rPr>
              <a:t>Copy the value </a:t>
            </a:r>
            <a:r>
              <a:rPr lang="en-IN" sz="1400" b="1" u="none" strike="noStrike" dirty="0">
                <a:effectLst/>
                <a:latin typeface="Google Sans"/>
              </a:rPr>
              <a:t>30</a:t>
            </a:r>
            <a:r>
              <a:rPr lang="en-IN" sz="1400" b="0" u="none" strike="noStrike" dirty="0">
                <a:effectLst/>
                <a:latin typeface="Google Sans"/>
              </a:rPr>
              <a:t> into the root node (overwriting 25).</a:t>
            </a:r>
          </a:p>
          <a:p>
            <a:pPr marL="228600" marR="0" indent="-228600">
              <a:spcBef>
                <a:spcPts val="900"/>
              </a:spcBef>
              <a:spcAft>
                <a:spcPts val="900"/>
              </a:spcAft>
              <a:buFont typeface="+mj-lt"/>
              <a:buAutoNum type="arabicPeriod"/>
            </a:pPr>
            <a:r>
              <a:rPr lang="en-IN" sz="1400" b="0" u="none" strike="noStrike" dirty="0">
                <a:effectLst/>
                <a:latin typeface="Google Sans"/>
              </a:rPr>
              <a:t>Delete the original leaf node </a:t>
            </a:r>
            <a:r>
              <a:rPr lang="en-IN" sz="1400" b="1" u="none" strike="noStrike" dirty="0">
                <a:effectLst/>
                <a:latin typeface="Google Sans"/>
              </a:rPr>
              <a:t>30</a:t>
            </a:r>
            <a:r>
              <a:rPr lang="en-IN" sz="1400" b="0" u="none" strike="noStrike" dirty="0">
                <a:effectLst/>
                <a:latin typeface="Google Sans"/>
              </a:rPr>
              <a:t> from its old position</a:t>
            </a:r>
          </a:p>
        </p:txBody>
      </p:sp>
      <p:sp>
        <p:nvSpPr>
          <p:cNvPr id="28" name="TextBox 27">
            <a:extLst>
              <a:ext uri="{FF2B5EF4-FFF2-40B4-BE49-F238E27FC236}">
                <a16:creationId xmlns:a16="http://schemas.microsoft.com/office/drawing/2014/main" id="{93FEF3A9-ED6F-5009-C008-2052A8B1D40E}"/>
              </a:ext>
            </a:extLst>
          </p:cNvPr>
          <p:cNvSpPr txBox="1"/>
          <p:nvPr/>
        </p:nvSpPr>
        <p:spPr>
          <a:xfrm>
            <a:off x="6406529" y="1293989"/>
            <a:ext cx="5033631" cy="969496"/>
          </a:xfrm>
          <a:prstGeom prst="rect">
            <a:avLst/>
          </a:prstGeom>
          <a:noFill/>
        </p:spPr>
        <p:txBody>
          <a:bodyPr wrap="square">
            <a:spAutoFit/>
          </a:bodyPr>
          <a:lstStyle/>
          <a:p>
            <a:pPr marL="285750" marR="0" indent="-285750">
              <a:spcBef>
                <a:spcPts val="900"/>
              </a:spcBef>
              <a:spcAft>
                <a:spcPts val="900"/>
              </a:spcAft>
              <a:buFont typeface="Arial" panose="020B0604020202020204" pitchFamily="34" charset="0"/>
              <a:buChar char="•"/>
            </a:pPr>
            <a:r>
              <a:rPr lang="en-IN" sz="1400" b="1" u="none" strike="noStrike" dirty="0">
                <a:effectLst/>
                <a:latin typeface="Google Sans"/>
              </a:rPr>
              <a:t>Node 20</a:t>
            </a:r>
            <a:r>
              <a:rPr lang="en-IN" sz="1400" b="0" u="none" strike="noStrike" dirty="0">
                <a:effectLst/>
                <a:latin typeface="Google Sans"/>
              </a:rPr>
              <a:t>: Left height = 0, Right height = 1 (node 22).</a:t>
            </a:r>
            <a:r>
              <a:rPr lang="en-IN" sz="1400" dirty="0">
                <a:latin typeface="Google Sans"/>
              </a:rPr>
              <a:t> </a:t>
            </a:r>
            <a:r>
              <a:rPr lang="en-IN" sz="1400" b="0" u="none" strike="noStrike" dirty="0">
                <a:effectLst/>
                <a:latin typeface="Google Sans"/>
              </a:rPr>
              <a:t>BF=0-1=-1</a:t>
            </a:r>
          </a:p>
          <a:p>
            <a:pPr marL="285750" marR="0" indent="-285750">
              <a:spcBef>
                <a:spcPts val="900"/>
              </a:spcBef>
              <a:spcAft>
                <a:spcPts val="900"/>
              </a:spcAft>
              <a:buFont typeface="Arial" panose="020B0604020202020204" pitchFamily="34" charset="0"/>
              <a:buChar char="•"/>
            </a:pPr>
            <a:r>
              <a:rPr lang="en-IN" sz="1400" b="1" u="none" strike="noStrike" dirty="0">
                <a:effectLst/>
                <a:latin typeface="Google Sans"/>
              </a:rPr>
              <a:t>Root Node 30</a:t>
            </a:r>
            <a:r>
              <a:rPr lang="en-IN" sz="1400" b="0" u="none" strike="noStrike" dirty="0">
                <a:effectLst/>
                <a:latin typeface="Google Sans"/>
              </a:rPr>
              <a:t>: Left subtree height = 2 (path 20 </a:t>
            </a:r>
            <a:r>
              <a:rPr lang="en-IN" sz="1400" dirty="0">
                <a:latin typeface="Google Sans"/>
              </a:rPr>
              <a:t>-&gt;</a:t>
            </a:r>
            <a:r>
              <a:rPr lang="en-IN" sz="1400" b="0" u="none" strike="noStrike" dirty="0">
                <a:effectLst/>
                <a:latin typeface="Google Sans"/>
              </a:rPr>
              <a:t>22), Right subtree height = 2 (path 40 </a:t>
            </a:r>
            <a:r>
              <a:rPr lang="en-IN" sz="1400" dirty="0">
                <a:latin typeface="Google Sans"/>
              </a:rPr>
              <a:t>-&gt;</a:t>
            </a:r>
            <a:r>
              <a:rPr lang="en-IN" sz="1400" b="0" u="none" strike="noStrike" dirty="0">
                <a:effectLst/>
                <a:latin typeface="Google Sans"/>
              </a:rPr>
              <a:t> 50). BF  2-2 = 0</a:t>
            </a:r>
          </a:p>
        </p:txBody>
      </p:sp>
      <p:sp>
        <p:nvSpPr>
          <p:cNvPr id="31" name="TextBox 30">
            <a:extLst>
              <a:ext uri="{FF2B5EF4-FFF2-40B4-BE49-F238E27FC236}">
                <a16:creationId xmlns:a16="http://schemas.microsoft.com/office/drawing/2014/main" id="{00638F74-BB76-939E-90D4-DD9BF5C71420}"/>
              </a:ext>
            </a:extLst>
          </p:cNvPr>
          <p:cNvSpPr txBox="1"/>
          <p:nvPr/>
        </p:nvSpPr>
        <p:spPr>
          <a:xfrm>
            <a:off x="345498" y="655290"/>
            <a:ext cx="5496502" cy="584775"/>
          </a:xfrm>
          <a:prstGeom prst="rect">
            <a:avLst/>
          </a:prstGeom>
          <a:noFill/>
        </p:spPr>
        <p:txBody>
          <a:bodyPr wrap="square">
            <a:spAutoFit/>
          </a:bodyPr>
          <a:lstStyle/>
          <a:p>
            <a:r>
              <a:rPr lang="en-IN" sz="2000" dirty="0">
                <a:solidFill>
                  <a:srgbClr val="FF0000"/>
                </a:solidFill>
                <a:latin typeface="Calibri" panose="020F0502020204030204" pitchFamily="34" charset="0"/>
              </a:rPr>
              <a:t>delete the root key </a:t>
            </a:r>
            <a:r>
              <a:rPr lang="en-IN" sz="2000" b="1" dirty="0">
                <a:solidFill>
                  <a:srgbClr val="FF0000"/>
                </a:solidFill>
                <a:latin typeface="Calibri" panose="020F0502020204030204" pitchFamily="34" charset="0"/>
              </a:rPr>
              <a:t>25</a:t>
            </a:r>
            <a:r>
              <a:rPr lang="en-IN" sz="3200" dirty="0">
                <a:solidFill>
                  <a:srgbClr val="FF0000"/>
                </a:solidFill>
                <a:latin typeface="Calibri" panose="020F0502020204030204" pitchFamily="34" charset="0"/>
              </a:rPr>
              <a:t> </a:t>
            </a:r>
            <a:r>
              <a:rPr lang="en-IN" sz="2000" b="0" u="none" strike="noStrike" dirty="0">
                <a:solidFill>
                  <a:srgbClr val="FF0000"/>
                </a:solidFill>
                <a:effectLst/>
                <a:latin typeface="Google Sans"/>
              </a:rPr>
              <a:t>.</a:t>
            </a:r>
          </a:p>
        </p:txBody>
      </p:sp>
      <p:pic>
        <p:nvPicPr>
          <p:cNvPr id="32" name="Picture 31" descr="Image of a graph lightbox">
            <a:extLst>
              <a:ext uri="{FF2B5EF4-FFF2-40B4-BE49-F238E27FC236}">
                <a16:creationId xmlns:a16="http://schemas.microsoft.com/office/drawing/2014/main" id="{8C49AF0B-AA33-C7F4-913F-0CCE8132E052}"/>
              </a:ext>
            </a:extLst>
          </p:cNvPr>
          <p:cNvPicPr>
            <a:picLocks noChangeAspect="1"/>
          </p:cNvPicPr>
          <p:nvPr/>
        </p:nvPicPr>
        <p:blipFill>
          <a:blip r:embed="rId4">
            <a:extLst>
              <a:ext uri="{BEBA8EAE-BF5A-486C-A8C5-ECC9F3942E4B}">
                <a14:imgProps xmlns:a14="http://schemas.microsoft.com/office/drawing/2010/main">
                  <a14:imgLayer r:embed="rId5">
                    <a14:imgEffect>
                      <a14:brightnessContrast bright="40000" contrast="-40000"/>
                    </a14:imgEffect>
                  </a14:imgLayer>
                </a14:imgProps>
              </a:ext>
            </a:extLst>
          </a:blip>
          <a:stretch>
            <a:fillRect/>
          </a:stretch>
        </p:blipFill>
        <p:spPr>
          <a:xfrm>
            <a:off x="8610600" y="3877301"/>
            <a:ext cx="2847844" cy="2295070"/>
          </a:xfrm>
          <a:prstGeom prst="rect">
            <a:avLst/>
          </a:prstGeom>
        </p:spPr>
      </p:pic>
    </p:spTree>
    <p:extLst>
      <p:ext uri="{BB962C8B-B14F-4D97-AF65-F5344CB8AC3E}">
        <p14:creationId xmlns:p14="http://schemas.microsoft.com/office/powerpoint/2010/main" val="14302061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8B781C1-361B-1C5C-40A8-129C2135041E}"/>
              </a:ext>
            </a:extLst>
          </p:cNvPr>
          <p:cNvSpPr txBox="1"/>
          <p:nvPr/>
        </p:nvSpPr>
        <p:spPr>
          <a:xfrm>
            <a:off x="2804160" y="433964"/>
            <a:ext cx="6096000" cy="584775"/>
          </a:xfrm>
          <a:prstGeom prst="rect">
            <a:avLst/>
          </a:prstGeom>
          <a:noFill/>
        </p:spPr>
        <p:txBody>
          <a:bodyPr wrap="square">
            <a:spAutoFit/>
          </a:bodyPr>
          <a:lstStyle/>
          <a:p>
            <a:pPr marL="0" marR="0" indent="0" algn="ctr">
              <a:buNone/>
            </a:pPr>
            <a:r>
              <a:rPr lang="en-IN" sz="3200" b="1" i="0" dirty="0">
                <a:effectLst/>
                <a:latin typeface="Calibri" panose="020F0502020204030204" pitchFamily="34" charset="0"/>
                <a:cs typeface="Calibri" panose="020F0502020204030204" pitchFamily="34" charset="0"/>
              </a:rPr>
              <a:t>2-3 Trees</a:t>
            </a:r>
          </a:p>
        </p:txBody>
      </p:sp>
      <p:sp>
        <p:nvSpPr>
          <p:cNvPr id="5" name="TextBox 4">
            <a:extLst>
              <a:ext uri="{FF2B5EF4-FFF2-40B4-BE49-F238E27FC236}">
                <a16:creationId xmlns:a16="http://schemas.microsoft.com/office/drawing/2014/main" id="{9D086779-8B71-AB22-6F27-73456DCD1B10}"/>
              </a:ext>
            </a:extLst>
          </p:cNvPr>
          <p:cNvSpPr txBox="1"/>
          <p:nvPr/>
        </p:nvSpPr>
        <p:spPr>
          <a:xfrm>
            <a:off x="899160" y="1018739"/>
            <a:ext cx="10393680" cy="2806987"/>
          </a:xfrm>
          <a:prstGeom prst="rect">
            <a:avLst/>
          </a:prstGeom>
          <a:noFill/>
        </p:spPr>
        <p:txBody>
          <a:bodyPr wrap="square">
            <a:spAutoFit/>
          </a:bodyPr>
          <a:lstStyle/>
          <a:p>
            <a:pPr indent="0" algn="just">
              <a:lnSpc>
                <a:spcPct val="150000"/>
              </a:lnSpc>
              <a:buNone/>
            </a:pPr>
            <a:r>
              <a:rPr lang="en-IN" sz="2000" b="0" i="0" dirty="0">
                <a:effectLst/>
                <a:latin typeface="Calibri" panose="020F0502020204030204" pitchFamily="34" charset="0"/>
                <a:cs typeface="Calibri" panose="020F0502020204030204" pitchFamily="34" charset="0"/>
              </a:rPr>
              <a:t>This section presents a data structure called the 2-3 tree. The 2-3 tree is not a binary tree, but instead its shape obeys the following definition:</a:t>
            </a:r>
          </a:p>
          <a:p>
            <a:pPr indent="0" algn="just">
              <a:lnSpc>
                <a:spcPct val="150000"/>
              </a:lnSpc>
              <a:buFont typeface="+mj-lt"/>
              <a:buAutoNum type="arabicPeriod"/>
            </a:pPr>
            <a:r>
              <a:rPr lang="en-IN" sz="2000" b="0" i="0" dirty="0">
                <a:effectLst/>
                <a:latin typeface="Calibri" panose="020F0502020204030204" pitchFamily="34" charset="0"/>
                <a:cs typeface="Calibri" panose="020F0502020204030204" pitchFamily="34" charset="0"/>
              </a:rPr>
              <a:t> A node contains one or two keys.</a:t>
            </a:r>
          </a:p>
          <a:p>
            <a:pPr indent="0" algn="just">
              <a:lnSpc>
                <a:spcPct val="150000"/>
              </a:lnSpc>
              <a:buFont typeface="+mj-lt"/>
              <a:buAutoNum type="arabicPeriod"/>
            </a:pPr>
            <a:r>
              <a:rPr lang="en-IN" sz="2000" b="0" i="0" dirty="0">
                <a:effectLst/>
                <a:latin typeface="Calibri" panose="020F0502020204030204" pitchFamily="34" charset="0"/>
                <a:cs typeface="Calibri" panose="020F0502020204030204" pitchFamily="34" charset="0"/>
              </a:rPr>
              <a:t> Every internal node has either two children (if it contains one key) or three children (if it contains two keys). Hence the name.</a:t>
            </a:r>
          </a:p>
          <a:p>
            <a:pPr indent="0" algn="just">
              <a:lnSpc>
                <a:spcPct val="150000"/>
              </a:lnSpc>
              <a:buFont typeface="+mj-lt"/>
              <a:buAutoNum type="arabicPeriod"/>
            </a:pPr>
            <a:r>
              <a:rPr lang="en-IN" sz="2000" b="0" i="0" dirty="0">
                <a:effectLst/>
                <a:latin typeface="Calibri" panose="020F0502020204030204" pitchFamily="34" charset="0"/>
                <a:cs typeface="Calibri" panose="020F0502020204030204" pitchFamily="34" charset="0"/>
              </a:rPr>
              <a:t> All leaves are at the same level in the tree, so the tree is always height balanced.</a:t>
            </a:r>
          </a:p>
        </p:txBody>
      </p:sp>
      <p:pic>
        <p:nvPicPr>
          <p:cNvPr id="7" name="Picture 6">
            <a:extLst>
              <a:ext uri="{FF2B5EF4-FFF2-40B4-BE49-F238E27FC236}">
                <a16:creationId xmlns:a16="http://schemas.microsoft.com/office/drawing/2014/main" id="{8B741999-1CD7-2D3B-33BC-DDBED2517700}"/>
              </a:ext>
            </a:extLst>
          </p:cNvPr>
          <p:cNvPicPr>
            <a:picLocks noChangeAspect="1"/>
          </p:cNvPicPr>
          <p:nvPr/>
        </p:nvPicPr>
        <p:blipFill>
          <a:blip r:embed="rId2"/>
          <a:stretch>
            <a:fillRect/>
          </a:stretch>
        </p:blipFill>
        <p:spPr>
          <a:xfrm>
            <a:off x="1269297" y="4034641"/>
            <a:ext cx="9165725" cy="2686834"/>
          </a:xfrm>
          <a:prstGeom prst="rect">
            <a:avLst/>
          </a:prstGeom>
        </p:spPr>
      </p:pic>
      <p:sp>
        <p:nvSpPr>
          <p:cNvPr id="2" name="Slide Number Placeholder 1">
            <a:extLst>
              <a:ext uri="{FF2B5EF4-FFF2-40B4-BE49-F238E27FC236}">
                <a16:creationId xmlns:a16="http://schemas.microsoft.com/office/drawing/2014/main" id="{D5F100E4-B1B2-5797-7FD2-A49FE7453C4F}"/>
              </a:ext>
            </a:extLst>
          </p:cNvPr>
          <p:cNvSpPr>
            <a:spLocks noGrp="1"/>
          </p:cNvSpPr>
          <p:nvPr>
            <p:ph type="sldNum" sz="quarter" idx="12"/>
          </p:nvPr>
        </p:nvSpPr>
        <p:spPr/>
        <p:txBody>
          <a:bodyPr/>
          <a:lstStyle/>
          <a:p>
            <a:fld id="{520A0C6E-EFDF-49F2-A292-CF6FBFE4B673}" type="slidenum">
              <a:rPr lang="en-IN" smtClean="0"/>
              <a:t>23</a:t>
            </a:fld>
            <a:endParaRPr lang="en-IN"/>
          </a:p>
        </p:txBody>
      </p:sp>
    </p:spTree>
    <p:extLst>
      <p:ext uri="{BB962C8B-B14F-4D97-AF65-F5344CB8AC3E}">
        <p14:creationId xmlns:p14="http://schemas.microsoft.com/office/powerpoint/2010/main" val="14662407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B5E95E8C-B6D9-5B6C-2A51-14EA2DB9AACD}"/>
              </a:ext>
            </a:extLst>
          </p:cNvPr>
          <p:cNvSpPr txBox="1"/>
          <p:nvPr/>
        </p:nvSpPr>
        <p:spPr>
          <a:xfrm>
            <a:off x="1574800" y="311835"/>
            <a:ext cx="9042400" cy="584775"/>
          </a:xfrm>
          <a:prstGeom prst="rect">
            <a:avLst/>
          </a:prstGeom>
          <a:noFill/>
        </p:spPr>
        <p:txBody>
          <a:bodyPr wrap="square">
            <a:spAutoFit/>
          </a:bodyPr>
          <a:lstStyle/>
          <a:p>
            <a:pPr algn="ctr"/>
            <a:r>
              <a:rPr lang="en-IN" sz="3200" b="1" i="0" dirty="0">
                <a:effectLst/>
                <a:latin typeface="Calibri" panose="020F0502020204030204" pitchFamily="34" charset="0"/>
                <a:cs typeface="Calibri" panose="020F0502020204030204" pitchFamily="34" charset="0"/>
              </a:rPr>
              <a:t>Insertion into a 2-3 tree</a:t>
            </a:r>
            <a:endParaRPr lang="en-IN" sz="3200" b="1" dirty="0">
              <a:latin typeface="Calibri" panose="020F0502020204030204" pitchFamily="34" charset="0"/>
              <a:cs typeface="Calibri" panose="020F0502020204030204" pitchFamily="34" charset="0"/>
            </a:endParaRPr>
          </a:p>
        </p:txBody>
      </p:sp>
      <p:sp>
        <p:nvSpPr>
          <p:cNvPr id="11" name="TextBox 10">
            <a:extLst>
              <a:ext uri="{FF2B5EF4-FFF2-40B4-BE49-F238E27FC236}">
                <a16:creationId xmlns:a16="http://schemas.microsoft.com/office/drawing/2014/main" id="{FC1AD162-7B1C-6A92-C153-464ADD849D2C}"/>
              </a:ext>
            </a:extLst>
          </p:cNvPr>
          <p:cNvSpPr txBox="1"/>
          <p:nvPr/>
        </p:nvSpPr>
        <p:spPr>
          <a:xfrm>
            <a:off x="995680" y="1127820"/>
            <a:ext cx="10200640" cy="3903954"/>
          </a:xfrm>
          <a:prstGeom prst="rect">
            <a:avLst/>
          </a:prstGeom>
          <a:noFill/>
        </p:spPr>
        <p:txBody>
          <a:bodyPr wrap="square">
            <a:spAutoFit/>
          </a:bodyPr>
          <a:lstStyle/>
          <a:p>
            <a:pPr algn="just">
              <a:lnSpc>
                <a:spcPct val="150000"/>
              </a:lnSpc>
            </a:pPr>
            <a:r>
              <a:rPr lang="en-IN" sz="2400" b="0" i="0" dirty="0">
                <a:effectLst/>
                <a:latin typeface="Calibri" panose="020F0502020204030204" pitchFamily="34" charset="0"/>
                <a:cs typeface="Calibri" panose="020F0502020204030204" pitchFamily="34" charset="0"/>
              </a:rPr>
              <a:t>Insertion into a 2-3 tree is similar to insertion into a BST to the extent that the new record is placed in the appropriate leaf node. Unlike BST insertion, a new child is not created to hold the record being inserted, that is, the 2-3 tree does not grow downward. The first step is to find the leaf node that would contain the record if it were in the tree. If this leaf node contains only one value, then the new record can be added to that node with no further modification to the tree, as illustrated in the following visualization.</a:t>
            </a:r>
            <a:endParaRPr lang="en-IN" sz="2400" dirty="0">
              <a:latin typeface="Calibri" panose="020F0502020204030204" pitchFamily="34" charset="0"/>
              <a:cs typeface="Calibri" panose="020F0502020204030204" pitchFamily="34" charset="0"/>
            </a:endParaRPr>
          </a:p>
        </p:txBody>
      </p:sp>
      <p:sp>
        <p:nvSpPr>
          <p:cNvPr id="2" name="Slide Number Placeholder 1">
            <a:extLst>
              <a:ext uri="{FF2B5EF4-FFF2-40B4-BE49-F238E27FC236}">
                <a16:creationId xmlns:a16="http://schemas.microsoft.com/office/drawing/2014/main" id="{6E521011-A120-00DB-E708-FF848493C4C1}"/>
              </a:ext>
            </a:extLst>
          </p:cNvPr>
          <p:cNvSpPr>
            <a:spLocks noGrp="1"/>
          </p:cNvSpPr>
          <p:nvPr>
            <p:ph type="sldNum" sz="quarter" idx="12"/>
          </p:nvPr>
        </p:nvSpPr>
        <p:spPr/>
        <p:txBody>
          <a:bodyPr/>
          <a:lstStyle/>
          <a:p>
            <a:fld id="{520A0C6E-EFDF-49F2-A292-CF6FBFE4B673}" type="slidenum">
              <a:rPr lang="en-IN" smtClean="0"/>
              <a:t>24</a:t>
            </a:fld>
            <a:endParaRPr lang="en-IN"/>
          </a:p>
        </p:txBody>
      </p:sp>
    </p:spTree>
    <p:extLst>
      <p:ext uri="{BB962C8B-B14F-4D97-AF65-F5344CB8AC3E}">
        <p14:creationId xmlns:p14="http://schemas.microsoft.com/office/powerpoint/2010/main" val="674262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23530-7E1A-E740-3950-13D06BA315B4}"/>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31202976-E8A7-9C2E-B7E0-59B961B94414}"/>
              </a:ext>
            </a:extLst>
          </p:cNvPr>
          <p:cNvSpPr txBox="1"/>
          <p:nvPr/>
        </p:nvSpPr>
        <p:spPr>
          <a:xfrm>
            <a:off x="1717040" y="281355"/>
            <a:ext cx="9042400" cy="523220"/>
          </a:xfrm>
          <a:prstGeom prst="rect">
            <a:avLst/>
          </a:prstGeom>
          <a:noFill/>
        </p:spPr>
        <p:txBody>
          <a:bodyPr wrap="square">
            <a:spAutoFit/>
          </a:bodyPr>
          <a:lstStyle/>
          <a:p>
            <a:pPr algn="ctr"/>
            <a:r>
              <a:rPr lang="en-IN" sz="2800" b="1" i="0" dirty="0">
                <a:solidFill>
                  <a:srgbClr val="333333"/>
                </a:solidFill>
                <a:effectLst/>
                <a:latin typeface="Calibri" panose="020F0502020204030204" pitchFamily="34" charset="0"/>
                <a:cs typeface="Calibri" panose="020F0502020204030204" pitchFamily="34" charset="0"/>
              </a:rPr>
              <a:t>Insertion into a 2-3 tree</a:t>
            </a:r>
            <a:endParaRPr lang="en-IN" sz="2800" b="1"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04308D02-B0AD-18F4-9CE1-C6B01CE39CAA}"/>
              </a:ext>
            </a:extLst>
          </p:cNvPr>
          <p:cNvPicPr>
            <a:picLocks noChangeAspect="1"/>
          </p:cNvPicPr>
          <p:nvPr/>
        </p:nvPicPr>
        <p:blipFill>
          <a:blip r:embed="rId2">
            <a:grayscl/>
            <a:extLst>
              <a:ext uri="{28A0092B-C50C-407E-A947-70E740481C1C}">
                <a14:useLocalDpi xmlns:a14="http://schemas.microsoft.com/office/drawing/2010/main" val="0"/>
              </a:ext>
            </a:extLst>
          </a:blip>
          <a:stretch>
            <a:fillRect/>
          </a:stretch>
        </p:blipFill>
        <p:spPr>
          <a:xfrm>
            <a:off x="923925" y="1209675"/>
            <a:ext cx="10344150" cy="4438650"/>
          </a:xfrm>
          <a:prstGeom prst="rect">
            <a:avLst/>
          </a:prstGeom>
        </p:spPr>
      </p:pic>
      <p:sp>
        <p:nvSpPr>
          <p:cNvPr id="2" name="Slide Number Placeholder 1">
            <a:extLst>
              <a:ext uri="{FF2B5EF4-FFF2-40B4-BE49-F238E27FC236}">
                <a16:creationId xmlns:a16="http://schemas.microsoft.com/office/drawing/2014/main" id="{75DD6CC5-E44A-EC4D-D38F-73A0B9A1F6DE}"/>
              </a:ext>
            </a:extLst>
          </p:cNvPr>
          <p:cNvSpPr>
            <a:spLocks noGrp="1"/>
          </p:cNvSpPr>
          <p:nvPr>
            <p:ph type="sldNum" sz="quarter" idx="12"/>
          </p:nvPr>
        </p:nvSpPr>
        <p:spPr/>
        <p:txBody>
          <a:bodyPr/>
          <a:lstStyle/>
          <a:p>
            <a:fld id="{520A0C6E-EFDF-49F2-A292-CF6FBFE4B673}" type="slidenum">
              <a:rPr lang="en-IN" smtClean="0"/>
              <a:t>25</a:t>
            </a:fld>
            <a:endParaRPr lang="en-IN"/>
          </a:p>
        </p:txBody>
      </p:sp>
    </p:spTree>
    <p:extLst>
      <p:ext uri="{BB962C8B-B14F-4D97-AF65-F5344CB8AC3E}">
        <p14:creationId xmlns:p14="http://schemas.microsoft.com/office/powerpoint/2010/main" val="8270179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C3B2F99-727F-3BBC-4B62-F99A28AA009E}"/>
              </a:ext>
            </a:extLst>
          </p:cNvPr>
          <p:cNvSpPr>
            <a:spLocks noGrp="1"/>
          </p:cNvSpPr>
          <p:nvPr>
            <p:ph type="sldNum" sz="quarter" idx="12"/>
          </p:nvPr>
        </p:nvSpPr>
        <p:spPr/>
        <p:txBody>
          <a:bodyPr/>
          <a:lstStyle/>
          <a:p>
            <a:fld id="{520A0C6E-EFDF-49F2-A292-CF6FBFE4B673}" type="slidenum">
              <a:rPr lang="en-IN" smtClean="0"/>
              <a:t>26</a:t>
            </a:fld>
            <a:endParaRPr lang="en-IN"/>
          </a:p>
        </p:txBody>
      </p:sp>
      <p:sp>
        <p:nvSpPr>
          <p:cNvPr id="4" name="TextBox 3">
            <a:extLst>
              <a:ext uri="{FF2B5EF4-FFF2-40B4-BE49-F238E27FC236}">
                <a16:creationId xmlns:a16="http://schemas.microsoft.com/office/drawing/2014/main" id="{BA4B7425-E3A3-E587-6651-D8C76A7A3076}"/>
              </a:ext>
            </a:extLst>
          </p:cNvPr>
          <p:cNvSpPr txBox="1"/>
          <p:nvPr/>
        </p:nvSpPr>
        <p:spPr>
          <a:xfrm>
            <a:off x="853440" y="154327"/>
            <a:ext cx="9357360" cy="461665"/>
          </a:xfrm>
          <a:prstGeom prst="rect">
            <a:avLst/>
          </a:prstGeom>
          <a:noFill/>
        </p:spPr>
        <p:txBody>
          <a:bodyPr wrap="square">
            <a:spAutoFit/>
          </a:bodyPr>
          <a:lstStyle/>
          <a:p>
            <a:pPr marL="0" marR="0" algn="ctr">
              <a:spcBef>
                <a:spcPts val="900"/>
              </a:spcBef>
              <a:spcAft>
                <a:spcPts val="1200"/>
              </a:spcAft>
              <a:buNone/>
            </a:pPr>
            <a:r>
              <a:rPr lang="en-IN" sz="2400" dirty="0">
                <a:solidFill>
                  <a:srgbClr val="FF0000"/>
                </a:solidFill>
                <a:latin typeface="Google Sans"/>
              </a:rPr>
              <a:t>C</a:t>
            </a:r>
            <a:r>
              <a:rPr lang="en-IN" sz="2400" b="0" u="none" strike="noStrike" dirty="0">
                <a:solidFill>
                  <a:srgbClr val="FF0000"/>
                </a:solidFill>
                <a:effectLst/>
                <a:latin typeface="Google Sans"/>
              </a:rPr>
              <a:t>onstruct a </a:t>
            </a:r>
            <a:r>
              <a:rPr lang="en-IN" sz="2400" b="1" u="none" strike="noStrike" dirty="0">
                <a:solidFill>
                  <a:srgbClr val="FF0000"/>
                </a:solidFill>
                <a:effectLst/>
                <a:latin typeface="Google Sans"/>
              </a:rPr>
              <a:t>2-3 Tree</a:t>
            </a:r>
            <a:r>
              <a:rPr lang="en-IN" sz="2400" b="0" u="none" strike="noStrike" dirty="0">
                <a:solidFill>
                  <a:srgbClr val="FF0000"/>
                </a:solidFill>
                <a:effectLst/>
                <a:latin typeface="Google Sans"/>
              </a:rPr>
              <a:t> using the keys: </a:t>
            </a:r>
            <a:r>
              <a:rPr lang="en-IN" sz="2400" b="1" u="none" strike="noStrike" dirty="0">
                <a:solidFill>
                  <a:srgbClr val="FF0000"/>
                </a:solidFill>
                <a:effectLst/>
                <a:latin typeface="Google Sans"/>
              </a:rPr>
              <a:t>10, 20, 30, 40, 50, 25</a:t>
            </a:r>
            <a:r>
              <a:rPr lang="en-IN" sz="2400" b="0" u="none" strike="noStrike" dirty="0">
                <a:solidFill>
                  <a:srgbClr val="FF0000"/>
                </a:solidFill>
                <a:effectLst/>
                <a:latin typeface="Google Sans"/>
              </a:rPr>
              <a:t>.</a:t>
            </a:r>
          </a:p>
        </p:txBody>
      </p:sp>
      <p:sp>
        <p:nvSpPr>
          <p:cNvPr id="10" name="TextBox 9">
            <a:extLst>
              <a:ext uri="{FF2B5EF4-FFF2-40B4-BE49-F238E27FC236}">
                <a16:creationId xmlns:a16="http://schemas.microsoft.com/office/drawing/2014/main" id="{E6A1B1C8-A93A-B2D9-7511-3542EAC35546}"/>
              </a:ext>
            </a:extLst>
          </p:cNvPr>
          <p:cNvSpPr txBox="1"/>
          <p:nvPr/>
        </p:nvSpPr>
        <p:spPr>
          <a:xfrm>
            <a:off x="436879" y="574124"/>
            <a:ext cx="5201920" cy="1092607"/>
          </a:xfrm>
          <a:prstGeom prst="rect">
            <a:avLst/>
          </a:prstGeom>
          <a:noFill/>
        </p:spPr>
        <p:txBody>
          <a:bodyPr wrap="square">
            <a:spAutoFit/>
          </a:bodyPr>
          <a:lstStyle/>
          <a:p>
            <a:pPr marL="0" marR="0" algn="just">
              <a:spcBef>
                <a:spcPts val="1800"/>
              </a:spcBef>
              <a:spcAft>
                <a:spcPts val="900"/>
              </a:spcAft>
              <a:buNone/>
            </a:pPr>
            <a:r>
              <a:rPr lang="en-IN" b="1" u="none" strike="noStrike" dirty="0">
                <a:effectLst/>
                <a:latin typeface="Google Sans"/>
              </a:rPr>
              <a:t>Insert 10, then Insert 20</a:t>
            </a:r>
          </a:p>
          <a:p>
            <a:pPr marL="0" marR="0" algn="just">
              <a:spcBef>
                <a:spcPts val="900"/>
              </a:spcBef>
              <a:spcAft>
                <a:spcPts val="1200"/>
              </a:spcAft>
              <a:buNone/>
            </a:pPr>
            <a:r>
              <a:rPr lang="en-IN" sz="1600" b="0" u="none" strike="noStrike" dirty="0">
                <a:effectLst/>
                <a:latin typeface="Google Sans"/>
              </a:rPr>
              <a:t>Nodes can hold up to two values. Both keys fit inside the root node.</a:t>
            </a:r>
          </a:p>
        </p:txBody>
      </p:sp>
      <p:pic>
        <p:nvPicPr>
          <p:cNvPr id="11" name="Picture 10" descr="Image of a graph lightbox">
            <a:extLst>
              <a:ext uri="{FF2B5EF4-FFF2-40B4-BE49-F238E27FC236}">
                <a16:creationId xmlns:a16="http://schemas.microsoft.com/office/drawing/2014/main" id="{54343543-6BE9-8B95-847D-3E79205A0B7A}"/>
              </a:ext>
            </a:extLst>
          </p:cNvPr>
          <p:cNvPicPr>
            <a:picLocks noChangeAspect="1"/>
          </p:cNvPicPr>
          <p:nvPr/>
        </p:nvPicPr>
        <p:blipFill>
          <a:blip r:embed="rId2">
            <a:extLst>
              <a:ext uri="{BEBA8EAE-BF5A-486C-A8C5-ECC9F3942E4B}">
                <a14:imgProps xmlns:a14="http://schemas.microsoft.com/office/drawing/2010/main">
                  <a14:imgLayer r:embed="rId3">
                    <a14:imgEffect>
                      <a14:brightnessContrast bright="40000" contrast="40000"/>
                    </a14:imgEffect>
                  </a14:imgLayer>
                </a14:imgProps>
              </a:ext>
            </a:extLst>
          </a:blip>
          <a:srcRect l="33502" t="33044" r="33839" b="31976"/>
          <a:stretch>
            <a:fillRect/>
          </a:stretch>
        </p:blipFill>
        <p:spPr>
          <a:xfrm>
            <a:off x="2275840" y="1449363"/>
            <a:ext cx="904240" cy="396187"/>
          </a:xfrm>
          <a:prstGeom prst="rect">
            <a:avLst/>
          </a:prstGeom>
        </p:spPr>
      </p:pic>
      <p:sp>
        <p:nvSpPr>
          <p:cNvPr id="13" name="TextBox 12">
            <a:extLst>
              <a:ext uri="{FF2B5EF4-FFF2-40B4-BE49-F238E27FC236}">
                <a16:creationId xmlns:a16="http://schemas.microsoft.com/office/drawing/2014/main" id="{D2DA4EE8-16D2-0D57-6FF7-409E2A609537}"/>
              </a:ext>
            </a:extLst>
          </p:cNvPr>
          <p:cNvSpPr txBox="1"/>
          <p:nvPr/>
        </p:nvSpPr>
        <p:spPr>
          <a:xfrm>
            <a:off x="502918" y="1818841"/>
            <a:ext cx="5039357" cy="1338828"/>
          </a:xfrm>
          <a:prstGeom prst="rect">
            <a:avLst/>
          </a:prstGeom>
          <a:noFill/>
        </p:spPr>
        <p:txBody>
          <a:bodyPr wrap="square">
            <a:spAutoFit/>
          </a:bodyPr>
          <a:lstStyle/>
          <a:p>
            <a:pPr marL="0" marR="0" algn="just">
              <a:spcBef>
                <a:spcPts val="1800"/>
              </a:spcBef>
              <a:spcAft>
                <a:spcPts val="900"/>
              </a:spcAft>
              <a:buNone/>
            </a:pPr>
            <a:r>
              <a:rPr lang="en-IN" b="1" u="none" strike="noStrike" dirty="0">
                <a:effectLst/>
                <a:latin typeface="Google Sans"/>
              </a:rPr>
              <a:t>Insert 30</a:t>
            </a:r>
          </a:p>
          <a:p>
            <a:pPr marL="0" marR="0" algn="just">
              <a:spcBef>
                <a:spcPts val="900"/>
              </a:spcBef>
              <a:spcAft>
                <a:spcPts val="1200"/>
              </a:spcAft>
              <a:buNone/>
            </a:pPr>
            <a:r>
              <a:rPr lang="en-IN" sz="1600" b="0" u="none" strike="noStrike" dirty="0">
                <a:effectLst/>
                <a:latin typeface="Google Sans"/>
              </a:rPr>
              <a:t>Adding 30 causes an overflow </a:t>
            </a:r>
            <a:r>
              <a:rPr lang="en-IN" sz="1200" b="0" u="none" strike="noStrike" dirty="0">
                <a:effectLst/>
                <a:latin typeface="Courier New" panose="02070309020205020404" pitchFamily="49" charset="0"/>
              </a:rPr>
              <a:t>[10 | 20 | 30]</a:t>
            </a:r>
            <a:r>
              <a:rPr lang="en-IN" sz="1600" b="0" u="none" strike="noStrike" dirty="0">
                <a:effectLst/>
                <a:latin typeface="Google Sans"/>
              </a:rPr>
              <a:t>. The middle value (</a:t>
            </a:r>
            <a:r>
              <a:rPr lang="en-IN" sz="1600" b="1" u="none" strike="noStrike" dirty="0">
                <a:effectLst/>
                <a:latin typeface="Google Sans"/>
              </a:rPr>
              <a:t>20</a:t>
            </a:r>
            <a:r>
              <a:rPr lang="en-IN" sz="1600" b="0" u="none" strike="noStrike" dirty="0">
                <a:effectLst/>
                <a:latin typeface="Google Sans"/>
              </a:rPr>
              <a:t>) pushes up to become the root, splitting 10 and 30 into left and right children.</a:t>
            </a:r>
          </a:p>
        </p:txBody>
      </p:sp>
      <p:pic>
        <p:nvPicPr>
          <p:cNvPr id="14" name="Picture 13" descr="Image of a graph lightbox">
            <a:extLst>
              <a:ext uri="{FF2B5EF4-FFF2-40B4-BE49-F238E27FC236}">
                <a16:creationId xmlns:a16="http://schemas.microsoft.com/office/drawing/2014/main" id="{776EA2FB-C816-AED5-E037-B01319DC7A3E}"/>
              </a:ext>
            </a:extLst>
          </p:cNvPr>
          <p:cNvPicPr>
            <a:picLocks noChangeAspect="1"/>
          </p:cNvPicPr>
          <p:nvPr/>
        </p:nvPicPr>
        <p:blipFill>
          <a:blip r:embed="rId4">
            <a:extLst>
              <a:ext uri="{BEBA8EAE-BF5A-486C-A8C5-ECC9F3942E4B}">
                <a14:imgProps xmlns:a14="http://schemas.microsoft.com/office/drawing/2010/main">
                  <a14:imgLayer r:embed="rId5">
                    <a14:imgEffect>
                      <a14:brightnessContrast bright="40000" contrast="-40000"/>
                    </a14:imgEffect>
                  </a14:imgLayer>
                </a14:imgProps>
              </a:ext>
            </a:extLst>
          </a:blip>
          <a:srcRect l="18059" t="21572" r="17786" b="17021"/>
          <a:stretch>
            <a:fillRect/>
          </a:stretch>
        </p:blipFill>
        <p:spPr>
          <a:xfrm>
            <a:off x="2049778" y="3073544"/>
            <a:ext cx="1811021" cy="1069040"/>
          </a:xfrm>
          <a:prstGeom prst="rect">
            <a:avLst/>
          </a:prstGeom>
        </p:spPr>
      </p:pic>
      <p:sp>
        <p:nvSpPr>
          <p:cNvPr id="16" name="TextBox 15">
            <a:extLst>
              <a:ext uri="{FF2B5EF4-FFF2-40B4-BE49-F238E27FC236}">
                <a16:creationId xmlns:a16="http://schemas.microsoft.com/office/drawing/2014/main" id="{0D252D73-56A2-776E-5793-E0C31F17DBA6}"/>
              </a:ext>
            </a:extLst>
          </p:cNvPr>
          <p:cNvSpPr txBox="1"/>
          <p:nvPr/>
        </p:nvSpPr>
        <p:spPr>
          <a:xfrm>
            <a:off x="599441" y="4114452"/>
            <a:ext cx="5039358" cy="1092607"/>
          </a:xfrm>
          <a:prstGeom prst="rect">
            <a:avLst/>
          </a:prstGeom>
          <a:noFill/>
        </p:spPr>
        <p:txBody>
          <a:bodyPr wrap="square">
            <a:spAutoFit/>
          </a:bodyPr>
          <a:lstStyle/>
          <a:p>
            <a:pPr marL="0" marR="0">
              <a:spcBef>
                <a:spcPts val="1800"/>
              </a:spcBef>
              <a:spcAft>
                <a:spcPts val="900"/>
              </a:spcAft>
              <a:buNone/>
            </a:pPr>
            <a:r>
              <a:rPr lang="en-IN" b="1" u="none" strike="noStrike" dirty="0">
                <a:effectLst/>
                <a:latin typeface="Google Sans"/>
              </a:rPr>
              <a:t>Insert 40</a:t>
            </a:r>
          </a:p>
          <a:p>
            <a:pPr marL="0" marR="0">
              <a:spcBef>
                <a:spcPts val="900"/>
              </a:spcBef>
              <a:spcAft>
                <a:spcPts val="1200"/>
              </a:spcAft>
              <a:buNone/>
            </a:pPr>
            <a:r>
              <a:rPr lang="en-IN" sz="1600" b="0" u="none" strike="noStrike" dirty="0">
                <a:effectLst/>
                <a:latin typeface="Google Sans"/>
              </a:rPr>
              <a:t>Since 40 &gt; 20, it goes to the right child. The right node has room, becoming a 3-node </a:t>
            </a:r>
            <a:r>
              <a:rPr lang="en-IN" sz="1200" b="0" u="none" strike="noStrike" dirty="0">
                <a:effectLst/>
                <a:latin typeface="Courier New" panose="02070309020205020404" pitchFamily="49" charset="0"/>
              </a:rPr>
              <a:t>[30 | 40]</a:t>
            </a:r>
            <a:endParaRPr lang="en-IN" sz="1600" b="0" u="none" strike="noStrike" dirty="0">
              <a:effectLst/>
              <a:latin typeface="Google Sans"/>
            </a:endParaRPr>
          </a:p>
        </p:txBody>
      </p:sp>
      <p:pic>
        <p:nvPicPr>
          <p:cNvPr id="17" name="Picture 16" descr="Image of a graph lightbox">
            <a:extLst>
              <a:ext uri="{FF2B5EF4-FFF2-40B4-BE49-F238E27FC236}">
                <a16:creationId xmlns:a16="http://schemas.microsoft.com/office/drawing/2014/main" id="{FC9EE757-7EBA-3914-DF23-86E1E50B88A0}"/>
              </a:ext>
            </a:extLst>
          </p:cNvPr>
          <p:cNvPicPr>
            <a:picLocks noChangeAspect="1"/>
          </p:cNvPicPr>
          <p:nvPr/>
        </p:nvPicPr>
        <p: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rcRect l="18331" t="19649" r="13419" b="18820"/>
          <a:stretch>
            <a:fillRect/>
          </a:stretch>
        </p:blipFill>
        <p:spPr>
          <a:xfrm>
            <a:off x="2049778" y="5265066"/>
            <a:ext cx="2015014" cy="1120348"/>
          </a:xfrm>
          <a:prstGeom prst="rect">
            <a:avLst/>
          </a:prstGeom>
        </p:spPr>
      </p:pic>
      <p:sp>
        <p:nvSpPr>
          <p:cNvPr id="19" name="TextBox 18">
            <a:extLst>
              <a:ext uri="{FF2B5EF4-FFF2-40B4-BE49-F238E27FC236}">
                <a16:creationId xmlns:a16="http://schemas.microsoft.com/office/drawing/2014/main" id="{E58E069D-CBF4-0477-56F6-5ADEE13C6EC6}"/>
              </a:ext>
            </a:extLst>
          </p:cNvPr>
          <p:cNvSpPr txBox="1"/>
          <p:nvPr/>
        </p:nvSpPr>
        <p:spPr>
          <a:xfrm>
            <a:off x="6329683" y="656838"/>
            <a:ext cx="5359402" cy="1338828"/>
          </a:xfrm>
          <a:prstGeom prst="rect">
            <a:avLst/>
          </a:prstGeom>
          <a:noFill/>
        </p:spPr>
        <p:txBody>
          <a:bodyPr wrap="square">
            <a:spAutoFit/>
          </a:bodyPr>
          <a:lstStyle/>
          <a:p>
            <a:pPr marL="0" marR="0" algn="just">
              <a:spcBef>
                <a:spcPts val="1800"/>
              </a:spcBef>
              <a:spcAft>
                <a:spcPts val="900"/>
              </a:spcAft>
              <a:buNone/>
            </a:pPr>
            <a:r>
              <a:rPr lang="en-IN" b="1" u="none" strike="noStrike" dirty="0">
                <a:effectLst/>
                <a:latin typeface="Google Sans"/>
              </a:rPr>
              <a:t>Insert 50</a:t>
            </a:r>
          </a:p>
          <a:p>
            <a:pPr marL="0" marR="0" algn="just">
              <a:spcBef>
                <a:spcPts val="900"/>
              </a:spcBef>
              <a:spcAft>
                <a:spcPts val="1200"/>
              </a:spcAft>
              <a:buNone/>
            </a:pPr>
            <a:r>
              <a:rPr lang="en-IN" sz="1600" b="0" u="none" strike="noStrike" dirty="0">
                <a:effectLst/>
                <a:latin typeface="Google Sans"/>
              </a:rPr>
              <a:t>Adding 50 creates an overflow </a:t>
            </a:r>
            <a:r>
              <a:rPr lang="en-IN" sz="1200" b="0" u="none" strike="noStrike" dirty="0">
                <a:effectLst/>
                <a:latin typeface="Courier New" panose="02070309020205020404" pitchFamily="49" charset="0"/>
              </a:rPr>
              <a:t>[30 | 40 | 50]</a:t>
            </a:r>
            <a:r>
              <a:rPr lang="en-IN" sz="1600" b="0" u="none" strike="noStrike" dirty="0">
                <a:effectLst/>
                <a:latin typeface="Google Sans"/>
              </a:rPr>
              <a:t> on the right. The middle element (</a:t>
            </a:r>
            <a:r>
              <a:rPr lang="en-IN" sz="1600" b="1" u="none" strike="noStrike" dirty="0">
                <a:effectLst/>
                <a:latin typeface="Google Sans"/>
              </a:rPr>
              <a:t>40</a:t>
            </a:r>
            <a:r>
              <a:rPr lang="en-IN" sz="1600" b="0" u="none" strike="noStrike" dirty="0">
                <a:effectLst/>
                <a:latin typeface="Google Sans"/>
              </a:rPr>
              <a:t>) pushes up into the root node. The root becomes </a:t>
            </a:r>
            <a:r>
              <a:rPr lang="en-IN" sz="1200" b="0" u="none" strike="noStrike" dirty="0">
                <a:effectLst/>
                <a:latin typeface="Courier New" panose="02070309020205020404" pitchFamily="49" charset="0"/>
              </a:rPr>
              <a:t>[20 | 40]</a:t>
            </a:r>
            <a:r>
              <a:rPr lang="en-IN" sz="1600" b="0" u="none" strike="noStrike" dirty="0">
                <a:effectLst/>
                <a:latin typeface="Google Sans"/>
              </a:rPr>
              <a:t>, which now has 3 child branches.</a:t>
            </a:r>
          </a:p>
        </p:txBody>
      </p:sp>
      <p:pic>
        <p:nvPicPr>
          <p:cNvPr id="20" name="Picture 19" descr="Image of a graph lightbox">
            <a:extLst>
              <a:ext uri="{FF2B5EF4-FFF2-40B4-BE49-F238E27FC236}">
                <a16:creationId xmlns:a16="http://schemas.microsoft.com/office/drawing/2014/main" id="{85C1AA6B-A897-2D18-BF8E-9543FD312451}"/>
              </a:ext>
            </a:extLst>
          </p:cNvPr>
          <p:cNvPicPr>
            <a:picLocks noChangeAspect="1"/>
          </p:cNvPicPr>
          <p:nvPr/>
        </p:nvPicPr>
        <p:blipFill>
          <a:blip r:embed="rId8">
            <a:extLst>
              <a:ext uri="{BEBA8EAE-BF5A-486C-A8C5-ECC9F3942E4B}">
                <a14:imgProps xmlns:a14="http://schemas.microsoft.com/office/drawing/2010/main">
                  <a14:imgLayer r:embed="rId9">
                    <a14:imgEffect>
                      <a14:brightnessContrast bright="40000" contrast="-40000"/>
                    </a14:imgEffect>
                  </a14:imgLayer>
                </a14:imgProps>
              </a:ext>
            </a:extLst>
          </a:blip>
          <a:srcRect l="15633" t="19912" r="15267" b="16786"/>
          <a:stretch>
            <a:fillRect/>
          </a:stretch>
        </p:blipFill>
        <p:spPr>
          <a:xfrm>
            <a:off x="7600337" y="2106210"/>
            <a:ext cx="2818093" cy="1338828"/>
          </a:xfrm>
          <a:prstGeom prst="rect">
            <a:avLst/>
          </a:prstGeom>
        </p:spPr>
      </p:pic>
      <p:sp>
        <p:nvSpPr>
          <p:cNvPr id="22" name="TextBox 21">
            <a:extLst>
              <a:ext uri="{FF2B5EF4-FFF2-40B4-BE49-F238E27FC236}">
                <a16:creationId xmlns:a16="http://schemas.microsoft.com/office/drawing/2014/main" id="{AC2CFE0E-1E3D-D7AA-9F25-2C249F960A2C}"/>
              </a:ext>
            </a:extLst>
          </p:cNvPr>
          <p:cNvSpPr txBox="1"/>
          <p:nvPr/>
        </p:nvSpPr>
        <p:spPr>
          <a:xfrm>
            <a:off x="6329683" y="3445038"/>
            <a:ext cx="5359402" cy="1338828"/>
          </a:xfrm>
          <a:prstGeom prst="rect">
            <a:avLst/>
          </a:prstGeom>
          <a:noFill/>
        </p:spPr>
        <p:txBody>
          <a:bodyPr wrap="square">
            <a:spAutoFit/>
          </a:bodyPr>
          <a:lstStyle/>
          <a:p>
            <a:pPr marL="0" marR="0" algn="just">
              <a:spcBef>
                <a:spcPts val="1800"/>
              </a:spcBef>
              <a:spcAft>
                <a:spcPts val="900"/>
              </a:spcAft>
              <a:buNone/>
            </a:pPr>
            <a:r>
              <a:rPr lang="en-IN" b="1" u="none" strike="noStrike" dirty="0">
                <a:effectLst/>
                <a:latin typeface="Google Sans"/>
              </a:rPr>
              <a:t>Insert 25</a:t>
            </a:r>
          </a:p>
          <a:p>
            <a:pPr marL="0" marR="0" algn="just">
              <a:spcBef>
                <a:spcPts val="900"/>
              </a:spcBef>
              <a:spcAft>
                <a:spcPts val="1200"/>
              </a:spcAft>
              <a:buNone/>
            </a:pPr>
            <a:r>
              <a:rPr lang="en-IN" sz="1600" b="0" u="none" strike="noStrike" dirty="0">
                <a:effectLst/>
                <a:latin typeface="Google Sans"/>
              </a:rPr>
              <a:t>The value 25 is between 20 and 40, so it takes the middle path to node </a:t>
            </a:r>
            <a:r>
              <a:rPr lang="en-IN" sz="1200" b="0" u="none" strike="noStrike" dirty="0">
                <a:effectLst/>
                <a:latin typeface="Courier New" panose="02070309020205020404" pitchFamily="49" charset="0"/>
              </a:rPr>
              <a:t>[30]</a:t>
            </a:r>
            <a:r>
              <a:rPr lang="en-IN" sz="1600" b="0" u="none" strike="noStrike" dirty="0">
                <a:effectLst/>
                <a:latin typeface="Google Sans"/>
              </a:rPr>
              <a:t>. Since there is vacant space inside that node, 25 slots cleanly into place to form the final structure.</a:t>
            </a:r>
          </a:p>
        </p:txBody>
      </p:sp>
      <p:pic>
        <p:nvPicPr>
          <p:cNvPr id="23" name="Picture 22" descr="Image of a graph lightbox">
            <a:extLst>
              <a:ext uri="{FF2B5EF4-FFF2-40B4-BE49-F238E27FC236}">
                <a16:creationId xmlns:a16="http://schemas.microsoft.com/office/drawing/2014/main" id="{EC0D9F27-3DBD-32E0-D9FE-717BEC3DAB50}"/>
              </a:ext>
            </a:extLst>
          </p:cNvPr>
          <p:cNvPicPr>
            <a:picLocks noChangeAspect="1"/>
          </p:cNvPicPr>
          <p:nvPr/>
        </p:nvPicPr>
        <p:blipFill>
          <a:blip r:embed="rId10">
            <a:extLst>
              <a:ext uri="{BEBA8EAE-BF5A-486C-A8C5-ECC9F3942E4B}">
                <a14:imgProps xmlns:a14="http://schemas.microsoft.com/office/drawing/2010/main">
                  <a14:imgLayer r:embed="rId11">
                    <a14:imgEffect>
                      <a14:brightnessContrast bright="40000" contrast="-40000"/>
                    </a14:imgEffect>
                  </a14:imgLayer>
                </a14:imgProps>
              </a:ext>
            </a:extLst>
          </a:blip>
          <a:srcRect l="15833" t="19180" r="15066" b="17518"/>
          <a:stretch>
            <a:fillRect/>
          </a:stretch>
        </p:blipFill>
        <p:spPr>
          <a:xfrm>
            <a:off x="7406641" y="4903470"/>
            <a:ext cx="3058160" cy="1452880"/>
          </a:xfrm>
          <a:prstGeom prst="rect">
            <a:avLst/>
          </a:prstGeom>
        </p:spPr>
      </p:pic>
    </p:spTree>
    <p:extLst>
      <p:ext uri="{BB962C8B-B14F-4D97-AF65-F5344CB8AC3E}">
        <p14:creationId xmlns:p14="http://schemas.microsoft.com/office/powerpoint/2010/main" val="42013007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716845D-FE83-34FA-A9F8-0D8BE36F3B14}"/>
              </a:ext>
            </a:extLst>
          </p:cNvPr>
          <p:cNvSpPr txBox="1"/>
          <p:nvPr/>
        </p:nvSpPr>
        <p:spPr>
          <a:xfrm>
            <a:off x="2905760" y="167450"/>
            <a:ext cx="6096000" cy="523220"/>
          </a:xfrm>
          <a:prstGeom prst="rect">
            <a:avLst/>
          </a:prstGeom>
          <a:noFill/>
        </p:spPr>
        <p:txBody>
          <a:bodyPr wrap="square">
            <a:spAutoFit/>
          </a:bodyPr>
          <a:lstStyle/>
          <a:p>
            <a:pPr marL="0" marR="0" indent="0" algn="ctr">
              <a:buNone/>
            </a:pPr>
            <a:r>
              <a:rPr lang="en-IN" sz="2800" b="1" i="0" dirty="0">
                <a:effectLst/>
                <a:latin typeface="Calibri" panose="020F0502020204030204" pitchFamily="34" charset="0"/>
                <a:cs typeface="Calibri" panose="020F0502020204030204" pitchFamily="34" charset="0"/>
              </a:rPr>
              <a:t>B-Trees</a:t>
            </a:r>
          </a:p>
        </p:txBody>
      </p:sp>
      <p:sp>
        <p:nvSpPr>
          <p:cNvPr id="5" name="TextBox 4">
            <a:extLst>
              <a:ext uri="{FF2B5EF4-FFF2-40B4-BE49-F238E27FC236}">
                <a16:creationId xmlns:a16="http://schemas.microsoft.com/office/drawing/2014/main" id="{CD84BADC-20B8-BCF2-F8C2-D2089759DA48}"/>
              </a:ext>
            </a:extLst>
          </p:cNvPr>
          <p:cNvSpPr txBox="1"/>
          <p:nvPr/>
        </p:nvSpPr>
        <p:spPr>
          <a:xfrm>
            <a:off x="695960" y="690670"/>
            <a:ext cx="10784840" cy="5859553"/>
          </a:xfrm>
          <a:prstGeom prst="rect">
            <a:avLst/>
          </a:prstGeom>
          <a:noFill/>
        </p:spPr>
        <p:txBody>
          <a:bodyPr wrap="square">
            <a:spAutoFit/>
          </a:bodyPr>
          <a:lstStyle/>
          <a:p>
            <a:pPr indent="0" algn="just">
              <a:lnSpc>
                <a:spcPct val="150000"/>
              </a:lnSpc>
              <a:buNone/>
            </a:pPr>
            <a:r>
              <a:rPr lang="en-IN" b="0" i="0" dirty="0">
                <a:effectLst/>
                <a:latin typeface="Calibri" panose="020F0502020204030204" pitchFamily="34" charset="0"/>
                <a:cs typeface="Calibri" panose="020F0502020204030204" pitchFamily="34" charset="0"/>
              </a:rPr>
              <a:t>B-trees, or some variant of B-trees, are </a:t>
            </a:r>
            <a:r>
              <a:rPr lang="en-IN" b="0" i="1" dirty="0">
                <a:effectLst/>
                <a:latin typeface="Calibri" panose="020F0502020204030204" pitchFamily="34" charset="0"/>
                <a:cs typeface="Calibri" panose="020F0502020204030204" pitchFamily="34" charset="0"/>
              </a:rPr>
              <a:t>the</a:t>
            </a:r>
            <a:r>
              <a:rPr lang="en-IN" b="0" i="0" dirty="0">
                <a:effectLst/>
                <a:latin typeface="Calibri" panose="020F0502020204030204" pitchFamily="34" charset="0"/>
                <a:cs typeface="Calibri" panose="020F0502020204030204" pitchFamily="34" charset="0"/>
              </a:rPr>
              <a:t> standard file organization for applications requiring insertion, deletion, and key range searches. They are used to implement most modern file systems. B-trees address effectively all of the major problems encountered when implementing disk-based search trees:</a:t>
            </a:r>
          </a:p>
          <a:p>
            <a:pPr marL="342900" indent="-342900" algn="just">
              <a:lnSpc>
                <a:spcPct val="150000"/>
              </a:lnSpc>
              <a:buFont typeface="+mj-lt"/>
              <a:buAutoNum type="arabicPeriod"/>
            </a:pPr>
            <a:r>
              <a:rPr lang="en-IN" b="0" i="0" dirty="0">
                <a:effectLst/>
                <a:latin typeface="Calibri" panose="020F0502020204030204" pitchFamily="34" charset="0"/>
                <a:cs typeface="Calibri" panose="020F0502020204030204" pitchFamily="34" charset="0"/>
              </a:rPr>
              <a:t>The B-tree is shallow, in part because the tree is always height balanced (all leaf nodes are at the same level), and in part because the branching factor is quite high. So only a small number of disk blocks are accessed to reach a given record.</a:t>
            </a:r>
          </a:p>
          <a:p>
            <a:pPr marL="342900" indent="-342900" algn="just">
              <a:lnSpc>
                <a:spcPct val="150000"/>
              </a:lnSpc>
              <a:buFont typeface="+mj-lt"/>
              <a:buAutoNum type="arabicPeriod"/>
            </a:pPr>
            <a:r>
              <a:rPr lang="en-IN" b="0" i="0" dirty="0">
                <a:effectLst/>
                <a:latin typeface="Calibri" panose="020F0502020204030204" pitchFamily="34" charset="0"/>
                <a:cs typeface="Calibri" panose="020F0502020204030204" pitchFamily="34" charset="0"/>
              </a:rPr>
              <a:t>Update and search operations affect only those disk blocks on the path from the root to the leaf node containing the query record. The fewer the number of disk blocks affected during an operation, the less disk I/O is required.</a:t>
            </a:r>
          </a:p>
          <a:p>
            <a:pPr marL="342900" indent="-342900" algn="just">
              <a:lnSpc>
                <a:spcPct val="150000"/>
              </a:lnSpc>
              <a:buFont typeface="+mj-lt"/>
              <a:buAutoNum type="arabicPeriod"/>
            </a:pPr>
            <a:r>
              <a:rPr lang="en-IN" b="0" i="0" dirty="0">
                <a:effectLst/>
                <a:latin typeface="Calibri" panose="020F0502020204030204" pitchFamily="34" charset="0"/>
                <a:cs typeface="Calibri" panose="020F0502020204030204" pitchFamily="34" charset="0"/>
              </a:rPr>
              <a:t>B-trees keep related records (that is, records with similar key values) on the same disk block, which helps to minimize disk I/O on range searches.</a:t>
            </a:r>
          </a:p>
          <a:p>
            <a:pPr marL="342900" indent="-342900" algn="just">
              <a:lnSpc>
                <a:spcPct val="150000"/>
              </a:lnSpc>
              <a:buFont typeface="+mj-lt"/>
              <a:buAutoNum type="arabicPeriod"/>
            </a:pPr>
            <a:r>
              <a:rPr lang="en-IN" b="0" i="0" dirty="0">
                <a:effectLst/>
                <a:latin typeface="Calibri" panose="020F0502020204030204" pitchFamily="34" charset="0"/>
                <a:cs typeface="Calibri" panose="020F0502020204030204" pitchFamily="34" charset="0"/>
              </a:rPr>
              <a:t>B-trees guarantee that every node in the tree will be full at least to a certain minimum percentage. This improves space efficiency while reducing the typical number of disk fetches necessary during a search or update operation.</a:t>
            </a:r>
          </a:p>
        </p:txBody>
      </p:sp>
      <p:sp>
        <p:nvSpPr>
          <p:cNvPr id="2" name="Slide Number Placeholder 1">
            <a:extLst>
              <a:ext uri="{FF2B5EF4-FFF2-40B4-BE49-F238E27FC236}">
                <a16:creationId xmlns:a16="http://schemas.microsoft.com/office/drawing/2014/main" id="{4FCDB260-1E2D-A8A4-75F5-931B26254C2B}"/>
              </a:ext>
            </a:extLst>
          </p:cNvPr>
          <p:cNvSpPr>
            <a:spLocks noGrp="1"/>
          </p:cNvSpPr>
          <p:nvPr>
            <p:ph type="sldNum" sz="quarter" idx="12"/>
          </p:nvPr>
        </p:nvSpPr>
        <p:spPr/>
        <p:txBody>
          <a:bodyPr/>
          <a:lstStyle/>
          <a:p>
            <a:fld id="{520A0C6E-EFDF-49F2-A292-CF6FBFE4B673}" type="slidenum">
              <a:rPr lang="en-IN" smtClean="0"/>
              <a:t>27</a:t>
            </a:fld>
            <a:endParaRPr lang="en-IN"/>
          </a:p>
        </p:txBody>
      </p:sp>
    </p:spTree>
    <p:extLst>
      <p:ext uri="{BB962C8B-B14F-4D97-AF65-F5344CB8AC3E}">
        <p14:creationId xmlns:p14="http://schemas.microsoft.com/office/powerpoint/2010/main" val="23987134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F08E842-C83C-58FC-CCC3-337F5CE0D539}"/>
                  </a:ext>
                </a:extLst>
              </p:cNvPr>
              <p:cNvSpPr txBox="1"/>
              <p:nvPr/>
            </p:nvSpPr>
            <p:spPr>
              <a:xfrm>
                <a:off x="751840" y="835343"/>
                <a:ext cx="10601960" cy="2960875"/>
              </a:xfrm>
              <a:prstGeom prst="rect">
                <a:avLst/>
              </a:prstGeom>
              <a:noFill/>
            </p:spPr>
            <p:txBody>
              <a:bodyPr wrap="square">
                <a:spAutoFit/>
              </a:bodyPr>
              <a:lstStyle/>
              <a:p>
                <a:pPr indent="0" algn="just">
                  <a:lnSpc>
                    <a:spcPct val="150000"/>
                  </a:lnSpc>
                  <a:buNone/>
                </a:pPr>
                <a:r>
                  <a:rPr lang="en-IN" sz="2000" b="0" i="0" dirty="0">
                    <a:solidFill>
                      <a:schemeClr val="tx1"/>
                    </a:solidFill>
                    <a:effectLst/>
                    <a:latin typeface="Calibri" panose="020F0502020204030204" pitchFamily="34" charset="0"/>
                    <a:cs typeface="Calibri" panose="020F0502020204030204" pitchFamily="34" charset="0"/>
                  </a:rPr>
                  <a:t>A B-tree of order </a:t>
                </a:r>
                <a14:m>
                  <m:oMath xmlns:m="http://schemas.openxmlformats.org/officeDocument/2006/math">
                    <m:r>
                      <a:rPr lang="en-IN" sz="2000" i="1" smtClean="0">
                        <a:solidFill>
                          <a:schemeClr val="tx1"/>
                        </a:solidFill>
                        <a:latin typeface="Cambria Math" panose="02040503050406030204" pitchFamily="18" charset="0"/>
                      </a:rPr>
                      <m:t>𝑚</m:t>
                    </m:r>
                  </m:oMath>
                </a14:m>
                <a:r>
                  <a:rPr lang="en-IN" sz="2000" b="0" i="0" dirty="0">
                    <a:solidFill>
                      <a:schemeClr val="tx1"/>
                    </a:solidFill>
                    <a:effectLst/>
                    <a:latin typeface="Calibri" panose="020F0502020204030204" pitchFamily="34" charset="0"/>
                    <a:cs typeface="Calibri" panose="020F0502020204030204" pitchFamily="34" charset="0"/>
                  </a:rPr>
                  <a:t> is defined to have the following shape properties:</a:t>
                </a:r>
              </a:p>
              <a:p>
                <a:pPr indent="0" algn="just">
                  <a:lnSpc>
                    <a:spcPct val="150000"/>
                  </a:lnSpc>
                  <a:spcBef>
                    <a:spcPts val="225"/>
                  </a:spcBef>
                  <a:spcAft>
                    <a:spcPts val="225"/>
                  </a:spcAft>
                  <a:buFont typeface="Arial" panose="020B0604020202020204" pitchFamily="34" charset="0"/>
                  <a:buChar char="•"/>
                </a:pPr>
                <a:r>
                  <a:rPr lang="en-IN" sz="2000" b="0" i="0" dirty="0">
                    <a:solidFill>
                      <a:schemeClr val="tx1"/>
                    </a:solidFill>
                    <a:effectLst/>
                    <a:latin typeface="Calibri" panose="020F0502020204030204" pitchFamily="34" charset="0"/>
                    <a:cs typeface="Calibri" panose="020F0502020204030204" pitchFamily="34" charset="0"/>
                  </a:rPr>
                  <a:t> The root is either a leaf or has at least two children.</a:t>
                </a:r>
              </a:p>
              <a:p>
                <a:pPr indent="0" algn="just">
                  <a:lnSpc>
                    <a:spcPct val="150000"/>
                  </a:lnSpc>
                  <a:spcBef>
                    <a:spcPts val="225"/>
                  </a:spcBef>
                  <a:spcAft>
                    <a:spcPts val="225"/>
                  </a:spcAft>
                  <a:buFont typeface="Arial" panose="020B0604020202020204" pitchFamily="34" charset="0"/>
                  <a:buChar char="•"/>
                </a:pPr>
                <a:r>
                  <a:rPr lang="en-IN" sz="2000" b="0" i="0" dirty="0">
                    <a:solidFill>
                      <a:schemeClr val="tx1"/>
                    </a:solidFill>
                    <a:effectLst/>
                    <a:latin typeface="Calibri" panose="020F0502020204030204" pitchFamily="34" charset="0"/>
                    <a:cs typeface="Calibri" panose="020F0502020204030204" pitchFamily="34" charset="0"/>
                  </a:rPr>
                  <a:t> Each internal node, except for the root, has between </a:t>
                </a:r>
                <a14:m>
                  <m:oMath xmlns:m="http://schemas.openxmlformats.org/officeDocument/2006/math">
                    <m:r>
                      <a:rPr lang="en-IN" sz="2000" smtClean="0">
                        <a:solidFill>
                          <a:schemeClr val="tx1"/>
                        </a:solidFill>
                        <a:latin typeface="Cambria Math" panose="02040503050406030204" pitchFamily="18" charset="0"/>
                      </a:rPr>
                      <m:t>⌈</m:t>
                    </m:r>
                    <m:r>
                      <a:rPr lang="en-IN" sz="2000" i="1">
                        <a:solidFill>
                          <a:schemeClr val="tx1"/>
                        </a:solidFill>
                        <a:latin typeface="Cambria Math" panose="02040503050406030204" pitchFamily="18" charset="0"/>
                      </a:rPr>
                      <m:t>𝑚</m:t>
                    </m:r>
                    <m:r>
                      <a:rPr lang="en-IN" sz="2000" i="0">
                        <a:solidFill>
                          <a:schemeClr val="tx1"/>
                        </a:solidFill>
                        <a:latin typeface="Cambria Math" panose="02040503050406030204" pitchFamily="18" charset="0"/>
                      </a:rPr>
                      <m:t>/2⌉</m:t>
                    </m:r>
                  </m:oMath>
                </a14:m>
                <a:r>
                  <a:rPr lang="en-IN" sz="2000" b="0" i="0" dirty="0">
                    <a:solidFill>
                      <a:schemeClr val="tx1"/>
                    </a:solidFill>
                    <a:effectLst/>
                    <a:latin typeface="Calibri" panose="020F0502020204030204" pitchFamily="34" charset="0"/>
                    <a:cs typeface="Calibri" panose="020F0502020204030204" pitchFamily="34" charset="0"/>
                  </a:rPr>
                  <a:t> and </a:t>
                </a:r>
                <a14:m>
                  <m:oMath xmlns:m="http://schemas.openxmlformats.org/officeDocument/2006/math">
                    <m:r>
                      <a:rPr lang="en-IN" sz="2000" i="1" smtClean="0">
                        <a:solidFill>
                          <a:schemeClr val="tx1"/>
                        </a:solidFill>
                        <a:latin typeface="Cambria Math" panose="02040503050406030204" pitchFamily="18" charset="0"/>
                      </a:rPr>
                      <m:t>𝑚</m:t>
                    </m:r>
                  </m:oMath>
                </a14:m>
                <a:r>
                  <a:rPr lang="en-IN" sz="2000" b="0" i="0" dirty="0">
                    <a:solidFill>
                      <a:schemeClr val="tx1"/>
                    </a:solidFill>
                    <a:effectLst/>
                    <a:latin typeface="Calibri" panose="020F0502020204030204" pitchFamily="34" charset="0"/>
                    <a:cs typeface="Calibri" panose="020F0502020204030204" pitchFamily="34" charset="0"/>
                  </a:rPr>
                  <a:t> children.</a:t>
                </a:r>
              </a:p>
              <a:p>
                <a:pPr indent="0" algn="just">
                  <a:lnSpc>
                    <a:spcPct val="150000"/>
                  </a:lnSpc>
                  <a:spcBef>
                    <a:spcPts val="225"/>
                  </a:spcBef>
                  <a:spcAft>
                    <a:spcPts val="225"/>
                  </a:spcAft>
                  <a:buFont typeface="Arial" panose="020B0604020202020204" pitchFamily="34" charset="0"/>
                  <a:buChar char="•"/>
                </a:pPr>
                <a:r>
                  <a:rPr lang="en-IN" sz="2000" b="0" i="0" dirty="0">
                    <a:solidFill>
                      <a:schemeClr val="tx1"/>
                    </a:solidFill>
                    <a:effectLst/>
                    <a:latin typeface="Calibri" panose="020F0502020204030204" pitchFamily="34" charset="0"/>
                    <a:cs typeface="Calibri" panose="020F0502020204030204" pitchFamily="34" charset="0"/>
                  </a:rPr>
                  <a:t> All leaves are at the same level in the tree, so the tree is always height balanced.</a:t>
                </a:r>
              </a:p>
              <a:p>
                <a:pPr indent="0" algn="just">
                  <a:lnSpc>
                    <a:spcPct val="150000"/>
                  </a:lnSpc>
                  <a:buNone/>
                </a:pPr>
                <a:r>
                  <a:rPr lang="en-IN" sz="2000" b="0" i="0" dirty="0">
                    <a:solidFill>
                      <a:schemeClr val="tx1"/>
                    </a:solidFill>
                    <a:effectLst/>
                    <a:latin typeface="Calibri" panose="020F0502020204030204" pitchFamily="34" charset="0"/>
                    <a:cs typeface="Calibri" panose="020F0502020204030204" pitchFamily="34" charset="0"/>
                  </a:rPr>
                  <a:t>Figure shows a B-tree of order four. Each node contains up to three keys, and internal nodes have up to four children.</a:t>
                </a:r>
              </a:p>
            </p:txBody>
          </p:sp>
        </mc:Choice>
        <mc:Fallback xmlns="">
          <p:sp>
            <p:nvSpPr>
              <p:cNvPr id="3" name="TextBox 2">
                <a:extLst>
                  <a:ext uri="{FF2B5EF4-FFF2-40B4-BE49-F238E27FC236}">
                    <a16:creationId xmlns:a16="http://schemas.microsoft.com/office/drawing/2014/main" id="{CF08E842-C83C-58FC-CCC3-337F5CE0D539}"/>
                  </a:ext>
                </a:extLst>
              </p:cNvPr>
              <p:cNvSpPr txBox="1">
                <a:spLocks noRot="1" noChangeAspect="1" noMove="1" noResize="1" noEditPoints="1" noAdjustHandles="1" noChangeArrowheads="1" noChangeShapeType="1" noTextEdit="1"/>
              </p:cNvSpPr>
              <p:nvPr/>
            </p:nvSpPr>
            <p:spPr>
              <a:xfrm>
                <a:off x="751840" y="835343"/>
                <a:ext cx="10601960" cy="2960875"/>
              </a:xfrm>
              <a:prstGeom prst="rect">
                <a:avLst/>
              </a:prstGeom>
              <a:blipFill>
                <a:blip r:embed="rId2"/>
                <a:stretch>
                  <a:fillRect l="-575" r="-575" b="-2881"/>
                </a:stretch>
              </a:blipFill>
            </p:spPr>
            <p:txBody>
              <a:bodyPr/>
              <a:lstStyle/>
              <a:p>
                <a:r>
                  <a:rPr lang="en-IN">
                    <a:noFill/>
                  </a:rPr>
                  <a:t> </a:t>
                </a:r>
              </a:p>
            </p:txBody>
          </p:sp>
        </mc:Fallback>
      </mc:AlternateContent>
      <p:sp>
        <p:nvSpPr>
          <p:cNvPr id="5" name="TextBox 4">
            <a:extLst>
              <a:ext uri="{FF2B5EF4-FFF2-40B4-BE49-F238E27FC236}">
                <a16:creationId xmlns:a16="http://schemas.microsoft.com/office/drawing/2014/main" id="{B482C38A-E176-1FE8-B457-4381A2D87BAC}"/>
              </a:ext>
            </a:extLst>
          </p:cNvPr>
          <p:cNvSpPr txBox="1"/>
          <p:nvPr/>
        </p:nvSpPr>
        <p:spPr>
          <a:xfrm>
            <a:off x="2905760" y="236777"/>
            <a:ext cx="6096000" cy="523220"/>
          </a:xfrm>
          <a:prstGeom prst="rect">
            <a:avLst/>
          </a:prstGeom>
          <a:noFill/>
        </p:spPr>
        <p:txBody>
          <a:bodyPr wrap="square">
            <a:spAutoFit/>
          </a:bodyPr>
          <a:lstStyle/>
          <a:p>
            <a:pPr marL="0" marR="0" indent="0" algn="ctr">
              <a:buNone/>
            </a:pPr>
            <a:r>
              <a:rPr lang="en-IN" sz="2800" b="1" i="0" dirty="0">
                <a:effectLst/>
                <a:latin typeface="Calibri" panose="020F0502020204030204" pitchFamily="34" charset="0"/>
                <a:cs typeface="Calibri" panose="020F0502020204030204" pitchFamily="34" charset="0"/>
              </a:rPr>
              <a:t>B-Trees</a:t>
            </a:r>
          </a:p>
        </p:txBody>
      </p:sp>
      <p:sp>
        <p:nvSpPr>
          <p:cNvPr id="2" name="Slide Number Placeholder 1">
            <a:extLst>
              <a:ext uri="{FF2B5EF4-FFF2-40B4-BE49-F238E27FC236}">
                <a16:creationId xmlns:a16="http://schemas.microsoft.com/office/drawing/2014/main" id="{2177E207-A344-152C-9778-475B75C88847}"/>
              </a:ext>
            </a:extLst>
          </p:cNvPr>
          <p:cNvSpPr>
            <a:spLocks noGrp="1"/>
          </p:cNvSpPr>
          <p:nvPr>
            <p:ph type="sldNum" sz="quarter" idx="12"/>
          </p:nvPr>
        </p:nvSpPr>
        <p:spPr/>
        <p:txBody>
          <a:bodyPr/>
          <a:lstStyle/>
          <a:p>
            <a:fld id="{520A0C6E-EFDF-49F2-A292-CF6FBFE4B673}" type="slidenum">
              <a:rPr lang="en-IN" smtClean="0"/>
              <a:t>28</a:t>
            </a:fld>
            <a:endParaRPr lang="en-IN"/>
          </a:p>
        </p:txBody>
      </p:sp>
      <p:pic>
        <p:nvPicPr>
          <p:cNvPr id="6" name="Picture 5">
            <a:extLst>
              <a:ext uri="{FF2B5EF4-FFF2-40B4-BE49-F238E27FC236}">
                <a16:creationId xmlns:a16="http://schemas.microsoft.com/office/drawing/2014/main" id="{CC85B4E4-91BB-0C58-76FC-D46E2032C92D}"/>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25000"/>
                    </a14:imgEffect>
                  </a14:imgLayer>
                </a14:imgProps>
              </a:ext>
              <a:ext uri="{28A0092B-C50C-407E-A947-70E740481C1C}">
                <a14:useLocalDpi xmlns:a14="http://schemas.microsoft.com/office/drawing/2010/main" val="0"/>
              </a:ext>
            </a:extLst>
          </a:blip>
          <a:stretch>
            <a:fillRect/>
          </a:stretch>
        </p:blipFill>
        <p:spPr>
          <a:xfrm>
            <a:off x="751840" y="3871564"/>
            <a:ext cx="10718800" cy="2794828"/>
          </a:xfrm>
          <a:prstGeom prst="rect">
            <a:avLst/>
          </a:prstGeom>
        </p:spPr>
      </p:pic>
    </p:spTree>
    <p:extLst>
      <p:ext uri="{BB962C8B-B14F-4D97-AF65-F5344CB8AC3E}">
        <p14:creationId xmlns:p14="http://schemas.microsoft.com/office/powerpoint/2010/main" val="21632578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423D966-281A-6508-87FA-C1F3135A5ED5}"/>
              </a:ext>
            </a:extLst>
          </p:cNvPr>
          <p:cNvSpPr>
            <a:spLocks noGrp="1"/>
          </p:cNvSpPr>
          <p:nvPr>
            <p:ph type="sldNum" sz="quarter" idx="12"/>
          </p:nvPr>
        </p:nvSpPr>
        <p:spPr/>
        <p:txBody>
          <a:bodyPr/>
          <a:lstStyle/>
          <a:p>
            <a:fld id="{520A0C6E-EFDF-49F2-A292-CF6FBFE4B673}" type="slidenum">
              <a:rPr lang="en-IN" smtClean="0"/>
              <a:t>29</a:t>
            </a:fld>
            <a:endParaRPr lang="en-IN"/>
          </a:p>
        </p:txBody>
      </p:sp>
      <p:sp>
        <p:nvSpPr>
          <p:cNvPr id="4" name="TextBox 3">
            <a:extLst>
              <a:ext uri="{FF2B5EF4-FFF2-40B4-BE49-F238E27FC236}">
                <a16:creationId xmlns:a16="http://schemas.microsoft.com/office/drawing/2014/main" id="{E593F66B-94A4-5DCA-6F23-D443462A3981}"/>
              </a:ext>
            </a:extLst>
          </p:cNvPr>
          <p:cNvSpPr txBox="1"/>
          <p:nvPr/>
        </p:nvSpPr>
        <p:spPr>
          <a:xfrm>
            <a:off x="619760" y="629920"/>
            <a:ext cx="11109960" cy="400110"/>
          </a:xfrm>
          <a:prstGeom prst="rect">
            <a:avLst/>
          </a:prstGeom>
          <a:noFill/>
        </p:spPr>
        <p:txBody>
          <a:bodyPr wrap="square" rtlCol="0">
            <a:spAutoFit/>
          </a:bodyPr>
          <a:lstStyle/>
          <a:p>
            <a:pPr algn="just"/>
            <a:r>
              <a:rPr lang="en-IN" sz="2000" dirty="0">
                <a:solidFill>
                  <a:srgbClr val="FF0000"/>
                </a:solidFill>
                <a:latin typeface="Calibri" panose="020F0502020204030204" pitchFamily="34" charset="0"/>
              </a:rPr>
              <a:t>Construct B tree of order 5 for the list of elements  2, 8, 5, 6, 13, 9, 14, 12, 19, 24, 18, 15, 5, 16, 20, 21</a:t>
            </a:r>
          </a:p>
        </p:txBody>
      </p:sp>
      <p:sp>
        <p:nvSpPr>
          <p:cNvPr id="5" name="TextBox 4">
            <a:extLst>
              <a:ext uri="{FF2B5EF4-FFF2-40B4-BE49-F238E27FC236}">
                <a16:creationId xmlns:a16="http://schemas.microsoft.com/office/drawing/2014/main" id="{562C36EB-3DA9-F5ED-A673-E5318D15F53E}"/>
              </a:ext>
            </a:extLst>
          </p:cNvPr>
          <p:cNvSpPr txBox="1"/>
          <p:nvPr/>
        </p:nvSpPr>
        <p:spPr>
          <a:xfrm>
            <a:off x="1343660" y="1460168"/>
            <a:ext cx="9504680" cy="2769989"/>
          </a:xfrm>
          <a:prstGeom prst="rect">
            <a:avLst/>
          </a:prstGeom>
          <a:noFill/>
        </p:spPr>
        <p:txBody>
          <a:bodyPr wrap="square">
            <a:spAutoFit/>
          </a:bodyPr>
          <a:lstStyle/>
          <a:p>
            <a:pPr marL="0" marR="0" algn="just">
              <a:spcBef>
                <a:spcPts val="1800"/>
              </a:spcBef>
              <a:spcAft>
                <a:spcPts val="600"/>
              </a:spcAft>
              <a:buNone/>
            </a:pPr>
            <a:r>
              <a:rPr lang="en-IN" sz="2400" b="1" u="none" strike="noStrike" dirty="0">
                <a:effectLst/>
                <a:latin typeface="Google Sans"/>
              </a:rPr>
              <a:t>B-Tree Properties (Order m = 5)</a:t>
            </a:r>
          </a:p>
          <a:p>
            <a:pPr marL="171450" marR="0" indent="-171450" algn="just">
              <a:spcBef>
                <a:spcPts val="900"/>
              </a:spcBef>
              <a:spcAft>
                <a:spcPts val="600"/>
              </a:spcAft>
              <a:buFont typeface="Arial" panose="020B0604020202020204" pitchFamily="34" charset="0"/>
              <a:buChar char="•"/>
            </a:pPr>
            <a:r>
              <a:rPr lang="en-IN" sz="2000" b="1" u="none" strike="noStrike" dirty="0">
                <a:effectLst/>
                <a:latin typeface="Google Sans"/>
              </a:rPr>
              <a:t>Maximum keys per node:</a:t>
            </a:r>
            <a:r>
              <a:rPr lang="en-IN" sz="2000" b="0" u="none" strike="noStrike" dirty="0">
                <a:effectLst/>
                <a:latin typeface="Google Sans"/>
              </a:rPr>
              <a:t> m - 1 = 4</a:t>
            </a:r>
          </a:p>
          <a:p>
            <a:pPr marL="171450" marR="0" indent="-171450" algn="just">
              <a:spcBef>
                <a:spcPts val="900"/>
              </a:spcBef>
              <a:spcAft>
                <a:spcPts val="600"/>
              </a:spcAft>
              <a:buFont typeface="Arial" panose="020B0604020202020204" pitchFamily="34" charset="0"/>
              <a:buChar char="•"/>
            </a:pPr>
            <a:r>
              <a:rPr lang="en-IN" sz="2000" b="1" u="none" strike="noStrike" dirty="0">
                <a:effectLst/>
                <a:latin typeface="Google Sans"/>
              </a:rPr>
              <a:t>Maximum children per node:</a:t>
            </a:r>
            <a:r>
              <a:rPr lang="en-IN" sz="2000" b="0" u="none" strike="noStrike" dirty="0">
                <a:effectLst/>
                <a:latin typeface="Google Sans"/>
              </a:rPr>
              <a:t> m = 5</a:t>
            </a:r>
          </a:p>
          <a:p>
            <a:pPr marL="171450" marR="0" indent="-171450" algn="just">
              <a:spcBef>
                <a:spcPts val="900"/>
              </a:spcBef>
              <a:spcAft>
                <a:spcPts val="600"/>
              </a:spcAft>
              <a:buFont typeface="Arial" panose="020B0604020202020204" pitchFamily="34" charset="0"/>
              <a:buChar char="•"/>
            </a:pPr>
            <a:r>
              <a:rPr lang="en-IN" sz="2000" b="1" u="none" strike="noStrike" dirty="0">
                <a:effectLst/>
                <a:latin typeface="Google Sans"/>
              </a:rPr>
              <a:t>Minimum keys per non-root node:</a:t>
            </a:r>
            <a:r>
              <a:rPr lang="en-IN" sz="2000" b="0" u="none" strike="noStrike" dirty="0">
                <a:effectLst/>
                <a:latin typeface="Google Sans"/>
              </a:rPr>
              <a:t> </a:t>
            </a:r>
            <a:r>
              <a:rPr lang="en-IN" sz="2000" dirty="0">
                <a:latin typeface="Google Sans"/>
              </a:rPr>
              <a:t>[</a:t>
            </a:r>
            <a:r>
              <a:rPr lang="en-IN" sz="2000" b="0" u="none" strike="noStrike" dirty="0">
                <a:effectLst/>
                <a:latin typeface="Google Sans"/>
              </a:rPr>
              <a:t>m/2]  - 1 = </a:t>
            </a:r>
            <a:r>
              <a:rPr lang="en-IN" sz="2000" dirty="0">
                <a:latin typeface="Google Sans"/>
              </a:rPr>
              <a:t>[</a:t>
            </a:r>
            <a:r>
              <a:rPr lang="en-IN" sz="2000" b="0" u="none" strike="noStrike" dirty="0">
                <a:effectLst/>
                <a:latin typeface="Google Sans"/>
              </a:rPr>
              <a:t>5 / 2] - 1 = 2</a:t>
            </a:r>
          </a:p>
          <a:p>
            <a:pPr marL="171450" marR="0" indent="-171450" algn="just">
              <a:spcBef>
                <a:spcPts val="900"/>
              </a:spcBef>
              <a:spcAft>
                <a:spcPts val="600"/>
              </a:spcAft>
              <a:buFont typeface="Arial" panose="020B0604020202020204" pitchFamily="34" charset="0"/>
              <a:buChar char="•"/>
            </a:pPr>
            <a:r>
              <a:rPr lang="en-IN" sz="2000" b="1" u="none" strike="noStrike" dirty="0">
                <a:effectLst/>
                <a:latin typeface="Google Sans"/>
              </a:rPr>
              <a:t>Splitting criterion:</a:t>
            </a:r>
            <a:r>
              <a:rPr lang="en-IN" sz="2000" b="0" u="none" strike="noStrike" dirty="0">
                <a:effectLst/>
                <a:latin typeface="Google Sans"/>
              </a:rPr>
              <a:t> When a node reaches 5 keys, the middle element (index 2, 0-indexed) moves up</a:t>
            </a:r>
          </a:p>
        </p:txBody>
      </p:sp>
    </p:spTree>
    <p:extLst>
      <p:ext uri="{BB962C8B-B14F-4D97-AF65-F5344CB8AC3E}">
        <p14:creationId xmlns:p14="http://schemas.microsoft.com/office/powerpoint/2010/main" val="26024746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D093023-9655-8701-0124-1DCF92C08D9C}"/>
              </a:ext>
            </a:extLst>
          </p:cNvPr>
          <p:cNvSpPr>
            <a:spLocks noGrp="1"/>
          </p:cNvSpPr>
          <p:nvPr>
            <p:ph type="sldNum" sz="quarter" idx="12"/>
          </p:nvPr>
        </p:nvSpPr>
        <p:spPr/>
        <p:txBody>
          <a:bodyPr/>
          <a:lstStyle/>
          <a:p>
            <a:fld id="{520A0C6E-EFDF-49F2-A292-CF6FBFE4B673}" type="slidenum">
              <a:rPr lang="en-IN" smtClean="0"/>
              <a:t>30</a:t>
            </a:fld>
            <a:endParaRPr lang="en-IN"/>
          </a:p>
        </p:txBody>
      </p:sp>
      <p:sp>
        <p:nvSpPr>
          <p:cNvPr id="6" name="TextBox 5">
            <a:extLst>
              <a:ext uri="{FF2B5EF4-FFF2-40B4-BE49-F238E27FC236}">
                <a16:creationId xmlns:a16="http://schemas.microsoft.com/office/drawing/2014/main" id="{769F6D1B-4CE7-401B-7FA9-657A05C974A7}"/>
              </a:ext>
            </a:extLst>
          </p:cNvPr>
          <p:cNvSpPr txBox="1"/>
          <p:nvPr/>
        </p:nvSpPr>
        <p:spPr>
          <a:xfrm>
            <a:off x="213360" y="890384"/>
            <a:ext cx="5638800" cy="4978286"/>
          </a:xfrm>
          <a:prstGeom prst="rect">
            <a:avLst/>
          </a:prstGeom>
          <a:noFill/>
          <a:ln>
            <a:solidFill>
              <a:schemeClr val="accent1"/>
            </a:solidFill>
          </a:ln>
        </p:spPr>
        <p:txBody>
          <a:bodyPr wrap="square">
            <a:spAutoFit/>
          </a:bodyPr>
          <a:lstStyle/>
          <a:p>
            <a:pPr marL="0" marR="0">
              <a:spcBef>
                <a:spcPts val="900"/>
              </a:spcBef>
            </a:pPr>
            <a:r>
              <a:rPr lang="en-IN" sz="1600" b="1" u="none" strike="noStrike" dirty="0">
                <a:effectLst/>
                <a:latin typeface="Google Sans"/>
              </a:rPr>
              <a:t>Step 1 (Insert 2, 8, 5, 6)</a:t>
            </a:r>
            <a:r>
              <a:rPr lang="en-IN" sz="1600" b="0" u="none" strike="noStrike" dirty="0">
                <a:effectLst/>
                <a:latin typeface="Google Sans"/>
              </a:rPr>
              <a:t>: Fits in root.</a:t>
            </a:r>
          </a:p>
          <a:p>
            <a:pPr marR="0" lvl="1">
              <a:spcBef>
                <a:spcPts val="900"/>
              </a:spcBef>
            </a:pPr>
            <a:r>
              <a:rPr lang="en-IN" sz="1200" b="0" u="none" strike="noStrike" dirty="0">
                <a:effectLst/>
                <a:latin typeface="Courier New" panose="02070309020205020404" pitchFamily="49" charset="0"/>
              </a:rPr>
              <a:t>[2, 5, 6, 8]</a:t>
            </a:r>
            <a:endParaRPr lang="en-IN" sz="1600" b="0" u="none" strike="noStrike" dirty="0">
              <a:effectLst/>
              <a:latin typeface="Google Sans"/>
            </a:endParaRPr>
          </a:p>
          <a:p>
            <a:pPr marL="0" marR="0">
              <a:spcBef>
                <a:spcPts val="900"/>
              </a:spcBef>
            </a:pPr>
            <a:r>
              <a:rPr lang="en-IN" sz="1600" b="1" u="none" strike="noStrike" dirty="0">
                <a:effectLst/>
                <a:latin typeface="Google Sans"/>
              </a:rPr>
              <a:t>Step 2 (Insert 13)</a:t>
            </a:r>
            <a:r>
              <a:rPr lang="en-IN" sz="1600" b="0" u="none" strike="noStrike" dirty="0">
                <a:effectLst/>
                <a:latin typeface="Google Sans"/>
              </a:rPr>
              <a:t>: Overflows </a:t>
            </a:r>
            <a:r>
              <a:rPr lang="en-IN" sz="1200" b="0" u="none" strike="noStrike" dirty="0">
                <a:effectLst/>
                <a:latin typeface="Courier New" panose="02070309020205020404" pitchFamily="49" charset="0"/>
              </a:rPr>
              <a:t>[2, 5, 6, 8, 13]</a:t>
            </a:r>
            <a:r>
              <a:rPr lang="en-IN" sz="1600" b="0" u="none" strike="noStrike" dirty="0">
                <a:effectLst/>
                <a:latin typeface="Google Sans"/>
              </a:rPr>
              <a:t>. Split at </a:t>
            </a:r>
            <a:r>
              <a:rPr lang="en-IN" sz="1600" b="1" u="none" strike="noStrike" dirty="0">
                <a:effectLst/>
                <a:latin typeface="Google Sans"/>
              </a:rPr>
              <a:t>6</a:t>
            </a:r>
            <a:r>
              <a:rPr lang="en-IN" sz="1600" b="0" u="none" strike="noStrike" dirty="0">
                <a:effectLst/>
                <a:latin typeface="Google Sans"/>
              </a:rPr>
              <a:t>.</a:t>
            </a:r>
          </a:p>
          <a:p>
            <a:pPr marR="0" lvl="1">
              <a:spcBef>
                <a:spcPts val="900"/>
              </a:spcBef>
            </a:pPr>
            <a:r>
              <a:rPr lang="en-IN" sz="1600" b="0" u="none" strike="noStrike" dirty="0">
                <a:effectLst/>
                <a:latin typeface="Google Sans"/>
              </a:rPr>
              <a:t>Root: </a:t>
            </a:r>
            <a:r>
              <a:rPr lang="en-IN" sz="1200" b="0" u="none" strike="noStrike" dirty="0">
                <a:effectLst/>
                <a:latin typeface="Courier New" panose="02070309020205020404" pitchFamily="49" charset="0"/>
              </a:rPr>
              <a:t>[6]</a:t>
            </a:r>
            <a:endParaRPr lang="en-IN" sz="1600" b="0" u="none" strike="noStrike" dirty="0">
              <a:effectLst/>
              <a:latin typeface="Google Sans"/>
            </a:endParaRPr>
          </a:p>
          <a:p>
            <a:pPr marR="0" lvl="1">
              <a:spcBef>
                <a:spcPts val="900"/>
              </a:spcBef>
            </a:pPr>
            <a:r>
              <a:rPr lang="en-IN" sz="1600" b="0" u="none" strike="noStrike" dirty="0">
                <a:effectLst/>
                <a:latin typeface="Google Sans"/>
              </a:rPr>
              <a:t>Leaves: </a:t>
            </a:r>
            <a:r>
              <a:rPr lang="en-IN" sz="1200" b="0" u="none" strike="noStrike" dirty="0">
                <a:effectLst/>
                <a:latin typeface="Courier New" panose="02070309020205020404" pitchFamily="49" charset="0"/>
              </a:rPr>
              <a:t>[2, 5]</a:t>
            </a:r>
            <a:r>
              <a:rPr lang="en-IN" sz="1600" b="0" u="none" strike="noStrike" dirty="0">
                <a:effectLst/>
                <a:latin typeface="Google Sans"/>
              </a:rPr>
              <a:t> | </a:t>
            </a:r>
            <a:r>
              <a:rPr lang="en-IN" sz="1200" b="0" u="none" strike="noStrike" dirty="0">
                <a:effectLst/>
                <a:latin typeface="Courier New" panose="02070309020205020404" pitchFamily="49" charset="0"/>
              </a:rPr>
              <a:t>[8, 13]</a:t>
            </a:r>
            <a:endParaRPr lang="en-IN" sz="1600" b="0" u="none" strike="noStrike" dirty="0">
              <a:effectLst/>
              <a:latin typeface="Google Sans"/>
            </a:endParaRPr>
          </a:p>
          <a:p>
            <a:pPr marL="0" marR="0">
              <a:spcBef>
                <a:spcPts val="900"/>
              </a:spcBef>
            </a:pPr>
            <a:r>
              <a:rPr lang="en-IN" sz="1600" b="1" u="none" strike="noStrike" dirty="0">
                <a:effectLst/>
                <a:latin typeface="Google Sans"/>
              </a:rPr>
              <a:t>Step 3 (Insert 9, 14)</a:t>
            </a:r>
            <a:r>
              <a:rPr lang="en-IN" sz="1600" b="0" u="none" strike="noStrike" dirty="0">
                <a:effectLst/>
                <a:latin typeface="Google Sans"/>
              </a:rPr>
              <a:t>: Adds to right leaf.</a:t>
            </a:r>
          </a:p>
          <a:p>
            <a:pPr marR="0" lvl="1">
              <a:spcBef>
                <a:spcPts val="900"/>
              </a:spcBef>
            </a:pPr>
            <a:r>
              <a:rPr lang="en-IN" sz="1600" b="0" u="none" strike="noStrike" dirty="0">
                <a:effectLst/>
                <a:latin typeface="Google Sans"/>
              </a:rPr>
              <a:t>Root: </a:t>
            </a:r>
            <a:r>
              <a:rPr lang="en-IN" sz="1200" b="0" u="none" strike="noStrike" dirty="0">
                <a:effectLst/>
                <a:latin typeface="Courier New" panose="02070309020205020404" pitchFamily="49" charset="0"/>
              </a:rPr>
              <a:t>[6]</a:t>
            </a:r>
            <a:endParaRPr lang="en-IN" sz="1600" b="0" u="none" strike="noStrike" dirty="0">
              <a:effectLst/>
              <a:latin typeface="Google Sans"/>
            </a:endParaRPr>
          </a:p>
          <a:p>
            <a:pPr marR="0" lvl="1">
              <a:spcBef>
                <a:spcPts val="900"/>
              </a:spcBef>
            </a:pPr>
            <a:r>
              <a:rPr lang="en-IN" sz="1600" b="0" u="none" strike="noStrike" dirty="0">
                <a:effectLst/>
                <a:latin typeface="Google Sans"/>
              </a:rPr>
              <a:t>Leaves: </a:t>
            </a:r>
            <a:r>
              <a:rPr lang="en-IN" sz="1200" b="0" u="none" strike="noStrike" dirty="0">
                <a:effectLst/>
                <a:latin typeface="Courier New" panose="02070309020205020404" pitchFamily="49" charset="0"/>
              </a:rPr>
              <a:t>[2, 5]</a:t>
            </a:r>
            <a:r>
              <a:rPr lang="en-IN" sz="1600" b="0" u="none" strike="noStrike" dirty="0">
                <a:effectLst/>
                <a:latin typeface="Google Sans"/>
              </a:rPr>
              <a:t> | </a:t>
            </a:r>
            <a:r>
              <a:rPr lang="en-IN" sz="1200" b="0" u="none" strike="noStrike" dirty="0">
                <a:effectLst/>
                <a:latin typeface="Courier New" panose="02070309020205020404" pitchFamily="49" charset="0"/>
              </a:rPr>
              <a:t>[8, 9, 13, 14]</a:t>
            </a:r>
            <a:r>
              <a:rPr lang="en-IN" sz="1600" b="0" u="none" strike="noStrike" dirty="0">
                <a:effectLst/>
                <a:latin typeface="Google Sans"/>
              </a:rPr>
              <a:t> </a:t>
            </a:r>
          </a:p>
          <a:p>
            <a:pPr marL="0" marR="0">
              <a:spcBef>
                <a:spcPts val="900"/>
              </a:spcBef>
            </a:pPr>
            <a:r>
              <a:rPr lang="en-IN" sz="1600" b="1" u="none" strike="noStrike" dirty="0">
                <a:effectLst/>
                <a:latin typeface="Google Sans"/>
              </a:rPr>
              <a:t>Step 4 (Insert 12)</a:t>
            </a:r>
            <a:r>
              <a:rPr lang="en-IN" sz="1600" b="0" u="none" strike="noStrike" dirty="0">
                <a:effectLst/>
                <a:latin typeface="Google Sans"/>
              </a:rPr>
              <a:t>: Overflows right leaf. Split at </a:t>
            </a:r>
            <a:r>
              <a:rPr lang="en-IN" sz="1600" b="1" u="none" strike="noStrike" dirty="0">
                <a:effectLst/>
                <a:latin typeface="Google Sans"/>
              </a:rPr>
              <a:t>12</a:t>
            </a:r>
            <a:r>
              <a:rPr lang="en-IN" sz="1600" b="0" u="none" strike="noStrike" dirty="0">
                <a:effectLst/>
                <a:latin typeface="Google Sans"/>
              </a:rPr>
              <a:t> (moves to root).</a:t>
            </a:r>
          </a:p>
          <a:p>
            <a:pPr marR="0" lvl="1">
              <a:spcBef>
                <a:spcPts val="900"/>
              </a:spcBef>
            </a:pPr>
            <a:r>
              <a:rPr lang="en-IN" sz="1600" b="0" u="none" strike="noStrike" dirty="0">
                <a:effectLst/>
                <a:latin typeface="Google Sans"/>
              </a:rPr>
              <a:t>Root: </a:t>
            </a:r>
            <a:r>
              <a:rPr lang="en-IN" sz="1200" b="0" u="none" strike="noStrike" dirty="0">
                <a:effectLst/>
                <a:latin typeface="Courier New" panose="02070309020205020404" pitchFamily="49" charset="0"/>
              </a:rPr>
              <a:t>[6, 12]</a:t>
            </a:r>
            <a:endParaRPr lang="en-IN" sz="1600" b="0" u="none" strike="noStrike" dirty="0">
              <a:effectLst/>
              <a:latin typeface="Google Sans"/>
            </a:endParaRPr>
          </a:p>
          <a:p>
            <a:pPr marR="0" lvl="1">
              <a:spcBef>
                <a:spcPts val="900"/>
              </a:spcBef>
            </a:pPr>
            <a:r>
              <a:rPr lang="en-IN" sz="1600" b="0" u="none" strike="noStrike" dirty="0">
                <a:effectLst/>
                <a:latin typeface="Google Sans"/>
              </a:rPr>
              <a:t>Leaves: </a:t>
            </a:r>
            <a:r>
              <a:rPr lang="en-IN" sz="1200" b="0" u="none" strike="noStrike" dirty="0">
                <a:effectLst/>
                <a:latin typeface="Courier New" panose="02070309020205020404" pitchFamily="49" charset="0"/>
              </a:rPr>
              <a:t>[2, 5]</a:t>
            </a:r>
            <a:r>
              <a:rPr lang="en-IN" sz="1600" b="0" u="none" strike="noStrike" dirty="0">
                <a:effectLst/>
                <a:latin typeface="Google Sans"/>
              </a:rPr>
              <a:t> | </a:t>
            </a:r>
            <a:r>
              <a:rPr lang="en-IN" sz="1200" b="0" u="none" strike="noStrike" dirty="0">
                <a:effectLst/>
                <a:latin typeface="Courier New" panose="02070309020205020404" pitchFamily="49" charset="0"/>
              </a:rPr>
              <a:t>[8, 9]</a:t>
            </a:r>
            <a:r>
              <a:rPr lang="en-IN" sz="1600" b="0" u="none" strike="noStrike" dirty="0">
                <a:effectLst/>
                <a:latin typeface="Google Sans"/>
              </a:rPr>
              <a:t> | </a:t>
            </a:r>
            <a:r>
              <a:rPr lang="en-IN" sz="1200" b="0" u="none" strike="noStrike" dirty="0">
                <a:effectLst/>
                <a:latin typeface="Courier New" panose="02070309020205020404" pitchFamily="49" charset="0"/>
              </a:rPr>
              <a:t>[13, 14]</a:t>
            </a:r>
            <a:endParaRPr lang="en-IN" sz="1200" dirty="0">
              <a:latin typeface="Google Sans"/>
            </a:endParaRPr>
          </a:p>
          <a:p>
            <a:pPr>
              <a:spcBef>
                <a:spcPts val="900"/>
              </a:spcBef>
            </a:pPr>
            <a:r>
              <a:rPr lang="en-IN" sz="1600" b="1" dirty="0">
                <a:latin typeface="Google Sans"/>
              </a:rPr>
              <a:t>Step 5 (Insert 19, 24)</a:t>
            </a:r>
            <a:r>
              <a:rPr lang="en-IN" sz="1600" dirty="0">
                <a:latin typeface="Google Sans"/>
              </a:rPr>
              <a:t>: Adds to rightmost leaf.</a:t>
            </a:r>
          </a:p>
          <a:p>
            <a:pPr marR="0" lvl="1">
              <a:spcBef>
                <a:spcPts val="900"/>
              </a:spcBef>
            </a:pPr>
            <a:r>
              <a:rPr lang="en-IN" sz="1600" dirty="0">
                <a:latin typeface="Google Sans"/>
              </a:rPr>
              <a:t>Root: </a:t>
            </a:r>
            <a:r>
              <a:rPr lang="en-IN" sz="1200" dirty="0">
                <a:latin typeface="Courier New" panose="02070309020205020404" pitchFamily="49" charset="0"/>
              </a:rPr>
              <a:t>[6, 12]</a:t>
            </a:r>
            <a:endParaRPr lang="en-IN" sz="1600" dirty="0">
              <a:latin typeface="Google Sans"/>
            </a:endParaRPr>
          </a:p>
          <a:p>
            <a:pPr marR="0" lvl="1">
              <a:spcBef>
                <a:spcPts val="900"/>
              </a:spcBef>
            </a:pPr>
            <a:r>
              <a:rPr lang="en-IN" sz="1600" dirty="0">
                <a:latin typeface="Google Sans"/>
              </a:rPr>
              <a:t>Leaves: </a:t>
            </a:r>
            <a:r>
              <a:rPr lang="en-IN" sz="1200" dirty="0">
                <a:latin typeface="Courier New" panose="02070309020205020404" pitchFamily="49" charset="0"/>
              </a:rPr>
              <a:t>[2, 5]</a:t>
            </a:r>
            <a:r>
              <a:rPr lang="en-IN" sz="1600" dirty="0">
                <a:latin typeface="Google Sans"/>
              </a:rPr>
              <a:t> | </a:t>
            </a:r>
            <a:r>
              <a:rPr lang="en-IN" sz="1200" dirty="0">
                <a:latin typeface="Courier New" panose="02070309020205020404" pitchFamily="49" charset="0"/>
              </a:rPr>
              <a:t>[8, 9]</a:t>
            </a:r>
            <a:r>
              <a:rPr lang="en-IN" sz="1600" dirty="0">
                <a:latin typeface="Google Sans"/>
              </a:rPr>
              <a:t> | </a:t>
            </a:r>
            <a:r>
              <a:rPr lang="en-IN" sz="1200" dirty="0">
                <a:latin typeface="Courier New" panose="02070309020205020404" pitchFamily="49" charset="0"/>
              </a:rPr>
              <a:t>[13, 14, 19, 24]</a:t>
            </a:r>
            <a:endParaRPr lang="en-IN" sz="1600" b="1" dirty="0">
              <a:latin typeface="Google Sans"/>
            </a:endParaRPr>
          </a:p>
        </p:txBody>
      </p:sp>
      <p:sp>
        <p:nvSpPr>
          <p:cNvPr id="8" name="TextBox 7">
            <a:extLst>
              <a:ext uri="{FF2B5EF4-FFF2-40B4-BE49-F238E27FC236}">
                <a16:creationId xmlns:a16="http://schemas.microsoft.com/office/drawing/2014/main" id="{046CCAF0-991E-73E0-D68A-F298F4E83F92}"/>
              </a:ext>
            </a:extLst>
          </p:cNvPr>
          <p:cNvSpPr txBox="1"/>
          <p:nvPr/>
        </p:nvSpPr>
        <p:spPr>
          <a:xfrm>
            <a:off x="5852160" y="890384"/>
            <a:ext cx="6126480" cy="3593291"/>
          </a:xfrm>
          <a:prstGeom prst="rect">
            <a:avLst/>
          </a:prstGeom>
          <a:noFill/>
          <a:ln>
            <a:solidFill>
              <a:schemeClr val="accent1"/>
            </a:solidFill>
          </a:ln>
        </p:spPr>
        <p:txBody>
          <a:bodyPr wrap="square">
            <a:spAutoFit/>
          </a:bodyPr>
          <a:lstStyle/>
          <a:p>
            <a:pPr marL="0" marR="0">
              <a:spcBef>
                <a:spcPts val="900"/>
              </a:spcBef>
            </a:pPr>
            <a:r>
              <a:rPr lang="en-IN" sz="1600" b="1" u="none" strike="noStrike" dirty="0">
                <a:effectLst/>
                <a:latin typeface="Google Sans"/>
              </a:rPr>
              <a:t>Step 6 (Insert 18)</a:t>
            </a:r>
            <a:r>
              <a:rPr lang="en-IN" sz="1600" b="0" u="none" strike="noStrike" dirty="0">
                <a:effectLst/>
                <a:latin typeface="Google Sans"/>
              </a:rPr>
              <a:t>: Overflows rightmost leaf. Split at </a:t>
            </a:r>
            <a:r>
              <a:rPr lang="en-IN" sz="1600" b="1" u="none" strike="noStrike" dirty="0">
                <a:effectLst/>
                <a:latin typeface="Google Sans"/>
              </a:rPr>
              <a:t>18</a:t>
            </a:r>
            <a:r>
              <a:rPr lang="en-IN" sz="1600" b="0" u="none" strike="noStrike" dirty="0">
                <a:effectLst/>
                <a:latin typeface="Google Sans"/>
              </a:rPr>
              <a:t> (moves to root).</a:t>
            </a:r>
          </a:p>
          <a:p>
            <a:pPr marR="0" lvl="1">
              <a:spcBef>
                <a:spcPts val="900"/>
              </a:spcBef>
            </a:pPr>
            <a:r>
              <a:rPr lang="en-IN" sz="1600" b="0" u="none" strike="noStrike" dirty="0">
                <a:effectLst/>
                <a:latin typeface="Google Sans"/>
              </a:rPr>
              <a:t>Root: </a:t>
            </a:r>
            <a:r>
              <a:rPr lang="en-IN" sz="1200" b="0" u="none" strike="noStrike" dirty="0">
                <a:effectLst/>
                <a:latin typeface="Courier New" panose="02070309020205020404" pitchFamily="49" charset="0"/>
              </a:rPr>
              <a:t>[6, 12, 18]</a:t>
            </a:r>
            <a:endParaRPr lang="en-IN" sz="1600" b="0" u="none" strike="noStrike" dirty="0">
              <a:effectLst/>
              <a:latin typeface="Google Sans"/>
            </a:endParaRPr>
          </a:p>
          <a:p>
            <a:pPr marR="0" lvl="1">
              <a:spcBef>
                <a:spcPts val="900"/>
              </a:spcBef>
            </a:pPr>
            <a:r>
              <a:rPr lang="en-IN" sz="1600" b="0" u="none" strike="noStrike" dirty="0">
                <a:effectLst/>
                <a:latin typeface="Google Sans"/>
              </a:rPr>
              <a:t>Leaves: </a:t>
            </a:r>
            <a:r>
              <a:rPr lang="en-IN" sz="1200" b="0" u="none" strike="noStrike" dirty="0">
                <a:effectLst/>
                <a:latin typeface="Courier New" panose="02070309020205020404" pitchFamily="49" charset="0"/>
              </a:rPr>
              <a:t>[2, 5]</a:t>
            </a:r>
            <a:r>
              <a:rPr lang="en-IN" sz="1600" b="0" u="none" strike="noStrike" dirty="0">
                <a:effectLst/>
                <a:latin typeface="Google Sans"/>
              </a:rPr>
              <a:t> | </a:t>
            </a:r>
            <a:r>
              <a:rPr lang="en-IN" sz="1200" b="0" u="none" strike="noStrike" dirty="0">
                <a:effectLst/>
                <a:latin typeface="Courier New" panose="02070309020205020404" pitchFamily="49" charset="0"/>
              </a:rPr>
              <a:t>[8, 9]</a:t>
            </a:r>
            <a:r>
              <a:rPr lang="en-IN" sz="1600" b="0" u="none" strike="noStrike" dirty="0">
                <a:effectLst/>
                <a:latin typeface="Google Sans"/>
              </a:rPr>
              <a:t> | </a:t>
            </a:r>
            <a:r>
              <a:rPr lang="en-IN" sz="1200" b="0" u="none" strike="noStrike" dirty="0">
                <a:effectLst/>
                <a:latin typeface="Courier New" panose="02070309020205020404" pitchFamily="49" charset="0"/>
              </a:rPr>
              <a:t>[13, 14]</a:t>
            </a:r>
            <a:r>
              <a:rPr lang="en-IN" sz="1600" b="0" u="none" strike="noStrike" dirty="0">
                <a:effectLst/>
                <a:latin typeface="Google Sans"/>
              </a:rPr>
              <a:t> | </a:t>
            </a:r>
            <a:r>
              <a:rPr lang="en-IN" sz="1200" b="0" u="none" strike="noStrike" dirty="0">
                <a:effectLst/>
                <a:latin typeface="Courier New" panose="02070309020205020404" pitchFamily="49" charset="0"/>
              </a:rPr>
              <a:t>[19, 24]</a:t>
            </a:r>
            <a:r>
              <a:rPr lang="en-IN" sz="1600" b="0" u="none" strike="noStrike" dirty="0">
                <a:effectLst/>
                <a:latin typeface="Google Sans"/>
              </a:rPr>
              <a:t> </a:t>
            </a:r>
          </a:p>
          <a:p>
            <a:pPr marL="0" marR="0">
              <a:spcBef>
                <a:spcPts val="900"/>
              </a:spcBef>
            </a:pPr>
            <a:r>
              <a:rPr lang="en-IN" sz="1600" b="1" u="none" strike="noStrike" dirty="0">
                <a:effectLst/>
                <a:latin typeface="Google Sans"/>
              </a:rPr>
              <a:t>Step 7 (Insert 15)</a:t>
            </a:r>
            <a:r>
              <a:rPr lang="en-IN" sz="1600" b="0" u="none" strike="noStrike" dirty="0">
                <a:effectLst/>
                <a:latin typeface="Google Sans"/>
              </a:rPr>
              <a:t>: Adds to third leaf.</a:t>
            </a:r>
          </a:p>
          <a:p>
            <a:pPr marR="0" lvl="1">
              <a:spcBef>
                <a:spcPts val="900"/>
              </a:spcBef>
            </a:pPr>
            <a:r>
              <a:rPr lang="en-IN" sz="1600" b="0" u="none" strike="noStrike" dirty="0">
                <a:effectLst/>
                <a:latin typeface="Google Sans"/>
              </a:rPr>
              <a:t>Leaf: </a:t>
            </a:r>
            <a:r>
              <a:rPr lang="en-IN" sz="1200" b="0" u="none" strike="noStrike" dirty="0">
                <a:effectLst/>
                <a:latin typeface="Courier New" panose="02070309020205020404" pitchFamily="49" charset="0"/>
              </a:rPr>
              <a:t>[13, 14, 15]</a:t>
            </a:r>
            <a:r>
              <a:rPr lang="en-IN" sz="1600" b="0" u="none" strike="noStrike" dirty="0">
                <a:effectLst/>
                <a:latin typeface="Google Sans"/>
              </a:rPr>
              <a:t> </a:t>
            </a:r>
          </a:p>
          <a:p>
            <a:pPr marL="0" marR="0">
              <a:spcBef>
                <a:spcPts val="900"/>
              </a:spcBef>
            </a:pPr>
            <a:r>
              <a:rPr lang="en-IN" sz="1600" b="1" u="none" strike="noStrike" dirty="0">
                <a:effectLst/>
                <a:latin typeface="Google Sans"/>
              </a:rPr>
              <a:t>Step 8 (Insert 5)</a:t>
            </a:r>
            <a:r>
              <a:rPr lang="en-IN" sz="1600" b="0" u="none" strike="noStrike" dirty="0">
                <a:effectLst/>
                <a:latin typeface="Google Sans"/>
              </a:rPr>
              <a:t>: Duplicate. Ignored.</a:t>
            </a:r>
          </a:p>
          <a:p>
            <a:pPr marL="0" marR="0">
              <a:spcBef>
                <a:spcPts val="900"/>
              </a:spcBef>
            </a:pPr>
            <a:r>
              <a:rPr lang="en-IN" sz="1600" b="1" u="none" strike="noStrike" dirty="0">
                <a:effectLst/>
                <a:latin typeface="Google Sans"/>
              </a:rPr>
              <a:t>Step 9 (Insert 16)</a:t>
            </a:r>
            <a:r>
              <a:rPr lang="en-IN" sz="1600" b="0" u="none" strike="noStrike" dirty="0">
                <a:effectLst/>
                <a:latin typeface="Google Sans"/>
              </a:rPr>
              <a:t>: Adds to third leaf.</a:t>
            </a:r>
          </a:p>
          <a:p>
            <a:pPr marR="0" lvl="1">
              <a:spcBef>
                <a:spcPts val="900"/>
              </a:spcBef>
            </a:pPr>
            <a:r>
              <a:rPr lang="en-IN" sz="1600" b="0" u="none" strike="noStrike" dirty="0">
                <a:effectLst/>
                <a:latin typeface="Google Sans"/>
              </a:rPr>
              <a:t>Leaf: </a:t>
            </a:r>
            <a:r>
              <a:rPr lang="en-IN" sz="1200" b="0" u="none" strike="noStrike" dirty="0">
                <a:effectLst/>
                <a:latin typeface="Courier New" panose="02070309020205020404" pitchFamily="49" charset="0"/>
              </a:rPr>
              <a:t>[13, 14, 15, 16]</a:t>
            </a:r>
            <a:r>
              <a:rPr lang="en-IN" sz="1600" b="0" u="none" strike="noStrike" dirty="0">
                <a:effectLst/>
                <a:latin typeface="Google Sans"/>
              </a:rPr>
              <a:t> </a:t>
            </a:r>
          </a:p>
          <a:p>
            <a:pPr marL="0" marR="0">
              <a:spcBef>
                <a:spcPts val="900"/>
              </a:spcBef>
            </a:pPr>
            <a:r>
              <a:rPr lang="en-IN" sz="1600" b="1" u="none" strike="noStrike" dirty="0">
                <a:effectLst/>
                <a:latin typeface="Google Sans"/>
              </a:rPr>
              <a:t>Step 10 (Insert 20, 21)</a:t>
            </a:r>
            <a:r>
              <a:rPr lang="en-IN" sz="1600" b="0" u="none" strike="noStrike" dirty="0">
                <a:effectLst/>
                <a:latin typeface="Google Sans"/>
              </a:rPr>
              <a:t>: Adds to fourth leaf.</a:t>
            </a:r>
          </a:p>
          <a:p>
            <a:pPr marR="0" lvl="1">
              <a:spcBef>
                <a:spcPts val="900"/>
              </a:spcBef>
            </a:pPr>
            <a:r>
              <a:rPr lang="en-IN" sz="1600" b="0" u="none" strike="noStrike" dirty="0">
                <a:effectLst/>
                <a:latin typeface="Google Sans"/>
              </a:rPr>
              <a:t>Leaf: </a:t>
            </a:r>
            <a:r>
              <a:rPr lang="en-IN" sz="1200" b="0" u="none" strike="noStrike" dirty="0">
                <a:effectLst/>
                <a:latin typeface="Courier New" panose="02070309020205020404" pitchFamily="49" charset="0"/>
              </a:rPr>
              <a:t>[19, 20, 21, 24]</a:t>
            </a:r>
            <a:endParaRPr lang="en-IN" sz="1600" b="0" u="none" strike="noStrike" dirty="0">
              <a:effectLst/>
              <a:latin typeface="Google Sans"/>
            </a:endParaRPr>
          </a:p>
        </p:txBody>
      </p:sp>
      <p:sp>
        <p:nvSpPr>
          <p:cNvPr id="10" name="TextBox 9">
            <a:extLst>
              <a:ext uri="{FF2B5EF4-FFF2-40B4-BE49-F238E27FC236}">
                <a16:creationId xmlns:a16="http://schemas.microsoft.com/office/drawing/2014/main" id="{9D1CB7A4-E3A1-3D0F-5430-F180881D7F3C}"/>
              </a:ext>
            </a:extLst>
          </p:cNvPr>
          <p:cNvSpPr txBox="1"/>
          <p:nvPr/>
        </p:nvSpPr>
        <p:spPr>
          <a:xfrm>
            <a:off x="541020" y="189111"/>
            <a:ext cx="11109960" cy="400110"/>
          </a:xfrm>
          <a:prstGeom prst="rect">
            <a:avLst/>
          </a:prstGeom>
          <a:noFill/>
        </p:spPr>
        <p:txBody>
          <a:bodyPr wrap="square" rtlCol="0">
            <a:spAutoFit/>
          </a:bodyPr>
          <a:lstStyle/>
          <a:p>
            <a:pPr algn="ctr"/>
            <a:r>
              <a:rPr lang="en-IN" sz="2000" dirty="0">
                <a:solidFill>
                  <a:srgbClr val="FF0000"/>
                </a:solidFill>
                <a:latin typeface="Calibri" panose="020F0502020204030204" pitchFamily="34" charset="0"/>
              </a:rPr>
              <a:t>Construct B tree of order 5 for the list of elements  2, 8, 5, 6, 13, 9, 14, 12, 19, 24, 18, 15, 5, 16, 20, 21</a:t>
            </a:r>
          </a:p>
        </p:txBody>
      </p:sp>
      <p:sp>
        <p:nvSpPr>
          <p:cNvPr id="3" name="TextBox 2">
            <a:extLst>
              <a:ext uri="{FF2B5EF4-FFF2-40B4-BE49-F238E27FC236}">
                <a16:creationId xmlns:a16="http://schemas.microsoft.com/office/drawing/2014/main" id="{AB32F235-685F-DFF4-C22C-6660DD7F1595}"/>
              </a:ext>
            </a:extLst>
          </p:cNvPr>
          <p:cNvSpPr txBox="1"/>
          <p:nvPr/>
        </p:nvSpPr>
        <p:spPr>
          <a:xfrm>
            <a:off x="6959600" y="5049520"/>
            <a:ext cx="3556000" cy="369332"/>
          </a:xfrm>
          <a:prstGeom prst="rect">
            <a:avLst/>
          </a:prstGeom>
          <a:noFill/>
        </p:spPr>
        <p:txBody>
          <a:bodyPr wrap="square" rtlCol="0">
            <a:spAutoFit/>
          </a:bodyPr>
          <a:lstStyle/>
          <a:p>
            <a:r>
              <a:rPr lang="en-IN" dirty="0">
                <a:solidFill>
                  <a:srgbClr val="FF0000"/>
                </a:solidFill>
              </a:rPr>
              <a:t>For complete B-Tree refer next slide</a:t>
            </a:r>
          </a:p>
        </p:txBody>
      </p:sp>
    </p:spTree>
    <p:extLst>
      <p:ext uri="{BB962C8B-B14F-4D97-AF65-F5344CB8AC3E}">
        <p14:creationId xmlns:p14="http://schemas.microsoft.com/office/powerpoint/2010/main" val="37110408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E3B34-3A4F-1208-6690-4E7EFD5D6F8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F5A2CD-59C4-96E4-5B05-C952E61A3A2A}"/>
              </a:ext>
            </a:extLst>
          </p:cNvPr>
          <p:cNvSpPr>
            <a:spLocks noGrp="1"/>
          </p:cNvSpPr>
          <p:nvPr>
            <p:ph type="sldNum" sz="quarter" idx="12"/>
          </p:nvPr>
        </p:nvSpPr>
        <p:spPr/>
        <p:txBody>
          <a:bodyPr/>
          <a:lstStyle/>
          <a:p>
            <a:fld id="{520A0C6E-EFDF-49F2-A292-CF6FBFE4B673}" type="slidenum">
              <a:rPr lang="en-IN" smtClean="0"/>
              <a:t>31</a:t>
            </a:fld>
            <a:endParaRPr lang="en-IN"/>
          </a:p>
        </p:txBody>
      </p:sp>
      <p:sp>
        <p:nvSpPr>
          <p:cNvPr id="4" name="TextBox 3">
            <a:extLst>
              <a:ext uri="{FF2B5EF4-FFF2-40B4-BE49-F238E27FC236}">
                <a16:creationId xmlns:a16="http://schemas.microsoft.com/office/drawing/2014/main" id="{7743D264-257F-74BE-A244-4129C056F621}"/>
              </a:ext>
            </a:extLst>
          </p:cNvPr>
          <p:cNvSpPr txBox="1"/>
          <p:nvPr/>
        </p:nvSpPr>
        <p:spPr>
          <a:xfrm>
            <a:off x="619760" y="386080"/>
            <a:ext cx="11109960" cy="400110"/>
          </a:xfrm>
          <a:prstGeom prst="rect">
            <a:avLst/>
          </a:prstGeom>
          <a:noFill/>
        </p:spPr>
        <p:txBody>
          <a:bodyPr wrap="square" rtlCol="0">
            <a:spAutoFit/>
          </a:bodyPr>
          <a:lstStyle/>
          <a:p>
            <a:pPr algn="just"/>
            <a:r>
              <a:rPr lang="en-IN" sz="2000" dirty="0">
                <a:solidFill>
                  <a:srgbClr val="FF0000"/>
                </a:solidFill>
                <a:latin typeface="Calibri" panose="020F0502020204030204" pitchFamily="34" charset="0"/>
              </a:rPr>
              <a:t>Construct B tree of order 5 for the list of elements  2, 8, 5, 6, 13, 9, 14, 12, 19, 24, 18, 15, 5, 16, 20, 21</a:t>
            </a:r>
          </a:p>
        </p:txBody>
      </p:sp>
      <p:pic>
        <p:nvPicPr>
          <p:cNvPr id="3" name="Picture 2" descr="Image of a graph lightbox">
            <a:extLst>
              <a:ext uri="{FF2B5EF4-FFF2-40B4-BE49-F238E27FC236}">
                <a16:creationId xmlns:a16="http://schemas.microsoft.com/office/drawing/2014/main" id="{FDF4A665-F0F1-E5CC-A1F7-72E0B75CCE70}"/>
              </a:ext>
            </a:extLst>
          </p:cNvPr>
          <p:cNvPicPr>
            <a:picLocks noChangeAspect="1"/>
          </p:cNvPicPr>
          <p:nvPr/>
        </p:nvPicPr>
        <p:blipFill>
          <a:blip r:embed="rId2"/>
          <a:stretch>
            <a:fillRect/>
          </a:stretch>
        </p:blipFill>
        <p:spPr>
          <a:xfrm>
            <a:off x="1294684" y="1462144"/>
            <a:ext cx="9922130" cy="4095376"/>
          </a:xfrm>
          <a:prstGeom prst="rect">
            <a:avLst/>
          </a:prstGeom>
        </p:spPr>
      </p:pic>
      <p:sp>
        <p:nvSpPr>
          <p:cNvPr id="7" name="TextBox 6">
            <a:extLst>
              <a:ext uri="{FF2B5EF4-FFF2-40B4-BE49-F238E27FC236}">
                <a16:creationId xmlns:a16="http://schemas.microsoft.com/office/drawing/2014/main" id="{7B3F276A-4FCF-58D6-97FE-3497D8B3385E}"/>
              </a:ext>
            </a:extLst>
          </p:cNvPr>
          <p:cNvSpPr txBox="1"/>
          <p:nvPr/>
        </p:nvSpPr>
        <p:spPr>
          <a:xfrm>
            <a:off x="2946436" y="1622977"/>
            <a:ext cx="6096000" cy="461665"/>
          </a:xfrm>
          <a:prstGeom prst="rect">
            <a:avLst/>
          </a:prstGeom>
          <a:noFill/>
        </p:spPr>
        <p:txBody>
          <a:bodyPr wrap="square">
            <a:spAutoFit/>
          </a:bodyPr>
          <a:lstStyle/>
          <a:p>
            <a:pPr marL="0" marR="0" algn="ctr">
              <a:spcBef>
                <a:spcPts val="1800"/>
              </a:spcBef>
              <a:spcAft>
                <a:spcPts val="900"/>
              </a:spcAft>
              <a:buNone/>
            </a:pPr>
            <a:r>
              <a:rPr lang="en-IN" sz="2400" b="1" dirty="0">
                <a:latin typeface="Google Sans"/>
              </a:rPr>
              <a:t>Complete B-</a:t>
            </a:r>
            <a:r>
              <a:rPr lang="en-IN" sz="2400" b="1" u="none" strike="noStrike" dirty="0">
                <a:effectLst/>
                <a:latin typeface="Google Sans"/>
              </a:rPr>
              <a:t>Tree </a:t>
            </a:r>
          </a:p>
        </p:txBody>
      </p:sp>
    </p:spTree>
    <p:extLst>
      <p:ext uri="{BB962C8B-B14F-4D97-AF65-F5344CB8AC3E}">
        <p14:creationId xmlns:p14="http://schemas.microsoft.com/office/powerpoint/2010/main" val="34284340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1B5597D-B675-FEDD-8281-1BE20A2E0A91}"/>
              </a:ext>
            </a:extLst>
          </p:cNvPr>
          <p:cNvSpPr txBox="1"/>
          <p:nvPr/>
        </p:nvSpPr>
        <p:spPr>
          <a:xfrm>
            <a:off x="254000" y="321995"/>
            <a:ext cx="10576560" cy="584775"/>
          </a:xfrm>
          <a:prstGeom prst="rect">
            <a:avLst/>
          </a:prstGeom>
          <a:noFill/>
        </p:spPr>
        <p:txBody>
          <a:bodyPr wrap="square">
            <a:spAutoFit/>
          </a:bodyPr>
          <a:lstStyle/>
          <a:p>
            <a:pPr algn="ctr"/>
            <a:r>
              <a:rPr lang="en-IN" sz="3200" b="1" dirty="0">
                <a:latin typeface="Calibri" panose="020F0502020204030204" pitchFamily="34" charset="0"/>
                <a:cs typeface="Calibri" panose="020F0502020204030204" pitchFamily="34" charset="0"/>
              </a:rPr>
              <a:t>Basic search and traversal techniques for trees and graphs</a:t>
            </a:r>
          </a:p>
        </p:txBody>
      </p:sp>
      <p:sp>
        <p:nvSpPr>
          <p:cNvPr id="2" name="Slide Number Placeholder 1">
            <a:extLst>
              <a:ext uri="{FF2B5EF4-FFF2-40B4-BE49-F238E27FC236}">
                <a16:creationId xmlns:a16="http://schemas.microsoft.com/office/drawing/2014/main" id="{4A73ABCB-7056-4B1B-515B-BAFCAE164805}"/>
              </a:ext>
            </a:extLst>
          </p:cNvPr>
          <p:cNvSpPr>
            <a:spLocks noGrp="1"/>
          </p:cNvSpPr>
          <p:nvPr>
            <p:ph type="sldNum" sz="quarter" idx="12"/>
          </p:nvPr>
        </p:nvSpPr>
        <p:spPr/>
        <p:txBody>
          <a:bodyPr/>
          <a:lstStyle/>
          <a:p>
            <a:fld id="{520A0C6E-EFDF-49F2-A292-CF6FBFE4B673}" type="slidenum">
              <a:rPr lang="en-IN" smtClean="0"/>
              <a:t>32</a:t>
            </a:fld>
            <a:endParaRPr lang="en-IN"/>
          </a:p>
        </p:txBody>
      </p:sp>
      <p:sp>
        <p:nvSpPr>
          <p:cNvPr id="6" name="TextBox 5">
            <a:extLst>
              <a:ext uri="{FF2B5EF4-FFF2-40B4-BE49-F238E27FC236}">
                <a16:creationId xmlns:a16="http://schemas.microsoft.com/office/drawing/2014/main" id="{59BB4BFE-1739-F45E-9EC8-7230FCA0CFBE}"/>
              </a:ext>
            </a:extLst>
          </p:cNvPr>
          <p:cNvSpPr txBox="1"/>
          <p:nvPr/>
        </p:nvSpPr>
        <p:spPr>
          <a:xfrm>
            <a:off x="929640" y="1049571"/>
            <a:ext cx="10078720" cy="5163978"/>
          </a:xfrm>
          <a:prstGeom prst="rect">
            <a:avLst/>
          </a:prstGeom>
          <a:noFill/>
        </p:spPr>
        <p:txBody>
          <a:bodyPr wrap="square">
            <a:spAutoFit/>
          </a:bodyPr>
          <a:lstStyle/>
          <a:p>
            <a:pPr marL="0" marR="0" indent="0" algn="just" rtl="0" fontAlgn="base">
              <a:lnSpc>
                <a:spcPct val="150000"/>
              </a:lnSpc>
              <a:spcAft>
                <a:spcPts val="750"/>
              </a:spcAft>
              <a:buNone/>
            </a:pPr>
            <a:r>
              <a:rPr lang="en-IN" sz="2000" b="1" i="0" spc="10" dirty="0">
                <a:effectLst/>
              </a:rPr>
              <a:t>Breadth-First Search (BFS)</a:t>
            </a:r>
            <a:r>
              <a:rPr lang="en-IN" sz="2000" b="0" i="0" spc="12" dirty="0">
                <a:effectLst/>
              </a:rPr>
              <a:t> and </a:t>
            </a:r>
            <a:r>
              <a:rPr lang="en-IN" sz="2000" b="1" i="0" spc="10" dirty="0">
                <a:effectLst/>
              </a:rPr>
              <a:t>Depth-First Search (DFS)</a:t>
            </a:r>
            <a:r>
              <a:rPr lang="en-IN" sz="2000" b="0" i="0" spc="12" dirty="0">
                <a:effectLst/>
              </a:rPr>
              <a:t> for Binary Trees are ways to traverse nodes of the Binary Tree. This article aims to provide the basic difference between </a:t>
            </a:r>
            <a:r>
              <a:rPr lang="en-IN" sz="2000" b="1" i="0" spc="10" dirty="0">
                <a:effectLst/>
              </a:rPr>
              <a:t>BFS</a:t>
            </a:r>
            <a:r>
              <a:rPr lang="en-IN" sz="2000" b="0" i="0" spc="12" dirty="0">
                <a:effectLst/>
              </a:rPr>
              <a:t> and DFS for Binary Tree.</a:t>
            </a:r>
            <a:endParaRPr lang="en-IN" sz="2000" b="0" i="0" spc="10" dirty="0">
              <a:effectLst/>
            </a:endParaRPr>
          </a:p>
          <a:p>
            <a:pPr marL="0" marR="0" indent="0" algn="just" fontAlgn="base">
              <a:lnSpc>
                <a:spcPct val="150000"/>
              </a:lnSpc>
              <a:spcBef>
                <a:spcPts val="1800"/>
              </a:spcBef>
              <a:spcAft>
                <a:spcPts val="1800"/>
              </a:spcAft>
              <a:buNone/>
            </a:pPr>
            <a:r>
              <a:rPr lang="en-IN" sz="2400" b="1" i="0" spc="12" dirty="0">
                <a:effectLst/>
              </a:rPr>
              <a:t>A Tree is typically traversed in two ways:</a:t>
            </a:r>
            <a:endParaRPr lang="en-IN" sz="2400" b="1" i="0" spc="0" dirty="0">
              <a:effectLst/>
            </a:endParaRPr>
          </a:p>
          <a:p>
            <a:pPr marL="571500" marR="0" indent="-342900" algn="just" fontAlgn="base">
              <a:lnSpc>
                <a:spcPct val="150000"/>
              </a:lnSpc>
              <a:spcAft>
                <a:spcPts val="600"/>
              </a:spcAft>
              <a:buFont typeface="+mj-lt"/>
              <a:buAutoNum type="arabicPeriod"/>
            </a:pPr>
            <a:r>
              <a:rPr lang="en-IN" sz="2000" b="0" i="0" spc="12" dirty="0">
                <a:effectLst/>
              </a:rPr>
              <a:t>Breadth First Traversal (Or Level Order Traversal)</a:t>
            </a:r>
            <a:endParaRPr lang="en-IN" sz="2000" b="0" i="0" spc="10" dirty="0">
              <a:effectLst/>
            </a:endParaRPr>
          </a:p>
          <a:p>
            <a:pPr marL="571500" marR="0" indent="-342900" algn="just" fontAlgn="base">
              <a:lnSpc>
                <a:spcPct val="150000"/>
              </a:lnSpc>
              <a:spcAft>
                <a:spcPts val="600"/>
              </a:spcAft>
              <a:buFont typeface="+mj-lt"/>
              <a:buAutoNum type="arabicPeriod"/>
            </a:pPr>
            <a:r>
              <a:rPr lang="en-IN" sz="2000" b="0" i="0" spc="12" dirty="0">
                <a:effectLst/>
              </a:rPr>
              <a:t>Depth First Traversals</a:t>
            </a:r>
            <a:endParaRPr lang="en-IN" sz="2000" b="0" i="0" spc="10" dirty="0">
              <a:effectLst/>
            </a:endParaRPr>
          </a:p>
          <a:p>
            <a:pPr marL="1200150" lvl="2" indent="-285750" algn="just" fontAlgn="base">
              <a:lnSpc>
                <a:spcPct val="150000"/>
              </a:lnSpc>
              <a:spcAft>
                <a:spcPts val="600"/>
              </a:spcAft>
              <a:buFont typeface="Arial" panose="020B0604020202020204" pitchFamily="34" charset="0"/>
              <a:buChar char="•"/>
            </a:pPr>
            <a:r>
              <a:rPr lang="en-IN" sz="2000" i="0" spc="10" dirty="0" err="1">
                <a:effectLst/>
              </a:rPr>
              <a:t>Inorder</a:t>
            </a:r>
            <a:r>
              <a:rPr lang="en-IN" sz="2000" i="0" spc="10" dirty="0">
                <a:effectLst/>
              </a:rPr>
              <a:t> Traversal (Left-Root-Right)</a:t>
            </a:r>
          </a:p>
          <a:p>
            <a:pPr marL="1200150" lvl="2" indent="-285750" algn="just" fontAlgn="base">
              <a:lnSpc>
                <a:spcPct val="150000"/>
              </a:lnSpc>
              <a:spcAft>
                <a:spcPts val="600"/>
              </a:spcAft>
              <a:buFont typeface="Arial" panose="020B0604020202020204" pitchFamily="34" charset="0"/>
              <a:buChar char="•"/>
            </a:pPr>
            <a:r>
              <a:rPr lang="en-IN" sz="2000" i="0" spc="10" dirty="0">
                <a:effectLst/>
              </a:rPr>
              <a:t>Preorder Traversal (Root-Left-Right)</a:t>
            </a:r>
          </a:p>
          <a:p>
            <a:pPr marL="1200150" lvl="2" indent="-285750" algn="just" fontAlgn="base">
              <a:lnSpc>
                <a:spcPct val="150000"/>
              </a:lnSpc>
              <a:spcAft>
                <a:spcPts val="600"/>
              </a:spcAft>
              <a:buFont typeface="Arial" panose="020B0604020202020204" pitchFamily="34" charset="0"/>
              <a:buChar char="•"/>
            </a:pPr>
            <a:r>
              <a:rPr lang="en-IN" sz="2000" i="0" spc="10" dirty="0" err="1">
                <a:effectLst/>
              </a:rPr>
              <a:t>Postorder</a:t>
            </a:r>
            <a:r>
              <a:rPr lang="en-IN" sz="2000" i="0" spc="10" dirty="0">
                <a:effectLst/>
              </a:rPr>
              <a:t> Traversal (Left-Right-Root)</a:t>
            </a:r>
          </a:p>
        </p:txBody>
      </p:sp>
    </p:spTree>
    <p:extLst>
      <p:ext uri="{BB962C8B-B14F-4D97-AF65-F5344CB8AC3E}">
        <p14:creationId xmlns:p14="http://schemas.microsoft.com/office/powerpoint/2010/main" val="299868148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255D4DE-ABA3-7E96-D990-F0B115A9FC24}"/>
              </a:ext>
            </a:extLst>
          </p:cNvPr>
          <p:cNvSpPr>
            <a:spLocks noGrp="1"/>
          </p:cNvSpPr>
          <p:nvPr>
            <p:ph type="sldNum" sz="quarter" idx="12"/>
          </p:nvPr>
        </p:nvSpPr>
        <p:spPr/>
        <p:txBody>
          <a:bodyPr/>
          <a:lstStyle/>
          <a:p>
            <a:fld id="{520A0C6E-EFDF-49F2-A292-CF6FBFE4B673}" type="slidenum">
              <a:rPr lang="en-IN" smtClean="0">
                <a:latin typeface="+mn-lt"/>
              </a:rPr>
              <a:t>33</a:t>
            </a:fld>
            <a:endParaRPr lang="en-IN">
              <a:latin typeface="+mn-lt"/>
            </a:endParaRPr>
          </a:p>
        </p:txBody>
      </p:sp>
      <p:sp>
        <p:nvSpPr>
          <p:cNvPr id="4" name="TextBox 3">
            <a:extLst>
              <a:ext uri="{FF2B5EF4-FFF2-40B4-BE49-F238E27FC236}">
                <a16:creationId xmlns:a16="http://schemas.microsoft.com/office/drawing/2014/main" id="{D885A467-D0DB-438F-11ED-1C5A1B7765EE}"/>
              </a:ext>
            </a:extLst>
          </p:cNvPr>
          <p:cNvSpPr txBox="1"/>
          <p:nvPr/>
        </p:nvSpPr>
        <p:spPr>
          <a:xfrm>
            <a:off x="985520" y="830339"/>
            <a:ext cx="10368280" cy="1429622"/>
          </a:xfrm>
          <a:prstGeom prst="rect">
            <a:avLst/>
          </a:prstGeom>
          <a:noFill/>
        </p:spPr>
        <p:txBody>
          <a:bodyPr wrap="square">
            <a:spAutoFit/>
          </a:bodyPr>
          <a:lstStyle/>
          <a:p>
            <a:pPr algn="just">
              <a:lnSpc>
                <a:spcPct val="150000"/>
              </a:lnSpc>
            </a:pPr>
            <a:r>
              <a:rPr lang="en-IN" sz="2000" b="1" i="0" spc="10" dirty="0">
                <a:effectLst/>
              </a:rPr>
              <a:t>Breadth First Search (BFS) </a:t>
            </a:r>
            <a:r>
              <a:rPr lang="en-IN" sz="2000" b="0" i="0" spc="12" dirty="0">
                <a:effectLst/>
              </a:rPr>
              <a:t>is a graph traversal algorithm that starts traversing the graph from the root node and explores all the </a:t>
            </a:r>
            <a:r>
              <a:rPr lang="en-IN" sz="2000" b="0" i="0" spc="12" dirty="0" err="1">
                <a:effectLst/>
              </a:rPr>
              <a:t>neighboring</a:t>
            </a:r>
            <a:r>
              <a:rPr lang="en-IN" sz="2000" b="0" i="0" spc="12" dirty="0">
                <a:effectLst/>
              </a:rPr>
              <a:t> nodes at the present depth prior to moving on to the nodes at the next depth level.</a:t>
            </a:r>
            <a:endParaRPr lang="en-IN" sz="3200" dirty="0"/>
          </a:p>
        </p:txBody>
      </p:sp>
      <p:sp>
        <p:nvSpPr>
          <p:cNvPr id="8" name="TextBox 7">
            <a:extLst>
              <a:ext uri="{FF2B5EF4-FFF2-40B4-BE49-F238E27FC236}">
                <a16:creationId xmlns:a16="http://schemas.microsoft.com/office/drawing/2014/main" id="{62135128-2EB1-D65D-6702-3932A15D79A5}"/>
              </a:ext>
            </a:extLst>
          </p:cNvPr>
          <p:cNvSpPr txBox="1"/>
          <p:nvPr/>
        </p:nvSpPr>
        <p:spPr>
          <a:xfrm>
            <a:off x="3048000" y="245564"/>
            <a:ext cx="6096000" cy="584775"/>
          </a:xfrm>
          <a:prstGeom prst="rect">
            <a:avLst/>
          </a:prstGeom>
          <a:noFill/>
        </p:spPr>
        <p:txBody>
          <a:bodyPr wrap="square">
            <a:spAutoFit/>
          </a:bodyPr>
          <a:lstStyle/>
          <a:p>
            <a:pPr algn="ctr"/>
            <a:r>
              <a:rPr lang="en-IN" sz="3200" b="1" i="0" spc="10" dirty="0">
                <a:effectLst/>
              </a:rPr>
              <a:t>Breadth First Search (BFS)</a:t>
            </a:r>
            <a:endParaRPr lang="en-IN" sz="4400" dirty="0"/>
          </a:p>
        </p:txBody>
      </p:sp>
      <p:sp>
        <p:nvSpPr>
          <p:cNvPr id="10" name="TextBox 9">
            <a:extLst>
              <a:ext uri="{FF2B5EF4-FFF2-40B4-BE49-F238E27FC236}">
                <a16:creationId xmlns:a16="http://schemas.microsoft.com/office/drawing/2014/main" id="{B58F0FF7-061A-BDFD-A607-5F65C88A0C62}"/>
              </a:ext>
            </a:extLst>
          </p:cNvPr>
          <p:cNvSpPr txBox="1"/>
          <p:nvPr/>
        </p:nvSpPr>
        <p:spPr>
          <a:xfrm>
            <a:off x="1087120" y="2219602"/>
            <a:ext cx="10165080" cy="4501873"/>
          </a:xfrm>
          <a:prstGeom prst="rect">
            <a:avLst/>
          </a:prstGeom>
          <a:noFill/>
        </p:spPr>
        <p:txBody>
          <a:bodyPr wrap="square">
            <a:spAutoFit/>
          </a:bodyPr>
          <a:lstStyle/>
          <a:p>
            <a:pPr marL="0" marR="0" indent="0" algn="just" fontAlgn="base">
              <a:lnSpc>
                <a:spcPct val="150000"/>
              </a:lnSpc>
              <a:buNone/>
            </a:pPr>
            <a:r>
              <a:rPr lang="en-IN" sz="2400" b="1" i="0" u="sng" spc="12" dirty="0">
                <a:effectLst/>
              </a:rPr>
              <a:t>How does BFS Tree Traversal work?</a:t>
            </a:r>
            <a:endParaRPr lang="en-IN" sz="2400" b="1" i="0" spc="0" dirty="0">
              <a:effectLst/>
            </a:endParaRPr>
          </a:p>
          <a:p>
            <a:pPr marL="0" marR="0" indent="0" algn="just" rtl="0" fontAlgn="base">
              <a:lnSpc>
                <a:spcPct val="150000"/>
              </a:lnSpc>
              <a:spcAft>
                <a:spcPts val="750"/>
              </a:spcAft>
              <a:buNone/>
            </a:pPr>
            <a:r>
              <a:rPr lang="en-IN" b="1" i="0" spc="10" dirty="0">
                <a:effectLst/>
              </a:rPr>
              <a:t>Breadth First Search (BFS)</a:t>
            </a:r>
            <a:r>
              <a:rPr lang="en-IN" b="0" i="0" spc="12" dirty="0">
                <a:effectLst/>
              </a:rPr>
              <a:t> traversal explores all the </a:t>
            </a:r>
            <a:r>
              <a:rPr lang="en-IN" b="0" i="0" spc="12" dirty="0" err="1">
                <a:effectLst/>
              </a:rPr>
              <a:t>neighboring</a:t>
            </a:r>
            <a:r>
              <a:rPr lang="en-IN" b="0" i="0" spc="12" dirty="0">
                <a:effectLst/>
              </a:rPr>
              <a:t> nodes at the present depth prior to moving on to the nodes at the next depth level. In the context of a tree, BFS traversal works similarly.</a:t>
            </a:r>
            <a:endParaRPr lang="en-IN" b="0" i="0" spc="10" dirty="0">
              <a:effectLst/>
            </a:endParaRPr>
          </a:p>
          <a:p>
            <a:pPr marL="0" marR="0" indent="0" algn="just" rtl="0" fontAlgn="base">
              <a:lnSpc>
                <a:spcPct val="150000"/>
              </a:lnSpc>
              <a:spcAft>
                <a:spcPts val="750"/>
              </a:spcAft>
              <a:buNone/>
            </a:pPr>
            <a:r>
              <a:rPr lang="en-IN" b="0" i="0" spc="12" dirty="0">
                <a:effectLst/>
              </a:rPr>
              <a:t>Here's how BFS tree traversal typically works:</a:t>
            </a:r>
            <a:endParaRPr lang="en-IN" b="0" i="0" spc="10" dirty="0">
              <a:effectLst/>
            </a:endParaRPr>
          </a:p>
          <a:p>
            <a:pPr marL="571500" marR="0" indent="-342900" algn="just" fontAlgn="base">
              <a:lnSpc>
                <a:spcPct val="150000"/>
              </a:lnSpc>
              <a:spcAft>
                <a:spcPts val="1800"/>
              </a:spcAft>
              <a:buFont typeface="+mj-lt"/>
              <a:buAutoNum type="arabicPeriod"/>
            </a:pPr>
            <a:r>
              <a:rPr lang="en-IN" b="0" i="0" spc="12" dirty="0">
                <a:effectLst/>
              </a:rPr>
              <a:t>Start at the root node and add it to a queue.</a:t>
            </a:r>
            <a:endParaRPr lang="en-IN" b="0" i="0" spc="10" dirty="0">
              <a:effectLst/>
            </a:endParaRPr>
          </a:p>
          <a:p>
            <a:pPr marL="571500" marR="0" indent="-342900" algn="just" fontAlgn="base">
              <a:lnSpc>
                <a:spcPct val="150000"/>
              </a:lnSpc>
              <a:spcAft>
                <a:spcPts val="1800"/>
              </a:spcAft>
              <a:buFont typeface="+mj-lt"/>
              <a:buAutoNum type="arabicPeriod"/>
            </a:pPr>
            <a:r>
              <a:rPr lang="en-IN" b="0" i="0" spc="12" dirty="0">
                <a:effectLst/>
              </a:rPr>
              <a:t>While the </a:t>
            </a:r>
            <a:r>
              <a:rPr lang="en-IN" b="1" i="0" spc="10" dirty="0">
                <a:effectLst/>
              </a:rPr>
              <a:t>queue</a:t>
            </a:r>
            <a:r>
              <a:rPr lang="en-IN" b="0" i="0" spc="12" dirty="0">
                <a:effectLst/>
              </a:rPr>
              <a:t> is not empty, dequeue a node and visit it.</a:t>
            </a:r>
            <a:endParaRPr lang="en-IN" b="0" i="0" spc="10" dirty="0">
              <a:effectLst/>
            </a:endParaRPr>
          </a:p>
          <a:p>
            <a:pPr marL="571500" marR="0" indent="-342900" algn="just" fontAlgn="base">
              <a:lnSpc>
                <a:spcPct val="150000"/>
              </a:lnSpc>
              <a:spcAft>
                <a:spcPts val="1800"/>
              </a:spcAft>
              <a:buFont typeface="+mj-lt"/>
              <a:buAutoNum type="arabicPeriod"/>
            </a:pPr>
            <a:r>
              <a:rPr lang="en-IN" b="0" i="0" spc="12" dirty="0">
                <a:effectLst/>
              </a:rPr>
              <a:t>Enqueue all of its children (if any) into the queue.</a:t>
            </a:r>
            <a:endParaRPr lang="en-IN" b="0" i="0" spc="10" dirty="0">
              <a:effectLst/>
            </a:endParaRPr>
          </a:p>
          <a:p>
            <a:pPr marL="571500" marR="0" indent="-342900" algn="just" fontAlgn="base">
              <a:lnSpc>
                <a:spcPct val="150000"/>
              </a:lnSpc>
              <a:spcAft>
                <a:spcPts val="1800"/>
              </a:spcAft>
              <a:buFont typeface="+mj-lt"/>
              <a:buAutoNum type="arabicPeriod"/>
            </a:pPr>
            <a:r>
              <a:rPr lang="en-IN" b="0" i="0" spc="12" dirty="0">
                <a:effectLst/>
              </a:rPr>
              <a:t>Repeat steps 2 and 3 until the queue is empty.</a:t>
            </a:r>
            <a:endParaRPr lang="en-IN" b="0" i="0" spc="10" dirty="0">
              <a:effectLst/>
            </a:endParaRPr>
          </a:p>
        </p:txBody>
      </p:sp>
      <p:pic>
        <p:nvPicPr>
          <p:cNvPr id="12" name="Picture 11">
            <a:extLst>
              <a:ext uri="{FF2B5EF4-FFF2-40B4-BE49-F238E27FC236}">
                <a16:creationId xmlns:a16="http://schemas.microsoft.com/office/drawing/2014/main" id="{0B19FC29-EC1A-4A49-2C50-FAFC0359A707}"/>
              </a:ext>
            </a:extLst>
          </p:cNvPr>
          <p:cNvPicPr>
            <a:picLocks noChangeAspect="1"/>
          </p:cNvPicPr>
          <p:nvPr/>
        </p:nvPicPr>
        <p:blipFill>
          <a:blip r:embed="rId2">
            <a:grayscl/>
            <a:extLst>
              <a:ext uri="{28A0092B-C50C-407E-A947-70E740481C1C}">
                <a14:useLocalDpi xmlns:a14="http://schemas.microsoft.com/office/drawing/2010/main" val="0"/>
              </a:ext>
            </a:extLst>
          </a:blip>
          <a:stretch>
            <a:fillRect/>
          </a:stretch>
        </p:blipFill>
        <p:spPr>
          <a:xfrm>
            <a:off x="7470140" y="3649224"/>
            <a:ext cx="3977640" cy="3025140"/>
          </a:xfrm>
          <a:prstGeom prst="rect">
            <a:avLst/>
          </a:prstGeom>
        </p:spPr>
      </p:pic>
    </p:spTree>
    <p:extLst>
      <p:ext uri="{BB962C8B-B14F-4D97-AF65-F5344CB8AC3E}">
        <p14:creationId xmlns:p14="http://schemas.microsoft.com/office/powerpoint/2010/main" val="11539106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0CAFDD5-D55F-10F3-B180-463B2164827A}"/>
              </a:ext>
            </a:extLst>
          </p:cNvPr>
          <p:cNvSpPr>
            <a:spLocks noGrp="1"/>
          </p:cNvSpPr>
          <p:nvPr>
            <p:ph type="sldNum" sz="quarter" idx="12"/>
          </p:nvPr>
        </p:nvSpPr>
        <p:spPr/>
        <p:txBody>
          <a:bodyPr/>
          <a:lstStyle/>
          <a:p>
            <a:fld id="{520A0C6E-EFDF-49F2-A292-CF6FBFE4B673}" type="slidenum">
              <a:rPr lang="en-IN" smtClean="0"/>
              <a:t>34</a:t>
            </a:fld>
            <a:endParaRPr lang="en-IN"/>
          </a:p>
        </p:txBody>
      </p:sp>
      <p:sp>
        <p:nvSpPr>
          <p:cNvPr id="4" name="TextBox 3">
            <a:extLst>
              <a:ext uri="{FF2B5EF4-FFF2-40B4-BE49-F238E27FC236}">
                <a16:creationId xmlns:a16="http://schemas.microsoft.com/office/drawing/2014/main" id="{908EAAB1-BDD8-7BE7-9ECA-74D2202E9A45}"/>
              </a:ext>
            </a:extLst>
          </p:cNvPr>
          <p:cNvSpPr txBox="1"/>
          <p:nvPr/>
        </p:nvSpPr>
        <p:spPr>
          <a:xfrm>
            <a:off x="3048000" y="482640"/>
            <a:ext cx="6096000" cy="584775"/>
          </a:xfrm>
          <a:prstGeom prst="rect">
            <a:avLst/>
          </a:prstGeom>
          <a:noFill/>
        </p:spPr>
        <p:txBody>
          <a:bodyPr wrap="square">
            <a:spAutoFit/>
          </a:bodyPr>
          <a:lstStyle/>
          <a:p>
            <a:pPr algn="ctr"/>
            <a:r>
              <a:rPr lang="en-IN" sz="3200" b="1" i="0" spc="12" dirty="0">
                <a:effectLst/>
                <a:latin typeface="Nunito" pitchFamily="2" charset="0"/>
              </a:rPr>
              <a:t>DFS (Depth-first search)</a:t>
            </a:r>
            <a:endParaRPr lang="en-IN" sz="4400" b="1" dirty="0"/>
          </a:p>
        </p:txBody>
      </p:sp>
      <p:sp>
        <p:nvSpPr>
          <p:cNvPr id="8" name="TextBox 7">
            <a:extLst>
              <a:ext uri="{FF2B5EF4-FFF2-40B4-BE49-F238E27FC236}">
                <a16:creationId xmlns:a16="http://schemas.microsoft.com/office/drawing/2014/main" id="{539E8011-74E0-82C9-A581-6FE267BFFE1D}"/>
              </a:ext>
            </a:extLst>
          </p:cNvPr>
          <p:cNvSpPr txBox="1"/>
          <p:nvPr/>
        </p:nvSpPr>
        <p:spPr>
          <a:xfrm>
            <a:off x="1158240" y="1067415"/>
            <a:ext cx="9692640" cy="2251065"/>
          </a:xfrm>
          <a:prstGeom prst="rect">
            <a:avLst/>
          </a:prstGeom>
          <a:noFill/>
        </p:spPr>
        <p:txBody>
          <a:bodyPr wrap="square">
            <a:spAutoFit/>
          </a:bodyPr>
          <a:lstStyle/>
          <a:p>
            <a:pPr algn="just">
              <a:lnSpc>
                <a:spcPct val="150000"/>
              </a:lnSpc>
            </a:pPr>
            <a:r>
              <a:rPr lang="en-IN" sz="2400" b="0" i="0" spc="12" dirty="0">
                <a:effectLst/>
              </a:rPr>
              <a:t>DFS (Depth-first search) is a technique used for traversing trees or graphs. Here backtracking is used for traversal. In this traversal first, the deepest node is visited and then backtracks to its parent node if no sibling of that node exists</a:t>
            </a:r>
            <a:endParaRPr lang="en-IN" sz="3600" dirty="0"/>
          </a:p>
        </p:txBody>
      </p:sp>
      <p:pic>
        <p:nvPicPr>
          <p:cNvPr id="10" name="Picture 9">
            <a:extLst>
              <a:ext uri="{FF2B5EF4-FFF2-40B4-BE49-F238E27FC236}">
                <a16:creationId xmlns:a16="http://schemas.microsoft.com/office/drawing/2014/main" id="{27F3176C-776D-E0F3-EC27-F3A924963E06}"/>
              </a:ext>
            </a:extLst>
          </p:cNvPr>
          <p:cNvPicPr>
            <a:picLocks noChangeAspect="1"/>
          </p:cNvPicPr>
          <p:nvPr/>
        </p:nvPicPr>
        <p:blipFill>
          <a:blip r:embed="rId2">
            <a:grayscl/>
            <a:extLst>
              <a:ext uri="{28A0092B-C50C-407E-A947-70E740481C1C}">
                <a14:useLocalDpi xmlns:a14="http://schemas.microsoft.com/office/drawing/2010/main" val="0"/>
              </a:ext>
            </a:extLst>
          </a:blip>
          <a:stretch>
            <a:fillRect/>
          </a:stretch>
        </p:blipFill>
        <p:spPr>
          <a:xfrm>
            <a:off x="4149090" y="3007360"/>
            <a:ext cx="3893820" cy="3139440"/>
          </a:xfrm>
          <a:prstGeom prst="rect">
            <a:avLst/>
          </a:prstGeom>
        </p:spPr>
      </p:pic>
    </p:spTree>
    <p:extLst>
      <p:ext uri="{BB962C8B-B14F-4D97-AF65-F5344CB8AC3E}">
        <p14:creationId xmlns:p14="http://schemas.microsoft.com/office/powerpoint/2010/main" val="378433243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D63AC-F150-5A3B-EF97-3D83B253DF3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B69A5396-093F-A733-8F67-85699F8F0140}"/>
              </a:ext>
            </a:extLst>
          </p:cNvPr>
          <p:cNvSpPr txBox="1"/>
          <p:nvPr/>
        </p:nvSpPr>
        <p:spPr>
          <a:xfrm>
            <a:off x="1046480" y="1110734"/>
            <a:ext cx="6096000" cy="461665"/>
          </a:xfrm>
          <a:prstGeom prst="rect">
            <a:avLst/>
          </a:prstGeom>
          <a:noFill/>
        </p:spPr>
        <p:txBody>
          <a:bodyPr wrap="square">
            <a:spAutoFit/>
          </a:bodyPr>
          <a:lstStyle/>
          <a:p>
            <a:r>
              <a:rPr lang="en-IN" sz="2400" b="1" i="0" dirty="0">
                <a:solidFill>
                  <a:schemeClr val="accent1"/>
                </a:solidFill>
                <a:effectLst/>
                <a:latin typeface="Calibri" panose="020F0502020204030204" pitchFamily="34" charset="0"/>
                <a:cs typeface="Calibri" panose="020F0502020204030204" pitchFamily="34" charset="0"/>
              </a:rPr>
              <a:t> </a:t>
            </a:r>
            <a:r>
              <a:rPr lang="en-IN" sz="2400" b="1" u="sng" dirty="0">
                <a:solidFill>
                  <a:schemeClr val="accent1"/>
                </a:solidFill>
                <a:latin typeface="Calibri" panose="020F0502020204030204" pitchFamily="34" charset="0"/>
                <a:cs typeface="Calibri" panose="020F0502020204030204" pitchFamily="34" charset="0"/>
              </a:rPr>
              <a:t>P</a:t>
            </a:r>
            <a:r>
              <a:rPr lang="en-IN" sz="2400" b="1" i="0" u="sng" dirty="0">
                <a:solidFill>
                  <a:schemeClr val="accent1"/>
                </a:solidFill>
                <a:effectLst/>
                <a:latin typeface="Calibri" panose="020F0502020204030204" pitchFamily="34" charset="0"/>
                <a:cs typeface="Calibri" panose="020F0502020204030204" pitchFamily="34" charset="0"/>
              </a:rPr>
              <a:t>reorder</a:t>
            </a:r>
            <a:r>
              <a:rPr lang="en-IN" sz="2400" b="1" u="sng" dirty="0">
                <a:solidFill>
                  <a:schemeClr val="accent1"/>
                </a:solidFill>
                <a:latin typeface="Calibri" panose="020F0502020204030204" pitchFamily="34" charset="0"/>
                <a:cs typeface="Calibri" panose="020F0502020204030204" pitchFamily="34" charset="0"/>
              </a:rPr>
              <a:t> traversal</a:t>
            </a:r>
            <a:endParaRPr lang="en-IN" sz="2400" b="1" dirty="0">
              <a:solidFill>
                <a:schemeClr val="accent1"/>
              </a:solidFill>
              <a:latin typeface="Calibri" panose="020F0502020204030204" pitchFamily="34" charset="0"/>
              <a:cs typeface="Calibri" panose="020F0502020204030204" pitchFamily="34" charset="0"/>
            </a:endParaRPr>
          </a:p>
        </p:txBody>
      </p:sp>
      <p:sp>
        <p:nvSpPr>
          <p:cNvPr id="2" name="Slide Number Placeholder 1">
            <a:extLst>
              <a:ext uri="{FF2B5EF4-FFF2-40B4-BE49-F238E27FC236}">
                <a16:creationId xmlns:a16="http://schemas.microsoft.com/office/drawing/2014/main" id="{AAD5611C-A11B-B74B-F6C4-ACF49E108489}"/>
              </a:ext>
            </a:extLst>
          </p:cNvPr>
          <p:cNvSpPr>
            <a:spLocks noGrp="1"/>
          </p:cNvSpPr>
          <p:nvPr>
            <p:ph type="sldNum" sz="quarter" idx="12"/>
          </p:nvPr>
        </p:nvSpPr>
        <p:spPr/>
        <p:txBody>
          <a:bodyPr/>
          <a:lstStyle/>
          <a:p>
            <a:fld id="{520A0C6E-EFDF-49F2-A292-CF6FBFE4B673}" type="slidenum">
              <a:rPr lang="en-IN" smtClean="0"/>
              <a:t>35</a:t>
            </a:fld>
            <a:endParaRPr lang="en-IN"/>
          </a:p>
        </p:txBody>
      </p:sp>
      <p:sp>
        <p:nvSpPr>
          <p:cNvPr id="6" name="TextBox 5">
            <a:extLst>
              <a:ext uri="{FF2B5EF4-FFF2-40B4-BE49-F238E27FC236}">
                <a16:creationId xmlns:a16="http://schemas.microsoft.com/office/drawing/2014/main" id="{7D2E3788-6FFC-5378-C635-641E78C3F31D}"/>
              </a:ext>
            </a:extLst>
          </p:cNvPr>
          <p:cNvSpPr txBox="1"/>
          <p:nvPr/>
        </p:nvSpPr>
        <p:spPr>
          <a:xfrm>
            <a:off x="1046480" y="1536106"/>
            <a:ext cx="10012680" cy="2251065"/>
          </a:xfrm>
          <a:prstGeom prst="rect">
            <a:avLst/>
          </a:prstGeom>
          <a:noFill/>
        </p:spPr>
        <p:txBody>
          <a:bodyPr wrap="square">
            <a:spAutoFit/>
          </a:bodyPr>
          <a:lstStyle/>
          <a:p>
            <a:pPr algn="just">
              <a:lnSpc>
                <a:spcPct val="150000"/>
              </a:lnSpc>
            </a:pPr>
            <a:r>
              <a:rPr lang="en-IN" sz="2400" b="1" u="none" strike="noStrike" dirty="0">
                <a:effectLst/>
                <a:latin typeface="Google Sans"/>
              </a:rPr>
              <a:t>Preorder traversal</a:t>
            </a:r>
            <a:r>
              <a:rPr lang="en-IN" sz="2400" dirty="0">
                <a:latin typeface="Calibri" panose="020F0502020204030204" pitchFamily="34" charset="0"/>
              </a:rPr>
              <a:t> is a type of Depth-First Search (DFS) for trees and graphs. It visits nodes in this specific sequence: </a:t>
            </a:r>
            <a:r>
              <a:rPr lang="en-IN" sz="2400" b="1" u="none" strike="noStrike" dirty="0">
                <a:effectLst/>
                <a:latin typeface="Google Sans"/>
              </a:rPr>
              <a:t>Root → Left → Right</a:t>
            </a:r>
            <a:r>
              <a:rPr lang="en-IN" sz="2400" dirty="0">
                <a:latin typeface="Calibri" panose="020F0502020204030204" pitchFamily="34" charset="0"/>
              </a:rPr>
              <a:t>. For each node, you process the current node first, then recursively traverse the entire left subtree, and finally the right subtree.</a:t>
            </a:r>
          </a:p>
        </p:txBody>
      </p:sp>
      <p:sp>
        <p:nvSpPr>
          <p:cNvPr id="13" name="TextBox 12">
            <a:extLst>
              <a:ext uri="{FF2B5EF4-FFF2-40B4-BE49-F238E27FC236}">
                <a16:creationId xmlns:a16="http://schemas.microsoft.com/office/drawing/2014/main" id="{30BA3C00-2133-93B1-2C41-1D9D4840FBC7}"/>
              </a:ext>
            </a:extLst>
          </p:cNvPr>
          <p:cNvSpPr txBox="1"/>
          <p:nvPr/>
        </p:nvSpPr>
        <p:spPr>
          <a:xfrm>
            <a:off x="1061722" y="6259810"/>
            <a:ext cx="7493000" cy="461665"/>
          </a:xfrm>
          <a:prstGeom prst="rect">
            <a:avLst/>
          </a:prstGeom>
          <a:noFill/>
        </p:spPr>
        <p:txBody>
          <a:bodyPr wrap="square">
            <a:spAutoFit/>
          </a:bodyPr>
          <a:lstStyle/>
          <a:p>
            <a:r>
              <a:rPr lang="en-IN" sz="2400" dirty="0">
                <a:latin typeface="Calibri" panose="020F0502020204030204" pitchFamily="34" charset="0"/>
              </a:rPr>
              <a:t>The preorder traversal would be: </a:t>
            </a:r>
            <a:r>
              <a:rPr lang="en-IN" sz="2400" b="0" u="none" strike="noStrike" dirty="0">
                <a:effectLst/>
                <a:latin typeface="Courier New" panose="02070309020205020404" pitchFamily="49" charset="0"/>
              </a:rPr>
              <a:t>1, 2, 4, 5, 3</a:t>
            </a:r>
            <a:endParaRPr lang="en-IN" sz="2400" dirty="0">
              <a:latin typeface="Calibri" panose="020F0502020204030204" pitchFamily="34" charset="0"/>
            </a:endParaRPr>
          </a:p>
        </p:txBody>
      </p:sp>
      <p:pic>
        <p:nvPicPr>
          <p:cNvPr id="4" name="Picture 3" descr="AI generated image">
            <a:extLst>
              <a:ext uri="{FF2B5EF4-FFF2-40B4-BE49-F238E27FC236}">
                <a16:creationId xmlns:a16="http://schemas.microsoft.com/office/drawing/2014/main" id="{5FA77958-1A6C-C687-484F-3EBD24486890}"/>
              </a:ext>
            </a:extLst>
          </p:cNvPr>
          <p:cNvPicPr>
            <a:picLocks noChangeAspect="1"/>
          </p:cNvPicPr>
          <p:nvPr/>
        </p:nvPicPr>
        <p:blipFill>
          <a:blip r:embed="rId2"/>
          <a:stretch>
            <a:fillRect/>
          </a:stretch>
        </p:blipFill>
        <p:spPr>
          <a:xfrm>
            <a:off x="1778000" y="3787171"/>
            <a:ext cx="1859280" cy="2490107"/>
          </a:xfrm>
          <a:prstGeom prst="rect">
            <a:avLst/>
          </a:prstGeom>
        </p:spPr>
      </p:pic>
      <p:sp>
        <p:nvSpPr>
          <p:cNvPr id="8" name="TextBox 7">
            <a:extLst>
              <a:ext uri="{FF2B5EF4-FFF2-40B4-BE49-F238E27FC236}">
                <a16:creationId xmlns:a16="http://schemas.microsoft.com/office/drawing/2014/main" id="{8327F100-0DAD-A889-E9FE-1DCD6EF62C63}"/>
              </a:ext>
            </a:extLst>
          </p:cNvPr>
          <p:cNvSpPr txBox="1"/>
          <p:nvPr/>
        </p:nvSpPr>
        <p:spPr>
          <a:xfrm>
            <a:off x="3048000" y="482640"/>
            <a:ext cx="6096000" cy="584775"/>
          </a:xfrm>
          <a:prstGeom prst="rect">
            <a:avLst/>
          </a:prstGeom>
          <a:noFill/>
        </p:spPr>
        <p:txBody>
          <a:bodyPr wrap="square">
            <a:spAutoFit/>
          </a:bodyPr>
          <a:lstStyle/>
          <a:p>
            <a:pPr algn="ctr"/>
            <a:r>
              <a:rPr lang="en-IN" sz="3200" b="1" i="0" spc="12" dirty="0">
                <a:effectLst/>
                <a:latin typeface="Nunito" pitchFamily="2" charset="0"/>
              </a:rPr>
              <a:t>DFS (Depth-first search)</a:t>
            </a:r>
            <a:endParaRPr lang="en-IN" sz="4400" b="1" dirty="0"/>
          </a:p>
        </p:txBody>
      </p:sp>
      <p:sp>
        <p:nvSpPr>
          <p:cNvPr id="7" name="TextBox 6">
            <a:extLst>
              <a:ext uri="{FF2B5EF4-FFF2-40B4-BE49-F238E27FC236}">
                <a16:creationId xmlns:a16="http://schemas.microsoft.com/office/drawing/2014/main" id="{B91C482E-90EF-A835-CCDC-D9B7557E912B}"/>
              </a:ext>
            </a:extLst>
          </p:cNvPr>
          <p:cNvSpPr txBox="1"/>
          <p:nvPr/>
        </p:nvSpPr>
        <p:spPr>
          <a:xfrm>
            <a:off x="5257800" y="3494028"/>
            <a:ext cx="4749800" cy="2616101"/>
          </a:xfrm>
          <a:prstGeom prst="rect">
            <a:avLst/>
          </a:prstGeom>
          <a:noFill/>
          <a:ln>
            <a:solidFill>
              <a:schemeClr val="accent1"/>
            </a:solidFill>
          </a:ln>
        </p:spPr>
        <p:txBody>
          <a:bodyPr wrap="square">
            <a:spAutoFit/>
          </a:bodyPr>
          <a:lstStyle/>
          <a:p>
            <a:r>
              <a:rPr lang="en-IN" sz="1600" dirty="0"/>
              <a:t>void preorder (</a:t>
            </a:r>
            <a:r>
              <a:rPr lang="en-IN" sz="1600" dirty="0" err="1"/>
              <a:t>tree_pointer</a:t>
            </a:r>
            <a:r>
              <a:rPr lang="en-IN" sz="1600" dirty="0"/>
              <a:t> </a:t>
            </a:r>
            <a:r>
              <a:rPr lang="en-IN" sz="1600" dirty="0" err="1"/>
              <a:t>ptr</a:t>
            </a:r>
            <a:r>
              <a:rPr lang="en-IN" sz="1600" dirty="0"/>
              <a:t>)</a:t>
            </a:r>
          </a:p>
          <a:p>
            <a:r>
              <a:rPr lang="en-IN" sz="1600" dirty="0"/>
              <a:t>/* Given a binary tree pointed to by </a:t>
            </a:r>
            <a:r>
              <a:rPr lang="en-IN" sz="1600" dirty="0" err="1"/>
              <a:t>ptr</a:t>
            </a:r>
            <a:r>
              <a:rPr lang="en-IN" sz="1600" dirty="0"/>
              <a:t>, this algorithm </a:t>
            </a:r>
          </a:p>
          <a:p>
            <a:r>
              <a:rPr lang="en-IN" sz="1600" dirty="0"/>
              <a:t>   traverses the binary tree in preorder. */</a:t>
            </a:r>
          </a:p>
          <a:p>
            <a:r>
              <a:rPr lang="en-IN" sz="1600" dirty="0"/>
              <a:t>{</a:t>
            </a:r>
          </a:p>
          <a:p>
            <a:r>
              <a:rPr lang="en-IN" sz="1600" dirty="0"/>
              <a:t>    if (</a:t>
            </a:r>
            <a:r>
              <a:rPr lang="en-IN" sz="1600" dirty="0" err="1"/>
              <a:t>ptr</a:t>
            </a:r>
            <a:r>
              <a:rPr lang="en-IN" sz="1600" dirty="0"/>
              <a:t>) {</a:t>
            </a:r>
          </a:p>
          <a:p>
            <a:r>
              <a:rPr lang="en-IN" sz="1600" dirty="0"/>
              <a:t>        visit(</a:t>
            </a:r>
            <a:r>
              <a:rPr lang="en-IN" sz="1600" dirty="0" err="1"/>
              <a:t>ptr</a:t>
            </a:r>
            <a:r>
              <a:rPr lang="en-IN" sz="1600" dirty="0"/>
              <a:t>);           // Visit the root node</a:t>
            </a:r>
          </a:p>
          <a:p>
            <a:r>
              <a:rPr lang="en-IN" sz="1600" dirty="0"/>
              <a:t>        preorder(</a:t>
            </a:r>
            <a:r>
              <a:rPr lang="en-IN" sz="1600" dirty="0" err="1"/>
              <a:t>ptr</a:t>
            </a:r>
            <a:r>
              <a:rPr lang="en-IN" sz="1600" dirty="0"/>
              <a:t>-&gt;left);  // Traverse the left subtree</a:t>
            </a:r>
          </a:p>
          <a:p>
            <a:r>
              <a:rPr lang="en-IN" sz="1600" dirty="0"/>
              <a:t>        preorder(</a:t>
            </a:r>
            <a:r>
              <a:rPr lang="en-IN" sz="1600" dirty="0" err="1"/>
              <a:t>ptr</a:t>
            </a:r>
            <a:r>
              <a:rPr lang="en-IN" sz="1600" dirty="0"/>
              <a:t>-&gt;right); // Traverse the right subtree</a:t>
            </a:r>
          </a:p>
          <a:p>
            <a:r>
              <a:rPr lang="en-IN" sz="1600" dirty="0"/>
              <a:t>    }</a:t>
            </a:r>
          </a:p>
          <a:p>
            <a:r>
              <a:rPr lang="en-IN" sz="1600" dirty="0"/>
              <a:t>}</a:t>
            </a:r>
          </a:p>
        </p:txBody>
      </p:sp>
    </p:spTree>
    <p:extLst>
      <p:ext uri="{BB962C8B-B14F-4D97-AF65-F5344CB8AC3E}">
        <p14:creationId xmlns:p14="http://schemas.microsoft.com/office/powerpoint/2010/main" val="131085850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EFAF964-AA2C-FAC8-82E4-7D40C041665A}"/>
              </a:ext>
            </a:extLst>
          </p:cNvPr>
          <p:cNvSpPr txBox="1"/>
          <p:nvPr/>
        </p:nvSpPr>
        <p:spPr>
          <a:xfrm>
            <a:off x="1046480" y="1110734"/>
            <a:ext cx="2763520" cy="461665"/>
          </a:xfrm>
          <a:prstGeom prst="rect">
            <a:avLst/>
          </a:prstGeom>
          <a:noFill/>
        </p:spPr>
        <p:txBody>
          <a:bodyPr wrap="square">
            <a:spAutoFit/>
          </a:bodyPr>
          <a:lstStyle/>
          <a:p>
            <a:r>
              <a:rPr lang="en-IN" sz="2400" b="1" i="0" dirty="0">
                <a:solidFill>
                  <a:schemeClr val="accent1"/>
                </a:solidFill>
                <a:effectLst/>
                <a:latin typeface="Calibri" panose="020F0502020204030204" pitchFamily="34" charset="0"/>
                <a:cs typeface="Calibri" panose="020F0502020204030204" pitchFamily="34" charset="0"/>
              </a:rPr>
              <a:t> </a:t>
            </a:r>
            <a:r>
              <a:rPr lang="en-IN" sz="2400" b="1" i="0" u="sng" dirty="0">
                <a:solidFill>
                  <a:schemeClr val="accent1"/>
                </a:solidFill>
                <a:effectLst/>
                <a:latin typeface="Calibri" panose="020F0502020204030204" pitchFamily="34" charset="0"/>
                <a:cs typeface="Calibri" panose="020F0502020204030204" pitchFamily="34" charset="0"/>
              </a:rPr>
              <a:t>Inorder</a:t>
            </a:r>
            <a:r>
              <a:rPr lang="en-IN" sz="2400" b="1" u="sng" dirty="0">
                <a:solidFill>
                  <a:schemeClr val="accent1"/>
                </a:solidFill>
                <a:latin typeface="Calibri" panose="020F0502020204030204" pitchFamily="34" charset="0"/>
                <a:cs typeface="Calibri" panose="020F0502020204030204" pitchFamily="34" charset="0"/>
              </a:rPr>
              <a:t> traversal</a:t>
            </a:r>
            <a:endParaRPr lang="en-IN" sz="2400" b="1" dirty="0">
              <a:solidFill>
                <a:schemeClr val="accent1"/>
              </a:solidFill>
              <a:latin typeface="Calibri" panose="020F0502020204030204" pitchFamily="34" charset="0"/>
              <a:cs typeface="Calibri" panose="020F0502020204030204" pitchFamily="34" charset="0"/>
            </a:endParaRPr>
          </a:p>
        </p:txBody>
      </p:sp>
      <p:sp>
        <p:nvSpPr>
          <p:cNvPr id="2" name="Slide Number Placeholder 1">
            <a:extLst>
              <a:ext uri="{FF2B5EF4-FFF2-40B4-BE49-F238E27FC236}">
                <a16:creationId xmlns:a16="http://schemas.microsoft.com/office/drawing/2014/main" id="{4FC97901-AE35-6490-258F-DDF901D71CEC}"/>
              </a:ext>
            </a:extLst>
          </p:cNvPr>
          <p:cNvSpPr>
            <a:spLocks noGrp="1"/>
          </p:cNvSpPr>
          <p:nvPr>
            <p:ph type="sldNum" sz="quarter" idx="12"/>
          </p:nvPr>
        </p:nvSpPr>
        <p:spPr/>
        <p:txBody>
          <a:bodyPr/>
          <a:lstStyle/>
          <a:p>
            <a:fld id="{520A0C6E-EFDF-49F2-A292-CF6FBFE4B673}" type="slidenum">
              <a:rPr lang="en-IN" smtClean="0"/>
              <a:t>36</a:t>
            </a:fld>
            <a:endParaRPr lang="en-IN"/>
          </a:p>
        </p:txBody>
      </p:sp>
      <p:sp>
        <p:nvSpPr>
          <p:cNvPr id="6" name="TextBox 5">
            <a:extLst>
              <a:ext uri="{FF2B5EF4-FFF2-40B4-BE49-F238E27FC236}">
                <a16:creationId xmlns:a16="http://schemas.microsoft.com/office/drawing/2014/main" id="{8B25C0A5-EE41-59AE-A73A-5244603E9DF9}"/>
              </a:ext>
            </a:extLst>
          </p:cNvPr>
          <p:cNvSpPr txBox="1"/>
          <p:nvPr/>
        </p:nvSpPr>
        <p:spPr>
          <a:xfrm>
            <a:off x="1148080" y="1460976"/>
            <a:ext cx="9895840" cy="2251065"/>
          </a:xfrm>
          <a:prstGeom prst="rect">
            <a:avLst/>
          </a:prstGeom>
          <a:noFill/>
        </p:spPr>
        <p:txBody>
          <a:bodyPr wrap="square">
            <a:spAutoFit/>
          </a:bodyPr>
          <a:lstStyle/>
          <a:p>
            <a:pPr algn="just">
              <a:lnSpc>
                <a:spcPct val="150000"/>
              </a:lnSpc>
            </a:pPr>
            <a:r>
              <a:rPr lang="en-IN" sz="2400" b="1" u="none" strike="noStrike" dirty="0" err="1">
                <a:effectLst/>
                <a:latin typeface="Google Sans"/>
              </a:rPr>
              <a:t>Inorder</a:t>
            </a:r>
            <a:r>
              <a:rPr lang="en-IN" sz="2400" b="1" u="none" strike="noStrike" dirty="0">
                <a:effectLst/>
                <a:latin typeface="Google Sans"/>
              </a:rPr>
              <a:t> traversal</a:t>
            </a:r>
            <a:r>
              <a:rPr lang="en-IN" sz="2400" dirty="0">
                <a:latin typeface="Calibri" panose="020F0502020204030204" pitchFamily="34" charset="0"/>
              </a:rPr>
              <a:t> is another type of Depth-First Search (DFS) for trees. It visits nodes in this specific sequence: </a:t>
            </a:r>
            <a:r>
              <a:rPr lang="en-IN" sz="2400" b="1" u="none" strike="noStrike" dirty="0">
                <a:effectLst/>
                <a:latin typeface="Google Sans"/>
              </a:rPr>
              <a:t>Left → Root → Right</a:t>
            </a:r>
            <a:r>
              <a:rPr lang="en-IN" sz="2400" dirty="0">
                <a:latin typeface="Calibri" panose="020F0502020204030204" pitchFamily="34" charset="0"/>
              </a:rPr>
              <a:t>. For each node, you recursively traverse the entire left subtree first, process the current node, and finally traverse the right subtree.</a:t>
            </a:r>
          </a:p>
        </p:txBody>
      </p:sp>
      <p:sp>
        <p:nvSpPr>
          <p:cNvPr id="11" name="TextBox 10">
            <a:extLst>
              <a:ext uri="{FF2B5EF4-FFF2-40B4-BE49-F238E27FC236}">
                <a16:creationId xmlns:a16="http://schemas.microsoft.com/office/drawing/2014/main" id="{27DDB989-61A2-E37E-CA6A-27EA0EB7FFFE}"/>
              </a:ext>
            </a:extLst>
          </p:cNvPr>
          <p:cNvSpPr txBox="1"/>
          <p:nvPr/>
        </p:nvSpPr>
        <p:spPr>
          <a:xfrm>
            <a:off x="2336773" y="6077247"/>
            <a:ext cx="7645427" cy="461665"/>
          </a:xfrm>
          <a:prstGeom prst="rect">
            <a:avLst/>
          </a:prstGeom>
          <a:noFill/>
        </p:spPr>
        <p:txBody>
          <a:bodyPr wrap="square">
            <a:spAutoFit/>
          </a:bodyPr>
          <a:lstStyle/>
          <a:p>
            <a:pPr marL="0" marR="0">
              <a:spcBef>
                <a:spcPts val="900"/>
              </a:spcBef>
              <a:spcAft>
                <a:spcPts val="1200"/>
              </a:spcAft>
              <a:buNone/>
            </a:pPr>
            <a:r>
              <a:rPr lang="en-IN" sz="2400" b="0" u="none" strike="noStrike" dirty="0">
                <a:effectLst/>
                <a:latin typeface="Google Sans"/>
              </a:rPr>
              <a:t>The </a:t>
            </a:r>
            <a:r>
              <a:rPr lang="en-IN" sz="2400" b="0" u="none" strike="noStrike" dirty="0" err="1">
                <a:effectLst/>
                <a:latin typeface="Google Sans"/>
              </a:rPr>
              <a:t>inorder</a:t>
            </a:r>
            <a:r>
              <a:rPr lang="en-IN" sz="2400" b="0" u="none" strike="noStrike" dirty="0">
                <a:effectLst/>
                <a:latin typeface="Google Sans"/>
              </a:rPr>
              <a:t> traversal would be: </a:t>
            </a:r>
            <a:r>
              <a:rPr lang="en-IN" sz="2400" b="0" u="none" strike="noStrike" dirty="0">
                <a:effectLst/>
                <a:latin typeface="Courier New" panose="02070309020205020404" pitchFamily="49" charset="0"/>
              </a:rPr>
              <a:t>4, 2, 5, 1, 3</a:t>
            </a:r>
            <a:r>
              <a:rPr lang="en-IN" sz="2400" b="0" u="none" strike="noStrike" dirty="0">
                <a:effectLst/>
                <a:latin typeface="Google Sans"/>
              </a:rPr>
              <a:t>. </a:t>
            </a:r>
          </a:p>
        </p:txBody>
      </p:sp>
      <p:pic>
        <p:nvPicPr>
          <p:cNvPr id="7" name="Picture 6" descr="AI generated image">
            <a:extLst>
              <a:ext uri="{FF2B5EF4-FFF2-40B4-BE49-F238E27FC236}">
                <a16:creationId xmlns:a16="http://schemas.microsoft.com/office/drawing/2014/main" id="{5D1F492E-1190-7FC5-0D0E-241397727AC6}"/>
              </a:ext>
            </a:extLst>
          </p:cNvPr>
          <p:cNvPicPr>
            <a:picLocks noChangeAspect="1"/>
          </p:cNvPicPr>
          <p:nvPr/>
        </p:nvPicPr>
        <p:blipFill>
          <a:blip r:embed="rId2"/>
          <a:stretch>
            <a:fillRect/>
          </a:stretch>
        </p:blipFill>
        <p:spPr>
          <a:xfrm>
            <a:off x="5537200" y="3261816"/>
            <a:ext cx="2011680" cy="2694214"/>
          </a:xfrm>
          <a:prstGeom prst="rect">
            <a:avLst/>
          </a:prstGeom>
        </p:spPr>
      </p:pic>
      <p:sp>
        <p:nvSpPr>
          <p:cNvPr id="8" name="TextBox 7">
            <a:extLst>
              <a:ext uri="{FF2B5EF4-FFF2-40B4-BE49-F238E27FC236}">
                <a16:creationId xmlns:a16="http://schemas.microsoft.com/office/drawing/2014/main" id="{DE2ABBD6-7EC1-4D79-3F11-6F33E6892D90}"/>
              </a:ext>
            </a:extLst>
          </p:cNvPr>
          <p:cNvSpPr txBox="1"/>
          <p:nvPr/>
        </p:nvSpPr>
        <p:spPr>
          <a:xfrm>
            <a:off x="3048000" y="482640"/>
            <a:ext cx="6096000" cy="584775"/>
          </a:xfrm>
          <a:prstGeom prst="rect">
            <a:avLst/>
          </a:prstGeom>
          <a:noFill/>
        </p:spPr>
        <p:txBody>
          <a:bodyPr wrap="square">
            <a:spAutoFit/>
          </a:bodyPr>
          <a:lstStyle/>
          <a:p>
            <a:pPr algn="ctr"/>
            <a:r>
              <a:rPr lang="en-IN" sz="3200" b="1" i="0" spc="12" dirty="0">
                <a:effectLst/>
                <a:latin typeface="Nunito" pitchFamily="2" charset="0"/>
              </a:rPr>
              <a:t>DFS (Depth-first search)</a:t>
            </a:r>
            <a:endParaRPr lang="en-IN" sz="4400" b="1" dirty="0"/>
          </a:p>
        </p:txBody>
      </p:sp>
      <p:sp>
        <p:nvSpPr>
          <p:cNvPr id="4" name="TextBox 3">
            <a:extLst>
              <a:ext uri="{FF2B5EF4-FFF2-40B4-BE49-F238E27FC236}">
                <a16:creationId xmlns:a16="http://schemas.microsoft.com/office/drawing/2014/main" id="{59F5EB95-C3FD-0207-A3BC-5E7173DC8D88}"/>
              </a:ext>
            </a:extLst>
          </p:cNvPr>
          <p:cNvSpPr txBox="1"/>
          <p:nvPr/>
        </p:nvSpPr>
        <p:spPr>
          <a:xfrm>
            <a:off x="7914640" y="3261816"/>
            <a:ext cx="2966720" cy="2308324"/>
          </a:xfrm>
          <a:prstGeom prst="rect">
            <a:avLst/>
          </a:prstGeom>
          <a:noFill/>
          <a:ln>
            <a:solidFill>
              <a:schemeClr val="accent1"/>
            </a:solidFill>
          </a:ln>
        </p:spPr>
        <p:txBody>
          <a:bodyPr wrap="square">
            <a:spAutoFit/>
          </a:bodyPr>
          <a:lstStyle/>
          <a:p>
            <a:pPr algn="ctr"/>
            <a:r>
              <a:rPr lang="en-IN" b="1" dirty="0"/>
              <a:t>Algorithm</a:t>
            </a:r>
          </a:p>
          <a:p>
            <a:r>
              <a:rPr lang="en-IN" dirty="0"/>
              <a:t>procedure INORDER(</a:t>
            </a:r>
            <a:r>
              <a:rPr lang="en-IN" dirty="0" err="1"/>
              <a:t>ptr</a:t>
            </a:r>
            <a:r>
              <a:rPr lang="en-IN" dirty="0"/>
              <a:t>)</a:t>
            </a:r>
          </a:p>
          <a:p>
            <a:r>
              <a:rPr lang="en-IN" dirty="0"/>
              <a:t>    if </a:t>
            </a:r>
            <a:r>
              <a:rPr lang="en-IN" dirty="0" err="1"/>
              <a:t>ptr</a:t>
            </a:r>
            <a:r>
              <a:rPr lang="en-IN" dirty="0"/>
              <a:t> != NULL then</a:t>
            </a:r>
          </a:p>
          <a:p>
            <a:r>
              <a:rPr lang="en-IN" dirty="0"/>
              <a:t>        call INORDER(</a:t>
            </a:r>
            <a:r>
              <a:rPr lang="en-IN" dirty="0" err="1"/>
              <a:t>ptr</a:t>
            </a:r>
            <a:r>
              <a:rPr lang="en-IN" dirty="0"/>
              <a:t>-&gt;left)</a:t>
            </a:r>
          </a:p>
          <a:p>
            <a:r>
              <a:rPr lang="en-IN" dirty="0"/>
              <a:t>        print(</a:t>
            </a:r>
            <a:r>
              <a:rPr lang="en-IN" dirty="0" err="1"/>
              <a:t>ptr</a:t>
            </a:r>
            <a:r>
              <a:rPr lang="en-IN" dirty="0"/>
              <a:t>-&gt;data)</a:t>
            </a:r>
          </a:p>
          <a:p>
            <a:r>
              <a:rPr lang="en-IN" dirty="0"/>
              <a:t>        call INORDER(</a:t>
            </a:r>
            <a:r>
              <a:rPr lang="en-IN" dirty="0" err="1"/>
              <a:t>ptr</a:t>
            </a:r>
            <a:r>
              <a:rPr lang="en-IN" dirty="0"/>
              <a:t>-&gt;right)</a:t>
            </a:r>
          </a:p>
          <a:p>
            <a:r>
              <a:rPr lang="en-IN" dirty="0"/>
              <a:t>    end if</a:t>
            </a:r>
          </a:p>
          <a:p>
            <a:r>
              <a:rPr lang="en-IN" dirty="0"/>
              <a:t>end INORDER</a:t>
            </a:r>
          </a:p>
        </p:txBody>
      </p:sp>
    </p:spTree>
    <p:extLst>
      <p:ext uri="{BB962C8B-B14F-4D97-AF65-F5344CB8AC3E}">
        <p14:creationId xmlns:p14="http://schemas.microsoft.com/office/powerpoint/2010/main" val="148869024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86E15-E106-391C-90BD-A4DAAB1001C1}"/>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A06F7B2B-95A2-4E88-C1B3-0281DBB702ED}"/>
              </a:ext>
            </a:extLst>
          </p:cNvPr>
          <p:cNvSpPr txBox="1"/>
          <p:nvPr/>
        </p:nvSpPr>
        <p:spPr>
          <a:xfrm>
            <a:off x="701040" y="1283454"/>
            <a:ext cx="6096000" cy="461665"/>
          </a:xfrm>
          <a:prstGeom prst="rect">
            <a:avLst/>
          </a:prstGeom>
          <a:noFill/>
        </p:spPr>
        <p:txBody>
          <a:bodyPr wrap="square">
            <a:spAutoFit/>
          </a:bodyPr>
          <a:lstStyle/>
          <a:p>
            <a:r>
              <a:rPr lang="en-IN" sz="2400" b="1" i="0" dirty="0">
                <a:solidFill>
                  <a:schemeClr val="accent1"/>
                </a:solidFill>
                <a:effectLst/>
                <a:latin typeface="Calibri" panose="020F0502020204030204" pitchFamily="34" charset="0"/>
                <a:cs typeface="Calibri" panose="020F0502020204030204" pitchFamily="34" charset="0"/>
              </a:rPr>
              <a:t> </a:t>
            </a:r>
            <a:r>
              <a:rPr lang="en-IN" sz="2400" b="1" i="0" u="sng" dirty="0">
                <a:solidFill>
                  <a:schemeClr val="accent1"/>
                </a:solidFill>
                <a:effectLst/>
                <a:latin typeface="Calibri" panose="020F0502020204030204" pitchFamily="34" charset="0"/>
                <a:cs typeface="Calibri" panose="020F0502020204030204" pitchFamily="34" charset="0"/>
              </a:rPr>
              <a:t>Postorder</a:t>
            </a:r>
            <a:r>
              <a:rPr lang="en-IN" sz="2400" b="1" u="sng" dirty="0">
                <a:solidFill>
                  <a:schemeClr val="accent1"/>
                </a:solidFill>
                <a:latin typeface="Calibri" panose="020F0502020204030204" pitchFamily="34" charset="0"/>
                <a:cs typeface="Calibri" panose="020F0502020204030204" pitchFamily="34" charset="0"/>
              </a:rPr>
              <a:t> traversal</a:t>
            </a:r>
            <a:endParaRPr lang="en-IN" sz="2400" b="1" dirty="0">
              <a:solidFill>
                <a:schemeClr val="accent1"/>
              </a:solidFill>
              <a:latin typeface="Calibri" panose="020F0502020204030204" pitchFamily="34" charset="0"/>
              <a:cs typeface="Calibri" panose="020F0502020204030204" pitchFamily="34" charset="0"/>
            </a:endParaRPr>
          </a:p>
        </p:txBody>
      </p:sp>
      <p:sp>
        <p:nvSpPr>
          <p:cNvPr id="2" name="Slide Number Placeholder 1">
            <a:extLst>
              <a:ext uri="{FF2B5EF4-FFF2-40B4-BE49-F238E27FC236}">
                <a16:creationId xmlns:a16="http://schemas.microsoft.com/office/drawing/2014/main" id="{3B8CABB7-86BA-2DA6-898A-2541E9DA08E6}"/>
              </a:ext>
            </a:extLst>
          </p:cNvPr>
          <p:cNvSpPr>
            <a:spLocks noGrp="1"/>
          </p:cNvSpPr>
          <p:nvPr>
            <p:ph type="sldNum" sz="quarter" idx="12"/>
          </p:nvPr>
        </p:nvSpPr>
        <p:spPr/>
        <p:txBody>
          <a:bodyPr/>
          <a:lstStyle/>
          <a:p>
            <a:fld id="{520A0C6E-EFDF-49F2-A292-CF6FBFE4B673}" type="slidenum">
              <a:rPr lang="en-IN" smtClean="0"/>
              <a:t>37</a:t>
            </a:fld>
            <a:endParaRPr lang="en-IN"/>
          </a:p>
        </p:txBody>
      </p:sp>
      <p:sp>
        <p:nvSpPr>
          <p:cNvPr id="7" name="TextBox 6">
            <a:extLst>
              <a:ext uri="{FF2B5EF4-FFF2-40B4-BE49-F238E27FC236}">
                <a16:creationId xmlns:a16="http://schemas.microsoft.com/office/drawing/2014/main" id="{23663153-21E3-6A2F-822E-A79434CB20C4}"/>
              </a:ext>
            </a:extLst>
          </p:cNvPr>
          <p:cNvSpPr txBox="1"/>
          <p:nvPr/>
        </p:nvSpPr>
        <p:spPr>
          <a:xfrm>
            <a:off x="812800" y="1729531"/>
            <a:ext cx="10160000" cy="1697068"/>
          </a:xfrm>
          <a:prstGeom prst="rect">
            <a:avLst/>
          </a:prstGeom>
          <a:noFill/>
        </p:spPr>
        <p:txBody>
          <a:bodyPr wrap="square">
            <a:spAutoFit/>
          </a:bodyPr>
          <a:lstStyle/>
          <a:p>
            <a:pPr algn="just">
              <a:lnSpc>
                <a:spcPct val="150000"/>
              </a:lnSpc>
            </a:pPr>
            <a:r>
              <a:rPr lang="en-IN" sz="2400" b="1" u="none" strike="noStrike" dirty="0" err="1">
                <a:effectLst/>
                <a:latin typeface="Google Sans"/>
              </a:rPr>
              <a:t>Postorder</a:t>
            </a:r>
            <a:r>
              <a:rPr lang="en-IN" sz="2400" b="1" u="none" strike="noStrike" dirty="0">
                <a:effectLst/>
                <a:latin typeface="Google Sans"/>
              </a:rPr>
              <a:t> traversal</a:t>
            </a:r>
            <a:r>
              <a:rPr lang="en-IN" sz="2400" dirty="0">
                <a:latin typeface="Calibri" panose="020F0502020204030204" pitchFamily="34" charset="0"/>
              </a:rPr>
              <a:t> is a Depth-First Search (DFS) method that visits nodes in this order: </a:t>
            </a:r>
            <a:r>
              <a:rPr lang="en-IN" sz="2400" b="1" u="none" strike="noStrike" dirty="0">
                <a:effectLst/>
                <a:latin typeface="Google Sans"/>
              </a:rPr>
              <a:t>Left → Right → Root</a:t>
            </a:r>
            <a:r>
              <a:rPr lang="en-IN" sz="2400" dirty="0">
                <a:latin typeface="Calibri" panose="020F0502020204030204" pitchFamily="34" charset="0"/>
              </a:rPr>
              <a:t>. You recursively traverse the left and right subtrees completely before processing the parent node.</a:t>
            </a:r>
          </a:p>
        </p:txBody>
      </p:sp>
      <p:sp>
        <p:nvSpPr>
          <p:cNvPr id="11" name="TextBox 10">
            <a:extLst>
              <a:ext uri="{FF2B5EF4-FFF2-40B4-BE49-F238E27FC236}">
                <a16:creationId xmlns:a16="http://schemas.microsoft.com/office/drawing/2014/main" id="{1BF73BBB-EBF9-FE6D-62F7-3C9E045AFF4B}"/>
              </a:ext>
            </a:extLst>
          </p:cNvPr>
          <p:cNvSpPr txBox="1"/>
          <p:nvPr/>
        </p:nvSpPr>
        <p:spPr>
          <a:xfrm>
            <a:off x="1117600" y="6198924"/>
            <a:ext cx="7335520" cy="461665"/>
          </a:xfrm>
          <a:prstGeom prst="rect">
            <a:avLst/>
          </a:prstGeom>
          <a:noFill/>
        </p:spPr>
        <p:txBody>
          <a:bodyPr wrap="square">
            <a:spAutoFit/>
          </a:bodyPr>
          <a:lstStyle/>
          <a:p>
            <a:r>
              <a:rPr lang="en-IN" sz="2400" dirty="0">
                <a:latin typeface="Calibri" panose="020F0502020204030204" pitchFamily="34" charset="0"/>
              </a:rPr>
              <a:t>The </a:t>
            </a:r>
            <a:r>
              <a:rPr lang="en-IN" sz="2400" dirty="0" err="1">
                <a:latin typeface="Calibri" panose="020F0502020204030204" pitchFamily="34" charset="0"/>
              </a:rPr>
              <a:t>postorder</a:t>
            </a:r>
            <a:r>
              <a:rPr lang="en-IN" sz="2400" dirty="0">
                <a:latin typeface="Calibri" panose="020F0502020204030204" pitchFamily="34" charset="0"/>
              </a:rPr>
              <a:t> traversal sequence is: </a:t>
            </a:r>
            <a:r>
              <a:rPr lang="en-IN" sz="2400" b="0" u="none" strike="noStrike" dirty="0">
                <a:effectLst/>
                <a:latin typeface="Courier New" panose="02070309020205020404" pitchFamily="49" charset="0"/>
              </a:rPr>
              <a:t>4, 5, 2, 3, 1</a:t>
            </a:r>
            <a:endParaRPr lang="en-IN" sz="2400" dirty="0">
              <a:latin typeface="Calibri" panose="020F0502020204030204" pitchFamily="34" charset="0"/>
            </a:endParaRPr>
          </a:p>
        </p:txBody>
      </p:sp>
      <p:pic>
        <p:nvPicPr>
          <p:cNvPr id="6" name="Picture 5" descr="AI generated image">
            <a:extLst>
              <a:ext uri="{FF2B5EF4-FFF2-40B4-BE49-F238E27FC236}">
                <a16:creationId xmlns:a16="http://schemas.microsoft.com/office/drawing/2014/main" id="{CDA5EA5E-568B-3C95-8E9E-0EA6FB99E778}"/>
              </a:ext>
            </a:extLst>
          </p:cNvPr>
          <p:cNvPicPr>
            <a:picLocks noChangeAspect="1"/>
          </p:cNvPicPr>
          <p:nvPr/>
        </p:nvPicPr>
        <p:blipFill>
          <a:blip r:embed="rId2"/>
          <a:stretch>
            <a:fillRect/>
          </a:stretch>
        </p:blipFill>
        <p:spPr>
          <a:xfrm>
            <a:off x="3881120" y="3426599"/>
            <a:ext cx="2011680" cy="2694214"/>
          </a:xfrm>
          <a:prstGeom prst="rect">
            <a:avLst/>
          </a:prstGeom>
        </p:spPr>
      </p:pic>
      <p:sp>
        <p:nvSpPr>
          <p:cNvPr id="8" name="TextBox 7">
            <a:extLst>
              <a:ext uri="{FF2B5EF4-FFF2-40B4-BE49-F238E27FC236}">
                <a16:creationId xmlns:a16="http://schemas.microsoft.com/office/drawing/2014/main" id="{5B333B31-DBE6-ABD8-253B-6F10CA2DC79A}"/>
              </a:ext>
            </a:extLst>
          </p:cNvPr>
          <p:cNvSpPr txBox="1"/>
          <p:nvPr/>
        </p:nvSpPr>
        <p:spPr>
          <a:xfrm>
            <a:off x="3048000" y="482640"/>
            <a:ext cx="6096000" cy="584775"/>
          </a:xfrm>
          <a:prstGeom prst="rect">
            <a:avLst/>
          </a:prstGeom>
          <a:noFill/>
        </p:spPr>
        <p:txBody>
          <a:bodyPr wrap="square">
            <a:spAutoFit/>
          </a:bodyPr>
          <a:lstStyle/>
          <a:p>
            <a:pPr algn="ctr"/>
            <a:r>
              <a:rPr lang="en-IN" sz="3200" b="1" i="0" spc="12" dirty="0">
                <a:effectLst/>
                <a:latin typeface="Nunito" pitchFamily="2" charset="0"/>
              </a:rPr>
              <a:t>DFS (Depth-first search)</a:t>
            </a:r>
            <a:endParaRPr lang="en-IN" sz="4400" b="1" dirty="0"/>
          </a:p>
        </p:txBody>
      </p:sp>
      <p:sp>
        <p:nvSpPr>
          <p:cNvPr id="4" name="TextBox 3">
            <a:extLst>
              <a:ext uri="{FF2B5EF4-FFF2-40B4-BE49-F238E27FC236}">
                <a16:creationId xmlns:a16="http://schemas.microsoft.com/office/drawing/2014/main" id="{3A4BBDC2-D575-9176-46ED-5BAF97635E89}"/>
              </a:ext>
            </a:extLst>
          </p:cNvPr>
          <p:cNvSpPr txBox="1"/>
          <p:nvPr/>
        </p:nvSpPr>
        <p:spPr>
          <a:xfrm>
            <a:off x="7137402" y="3090381"/>
            <a:ext cx="3134358" cy="3108543"/>
          </a:xfrm>
          <a:prstGeom prst="rect">
            <a:avLst/>
          </a:prstGeom>
          <a:noFill/>
          <a:ln>
            <a:solidFill>
              <a:schemeClr val="accent1"/>
            </a:solidFill>
          </a:ln>
        </p:spPr>
        <p:txBody>
          <a:bodyPr wrap="square">
            <a:spAutoFit/>
          </a:bodyPr>
          <a:lstStyle/>
          <a:p>
            <a:r>
              <a:rPr lang="en-IN" sz="1600" dirty="0"/>
              <a:t>Algorithm </a:t>
            </a:r>
            <a:r>
              <a:rPr lang="en-IN" sz="1600" dirty="0" err="1"/>
              <a:t>postorder</a:t>
            </a:r>
            <a:r>
              <a:rPr lang="en-IN" sz="1600" dirty="0"/>
              <a:t>(tree)</a:t>
            </a:r>
          </a:p>
          <a:p>
            <a:r>
              <a:rPr lang="en-IN" sz="1600" dirty="0"/>
              <a:t>    if tree == NULL then return</a:t>
            </a:r>
          </a:p>
          <a:p>
            <a:r>
              <a:rPr lang="en-IN" sz="1600" dirty="0"/>
              <a:t>    </a:t>
            </a:r>
          </a:p>
          <a:p>
            <a:r>
              <a:rPr lang="en-IN" sz="1600" dirty="0"/>
              <a:t>    // Step 1: Traverse left subtree</a:t>
            </a:r>
          </a:p>
          <a:p>
            <a:r>
              <a:rPr lang="en-IN" sz="1600" dirty="0"/>
              <a:t>    </a:t>
            </a:r>
            <a:r>
              <a:rPr lang="en-IN" sz="1600" dirty="0" err="1"/>
              <a:t>postorder</a:t>
            </a:r>
            <a:r>
              <a:rPr lang="en-IN" sz="1600" dirty="0"/>
              <a:t>(tree-&gt;</a:t>
            </a:r>
            <a:r>
              <a:rPr lang="en-IN" sz="1600" dirty="0" err="1"/>
              <a:t>leftChild</a:t>
            </a:r>
            <a:r>
              <a:rPr lang="en-IN" sz="1600" dirty="0"/>
              <a:t>)</a:t>
            </a:r>
          </a:p>
          <a:p>
            <a:r>
              <a:rPr lang="en-IN" sz="1600" dirty="0"/>
              <a:t>    </a:t>
            </a:r>
          </a:p>
          <a:p>
            <a:r>
              <a:rPr lang="en-IN" sz="1600" dirty="0"/>
              <a:t>    // Step 2: Traverse right subtree</a:t>
            </a:r>
          </a:p>
          <a:p>
            <a:r>
              <a:rPr lang="en-IN" sz="1600" dirty="0"/>
              <a:t>    </a:t>
            </a:r>
            <a:r>
              <a:rPr lang="en-IN" sz="1600" dirty="0" err="1"/>
              <a:t>postorder</a:t>
            </a:r>
            <a:r>
              <a:rPr lang="en-IN" sz="1600" dirty="0"/>
              <a:t>(tree-&gt;</a:t>
            </a:r>
            <a:r>
              <a:rPr lang="en-IN" sz="1600" dirty="0" err="1"/>
              <a:t>rightChild</a:t>
            </a:r>
            <a:r>
              <a:rPr lang="en-IN" sz="1600" dirty="0"/>
              <a:t>)</a:t>
            </a:r>
          </a:p>
          <a:p>
            <a:r>
              <a:rPr lang="en-IN" sz="1600" dirty="0"/>
              <a:t>    </a:t>
            </a:r>
          </a:p>
          <a:p>
            <a:r>
              <a:rPr lang="en-IN" sz="1600" dirty="0"/>
              <a:t>    // Step 3: Process/Visit the root</a:t>
            </a:r>
          </a:p>
          <a:p>
            <a:r>
              <a:rPr lang="en-IN" sz="1600" dirty="0"/>
              <a:t>    visit(tree)</a:t>
            </a:r>
          </a:p>
          <a:p>
            <a:r>
              <a:rPr lang="en-IN" sz="1600" dirty="0"/>
              <a:t>end </a:t>
            </a:r>
            <a:r>
              <a:rPr lang="en-IN" sz="1600" dirty="0" err="1"/>
              <a:t>postorder</a:t>
            </a:r>
            <a:endParaRPr lang="en-IN" sz="1600" dirty="0"/>
          </a:p>
        </p:txBody>
      </p:sp>
    </p:spTree>
    <p:extLst>
      <p:ext uri="{BB962C8B-B14F-4D97-AF65-F5344CB8AC3E}">
        <p14:creationId xmlns:p14="http://schemas.microsoft.com/office/powerpoint/2010/main" val="39372693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E84588F-A6F8-9EFB-BADC-E199C479F4CD}"/>
              </a:ext>
            </a:extLst>
          </p:cNvPr>
          <p:cNvSpPr txBox="1"/>
          <p:nvPr/>
        </p:nvSpPr>
        <p:spPr>
          <a:xfrm>
            <a:off x="3078480" y="136525"/>
            <a:ext cx="6096000" cy="646331"/>
          </a:xfrm>
          <a:prstGeom prst="rect">
            <a:avLst/>
          </a:prstGeom>
          <a:noFill/>
        </p:spPr>
        <p:txBody>
          <a:bodyPr wrap="square">
            <a:spAutoFit/>
          </a:bodyPr>
          <a:lstStyle/>
          <a:p>
            <a:pPr algn="ctr"/>
            <a:r>
              <a:rPr lang="en-IN" sz="3600" b="1" dirty="0">
                <a:latin typeface="Calibri" panose="020F0502020204030204" pitchFamily="34" charset="0"/>
                <a:cs typeface="Calibri" panose="020F0502020204030204" pitchFamily="34" charset="0"/>
              </a:rPr>
              <a:t>NP-completeness</a:t>
            </a:r>
          </a:p>
        </p:txBody>
      </p:sp>
      <p:sp>
        <p:nvSpPr>
          <p:cNvPr id="2" name="Slide Number Placeholder 1">
            <a:extLst>
              <a:ext uri="{FF2B5EF4-FFF2-40B4-BE49-F238E27FC236}">
                <a16:creationId xmlns:a16="http://schemas.microsoft.com/office/drawing/2014/main" id="{E826A40C-E474-3D85-6FEE-AF2827B4608E}"/>
              </a:ext>
            </a:extLst>
          </p:cNvPr>
          <p:cNvSpPr>
            <a:spLocks noGrp="1"/>
          </p:cNvSpPr>
          <p:nvPr>
            <p:ph type="sldNum" sz="quarter" idx="12"/>
          </p:nvPr>
        </p:nvSpPr>
        <p:spPr/>
        <p:txBody>
          <a:bodyPr/>
          <a:lstStyle/>
          <a:p>
            <a:fld id="{520A0C6E-EFDF-49F2-A292-CF6FBFE4B673}" type="slidenum">
              <a:rPr lang="en-IN" smtClean="0">
                <a:solidFill>
                  <a:schemeClr val="tx1"/>
                </a:solidFill>
                <a:cs typeface="Calibri" panose="020F0502020204030204" pitchFamily="34" charset="0"/>
              </a:rPr>
              <a:t>38</a:t>
            </a:fld>
            <a:endParaRPr lang="en-IN" dirty="0">
              <a:solidFill>
                <a:schemeClr val="tx1"/>
              </a:solidFill>
              <a:cs typeface="Calibri" panose="020F0502020204030204" pitchFamily="34" charset="0"/>
            </a:endParaRPr>
          </a:p>
        </p:txBody>
      </p:sp>
      <p:sp>
        <p:nvSpPr>
          <p:cNvPr id="6" name="TextBox 5">
            <a:extLst>
              <a:ext uri="{FF2B5EF4-FFF2-40B4-BE49-F238E27FC236}">
                <a16:creationId xmlns:a16="http://schemas.microsoft.com/office/drawing/2014/main" id="{D288D5FD-547B-DEDB-81BB-522EC3D6F685}"/>
              </a:ext>
            </a:extLst>
          </p:cNvPr>
          <p:cNvSpPr txBox="1"/>
          <p:nvPr/>
        </p:nvSpPr>
        <p:spPr>
          <a:xfrm>
            <a:off x="670560" y="721300"/>
            <a:ext cx="10982960" cy="1295868"/>
          </a:xfrm>
          <a:prstGeom prst="rect">
            <a:avLst/>
          </a:prstGeom>
          <a:noFill/>
        </p:spPr>
        <p:txBody>
          <a:bodyPr wrap="square">
            <a:spAutoFit/>
          </a:bodyPr>
          <a:lstStyle/>
          <a:p>
            <a:pPr algn="just">
              <a:lnSpc>
                <a:spcPct val="150000"/>
              </a:lnSpc>
            </a:pPr>
            <a:r>
              <a:rPr lang="en-IN" dirty="0">
                <a:latin typeface="Calibri" panose="020F0502020204030204" pitchFamily="34" charset="0"/>
              </a:rPr>
              <a:t>NP-complete problems are the hardest computational problems in the class NP. They can be verified quickly but no efficient algorithm exists to solve them. Proving a problem is NP-complete shows it is highly likely unsolvable at scale, shifting focus to using heuristic or approximation algorithms</a:t>
            </a:r>
          </a:p>
        </p:txBody>
      </p:sp>
      <p:sp>
        <p:nvSpPr>
          <p:cNvPr id="8" name="TextBox 7">
            <a:extLst>
              <a:ext uri="{FF2B5EF4-FFF2-40B4-BE49-F238E27FC236}">
                <a16:creationId xmlns:a16="http://schemas.microsoft.com/office/drawing/2014/main" id="{4B21A6A7-F4CD-6F20-DCAF-4F4856FE97C5}"/>
              </a:ext>
            </a:extLst>
          </p:cNvPr>
          <p:cNvSpPr txBox="1"/>
          <p:nvPr/>
        </p:nvSpPr>
        <p:spPr>
          <a:xfrm>
            <a:off x="599440" y="2017168"/>
            <a:ext cx="11054080" cy="4539704"/>
          </a:xfrm>
          <a:prstGeom prst="rect">
            <a:avLst/>
          </a:prstGeom>
          <a:noFill/>
        </p:spPr>
        <p:txBody>
          <a:bodyPr wrap="square">
            <a:spAutoFit/>
          </a:bodyPr>
          <a:lstStyle/>
          <a:p>
            <a:pPr marL="0" marR="0" algn="just">
              <a:spcBef>
                <a:spcPts val="1800"/>
              </a:spcBef>
              <a:spcAft>
                <a:spcPts val="900"/>
              </a:spcAft>
              <a:buNone/>
            </a:pPr>
            <a:r>
              <a:rPr lang="en-IN" sz="2400" b="1" u="none" strike="noStrike" dirty="0">
                <a:effectLst/>
                <a:latin typeface="Google Sans"/>
              </a:rPr>
              <a:t>The Complexity Classes</a:t>
            </a:r>
          </a:p>
          <a:p>
            <a:pPr marL="285750" marR="0" indent="-285750" algn="just">
              <a:spcBef>
                <a:spcPts val="900"/>
              </a:spcBef>
              <a:spcAft>
                <a:spcPts val="1200"/>
              </a:spcAft>
              <a:buFont typeface="Arial" panose="020B0604020202020204" pitchFamily="34" charset="0"/>
              <a:buChar char="•"/>
            </a:pPr>
            <a:r>
              <a:rPr lang="en-IN" b="1" u="none" strike="noStrike" dirty="0">
                <a:effectLst/>
                <a:latin typeface="Google Sans"/>
              </a:rPr>
              <a:t>P (Polynomial Time):</a:t>
            </a:r>
            <a:r>
              <a:rPr lang="en-IN" b="0" u="none" strike="noStrike" dirty="0">
                <a:effectLst/>
                <a:latin typeface="Google Sans"/>
              </a:rPr>
              <a:t> Problems that a computer can solve efficiently (e.g., sorting a list or finding the shortest path using Dijkstra's algorithm). </a:t>
            </a:r>
          </a:p>
          <a:p>
            <a:pPr marL="285750" marR="0" indent="-285750" algn="just">
              <a:spcBef>
                <a:spcPts val="900"/>
              </a:spcBef>
              <a:spcAft>
                <a:spcPts val="1200"/>
              </a:spcAft>
              <a:buFont typeface="Arial" panose="020B0604020202020204" pitchFamily="34" charset="0"/>
              <a:buChar char="•"/>
            </a:pPr>
            <a:r>
              <a:rPr lang="en-IN" b="1" u="none" strike="noStrike" dirty="0">
                <a:effectLst/>
                <a:latin typeface="Google Sans"/>
              </a:rPr>
              <a:t>NP (Nondeterministic Polynomial Time):</a:t>
            </a:r>
            <a:r>
              <a:rPr lang="en-IN" b="0" u="none" strike="noStrike" dirty="0">
                <a:effectLst/>
                <a:latin typeface="Google Sans"/>
              </a:rPr>
              <a:t> Problems where a proposed solution can be checked/verified quickly. If a computer checks your answer in a reasonable timeframe, the problem is in NP. All problems in P are automatically in NP. </a:t>
            </a:r>
          </a:p>
          <a:p>
            <a:pPr marL="285750" marR="0" indent="-285750" algn="just">
              <a:spcBef>
                <a:spcPts val="900"/>
              </a:spcBef>
              <a:spcAft>
                <a:spcPts val="1200"/>
              </a:spcAft>
              <a:buFont typeface="Arial" panose="020B0604020202020204" pitchFamily="34" charset="0"/>
              <a:buChar char="•"/>
            </a:pPr>
            <a:r>
              <a:rPr lang="en-IN" b="1" u="none" strike="noStrike" dirty="0">
                <a:effectLst/>
                <a:latin typeface="Google Sans"/>
              </a:rPr>
              <a:t>NP-Hard:</a:t>
            </a:r>
            <a:r>
              <a:rPr lang="en-IN" b="0" u="none" strike="noStrike" dirty="0">
                <a:effectLst/>
                <a:latin typeface="Google Sans"/>
              </a:rPr>
              <a:t> Problems that are at least as hard as the hardest problems in NP. They are not necessarily in NP themselves (e.g., they may not have solutions that can be quickly verified). </a:t>
            </a:r>
            <a:endParaRPr lang="en-IN" dirty="0">
              <a:latin typeface="Google Sans"/>
            </a:endParaRPr>
          </a:p>
          <a:p>
            <a:pPr marL="285750" marR="0" indent="-285750" algn="just">
              <a:spcBef>
                <a:spcPts val="600"/>
              </a:spcBef>
              <a:spcAft>
                <a:spcPts val="600"/>
              </a:spcAft>
              <a:buFont typeface="Arial" panose="020B0604020202020204" pitchFamily="34" charset="0"/>
              <a:buChar char="•"/>
            </a:pPr>
            <a:r>
              <a:rPr lang="en-IN" b="1" u="none" strike="noStrike" dirty="0">
                <a:effectLst/>
                <a:latin typeface="Google Sans"/>
              </a:rPr>
              <a:t>NP-Complete:</a:t>
            </a:r>
            <a:r>
              <a:rPr lang="en-IN" b="0" u="none" strike="noStrike" dirty="0">
                <a:effectLst/>
                <a:latin typeface="Google Sans"/>
              </a:rPr>
              <a:t> Problems that satisfy two conditions: </a:t>
            </a:r>
          </a:p>
          <a:p>
            <a:pPr marL="1257300" lvl="2" indent="-342900" algn="just">
              <a:spcBef>
                <a:spcPts val="600"/>
              </a:spcBef>
              <a:spcAft>
                <a:spcPts val="600"/>
              </a:spcAft>
              <a:buFont typeface="+mj-lt"/>
              <a:buAutoNum type="arabicPeriod"/>
            </a:pPr>
            <a:r>
              <a:rPr lang="en-IN" b="0" u="none" strike="noStrike" dirty="0">
                <a:effectLst/>
                <a:latin typeface="Google Sans"/>
              </a:rPr>
              <a:t>They are in NP (you can verify a solution quickly).</a:t>
            </a:r>
          </a:p>
          <a:p>
            <a:pPr marL="1257300" lvl="2" indent="-342900" algn="just">
              <a:spcBef>
                <a:spcPts val="600"/>
              </a:spcBef>
              <a:spcAft>
                <a:spcPts val="600"/>
              </a:spcAft>
              <a:buFont typeface="+mj-lt"/>
              <a:buAutoNum type="arabicPeriod"/>
            </a:pPr>
            <a:r>
              <a:rPr lang="en-IN" b="0" u="none" strike="noStrike" dirty="0">
                <a:effectLst/>
                <a:latin typeface="Google Sans"/>
              </a:rPr>
              <a:t>They are NP-hard (every other problem in NP can be translated/reduced into this problem efficiently)</a:t>
            </a:r>
          </a:p>
        </p:txBody>
      </p:sp>
    </p:spTree>
    <p:extLst>
      <p:ext uri="{BB962C8B-B14F-4D97-AF65-F5344CB8AC3E}">
        <p14:creationId xmlns:p14="http://schemas.microsoft.com/office/powerpoint/2010/main" val="18591145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02BB531-A553-B857-F38F-1708988EF63D}"/>
              </a:ext>
            </a:extLst>
          </p:cNvPr>
          <p:cNvSpPr>
            <a:spLocks noGrp="1"/>
          </p:cNvSpPr>
          <p:nvPr>
            <p:ph type="sldNum" sz="quarter" idx="12"/>
          </p:nvPr>
        </p:nvSpPr>
        <p:spPr/>
        <p:txBody>
          <a:bodyPr/>
          <a:lstStyle/>
          <a:p>
            <a:fld id="{520A0C6E-EFDF-49F2-A292-CF6FBFE4B673}" type="slidenum">
              <a:rPr lang="en-IN" smtClean="0"/>
              <a:t>39</a:t>
            </a:fld>
            <a:endParaRPr lang="en-IN"/>
          </a:p>
        </p:txBody>
      </p:sp>
      <p:sp>
        <p:nvSpPr>
          <p:cNvPr id="4" name="TextBox 3">
            <a:extLst>
              <a:ext uri="{FF2B5EF4-FFF2-40B4-BE49-F238E27FC236}">
                <a16:creationId xmlns:a16="http://schemas.microsoft.com/office/drawing/2014/main" id="{ECCB7F4D-14F3-EDD3-254A-30EFC1AB477B}"/>
              </a:ext>
            </a:extLst>
          </p:cNvPr>
          <p:cNvSpPr txBox="1"/>
          <p:nvPr/>
        </p:nvSpPr>
        <p:spPr>
          <a:xfrm>
            <a:off x="2936240" y="309245"/>
            <a:ext cx="6096000" cy="707886"/>
          </a:xfrm>
          <a:prstGeom prst="rect">
            <a:avLst/>
          </a:prstGeom>
          <a:noFill/>
        </p:spPr>
        <p:txBody>
          <a:bodyPr wrap="square">
            <a:spAutoFit/>
          </a:bodyPr>
          <a:lstStyle/>
          <a:p>
            <a:pPr marL="0" marR="0" algn="ctr">
              <a:spcBef>
                <a:spcPts val="1800"/>
              </a:spcBef>
              <a:spcAft>
                <a:spcPts val="900"/>
              </a:spcAft>
              <a:buNone/>
            </a:pPr>
            <a:r>
              <a:rPr lang="en-IN" sz="4000" b="1" u="none" strike="noStrike" dirty="0">
                <a:effectLst/>
                <a:latin typeface="Google Sans"/>
              </a:rPr>
              <a:t>The Power of Reduction</a:t>
            </a:r>
          </a:p>
        </p:txBody>
      </p:sp>
      <p:sp>
        <p:nvSpPr>
          <p:cNvPr id="6" name="TextBox 5">
            <a:extLst>
              <a:ext uri="{FF2B5EF4-FFF2-40B4-BE49-F238E27FC236}">
                <a16:creationId xmlns:a16="http://schemas.microsoft.com/office/drawing/2014/main" id="{E03E01DF-643F-B1AA-7674-4231ABE52777}"/>
              </a:ext>
            </a:extLst>
          </p:cNvPr>
          <p:cNvSpPr txBox="1"/>
          <p:nvPr/>
        </p:nvSpPr>
        <p:spPr>
          <a:xfrm>
            <a:off x="1148080" y="1037211"/>
            <a:ext cx="10205720" cy="4182363"/>
          </a:xfrm>
          <a:prstGeom prst="rect">
            <a:avLst/>
          </a:prstGeom>
          <a:noFill/>
        </p:spPr>
        <p:txBody>
          <a:bodyPr wrap="square">
            <a:spAutoFit/>
          </a:bodyPr>
          <a:lstStyle/>
          <a:p>
            <a:pPr marL="0" marR="0" algn="just">
              <a:lnSpc>
                <a:spcPct val="150000"/>
              </a:lnSpc>
              <a:spcBef>
                <a:spcPts val="900"/>
              </a:spcBef>
              <a:spcAft>
                <a:spcPts val="1200"/>
              </a:spcAft>
              <a:buNone/>
            </a:pPr>
            <a:r>
              <a:rPr lang="en-IN" sz="2400" b="0" u="none" strike="noStrike" dirty="0">
                <a:effectLst/>
                <a:latin typeface="Google Sans"/>
              </a:rPr>
              <a:t>A "reduction" is a way of transforming one problem into another. If you have an algorithm to solve Problem B, you can use it to solve Problem A if you can translate the inputs of A into the inputs of B. </a:t>
            </a:r>
          </a:p>
          <a:p>
            <a:pPr marL="0" marR="0" algn="just">
              <a:lnSpc>
                <a:spcPct val="150000"/>
              </a:lnSpc>
              <a:spcBef>
                <a:spcPts val="900"/>
              </a:spcBef>
              <a:spcAft>
                <a:spcPts val="1200"/>
              </a:spcAft>
              <a:buNone/>
            </a:pPr>
            <a:r>
              <a:rPr lang="en-IN" sz="2400" b="0" u="none" strike="noStrike" dirty="0">
                <a:effectLst/>
                <a:latin typeface="Google Sans"/>
              </a:rPr>
              <a:t>If you can efficiently reduce a known NP-complete problem to a new problem, you have effectively proven that the new problem is also NP-complete. This forms the basis of proving hardness across computer science, as outlined in classical textbooks like </a:t>
            </a:r>
            <a:r>
              <a:rPr lang="en-IN" sz="2400" b="0" i="1" u="none" strike="noStrike" dirty="0">
                <a:effectLst/>
                <a:latin typeface="Google Sans"/>
              </a:rPr>
              <a:t>Introduction to Algorithms</a:t>
            </a:r>
            <a:endParaRPr lang="en-IN" sz="2400" b="0" u="none" strike="noStrike" dirty="0">
              <a:effectLst/>
              <a:latin typeface="Google Sans"/>
            </a:endParaRPr>
          </a:p>
        </p:txBody>
      </p:sp>
    </p:spTree>
    <p:extLst>
      <p:ext uri="{BB962C8B-B14F-4D97-AF65-F5344CB8AC3E}">
        <p14:creationId xmlns:p14="http://schemas.microsoft.com/office/powerpoint/2010/main" val="380067437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D0D2F27-5F9F-5674-073C-5416160F3435}"/>
              </a:ext>
            </a:extLst>
          </p:cNvPr>
          <p:cNvSpPr>
            <a:spLocks noGrp="1"/>
          </p:cNvSpPr>
          <p:nvPr>
            <p:ph type="sldNum" sz="quarter" idx="12"/>
          </p:nvPr>
        </p:nvSpPr>
        <p:spPr/>
        <p:txBody>
          <a:bodyPr/>
          <a:lstStyle/>
          <a:p>
            <a:fld id="{520A0C6E-EFDF-49F2-A292-CF6FBFE4B673}" type="slidenum">
              <a:rPr lang="en-IN" smtClean="0"/>
              <a:t>40</a:t>
            </a:fld>
            <a:endParaRPr lang="en-IN"/>
          </a:p>
        </p:txBody>
      </p:sp>
      <p:sp>
        <p:nvSpPr>
          <p:cNvPr id="4" name="TextBox 3">
            <a:extLst>
              <a:ext uri="{FF2B5EF4-FFF2-40B4-BE49-F238E27FC236}">
                <a16:creationId xmlns:a16="http://schemas.microsoft.com/office/drawing/2014/main" id="{CB0EA753-2C84-7A0B-47E8-730F6B1DA25D}"/>
              </a:ext>
            </a:extLst>
          </p:cNvPr>
          <p:cNvSpPr txBox="1"/>
          <p:nvPr/>
        </p:nvSpPr>
        <p:spPr>
          <a:xfrm>
            <a:off x="2865120" y="389374"/>
            <a:ext cx="6096000" cy="646331"/>
          </a:xfrm>
          <a:prstGeom prst="rect">
            <a:avLst/>
          </a:prstGeom>
          <a:noFill/>
        </p:spPr>
        <p:txBody>
          <a:bodyPr wrap="square">
            <a:spAutoFit/>
          </a:bodyPr>
          <a:lstStyle/>
          <a:p>
            <a:pPr algn="ctr"/>
            <a:r>
              <a:rPr lang="en-IN" sz="3600" b="1" dirty="0">
                <a:latin typeface="Calibri" panose="020F0502020204030204" pitchFamily="34" charset="0"/>
              </a:rPr>
              <a:t>P vs. NP</a:t>
            </a:r>
          </a:p>
        </p:txBody>
      </p:sp>
      <p:sp>
        <p:nvSpPr>
          <p:cNvPr id="6" name="TextBox 5">
            <a:extLst>
              <a:ext uri="{FF2B5EF4-FFF2-40B4-BE49-F238E27FC236}">
                <a16:creationId xmlns:a16="http://schemas.microsoft.com/office/drawing/2014/main" id="{60B8A821-CE26-BA68-57B4-278806ECAC42}"/>
              </a:ext>
            </a:extLst>
          </p:cNvPr>
          <p:cNvSpPr txBox="1"/>
          <p:nvPr/>
        </p:nvSpPr>
        <p:spPr>
          <a:xfrm>
            <a:off x="1087120" y="1247794"/>
            <a:ext cx="10129520" cy="2251065"/>
          </a:xfrm>
          <a:prstGeom prst="rect">
            <a:avLst/>
          </a:prstGeom>
          <a:noFill/>
        </p:spPr>
        <p:txBody>
          <a:bodyPr wrap="square">
            <a:spAutoFit/>
          </a:bodyPr>
          <a:lstStyle/>
          <a:p>
            <a:pPr algn="just">
              <a:lnSpc>
                <a:spcPct val="150000"/>
              </a:lnSpc>
            </a:pPr>
            <a:r>
              <a:rPr lang="en-IN" sz="2400" dirty="0"/>
              <a:t>It remains unproven whether P = NP. If anyone discovers a fast (polynomial time) algorithm to solve even one NP-complete problem, it would mean that </a:t>
            </a:r>
            <a:r>
              <a:rPr lang="en-IN" sz="2400" b="0" u="none" strike="noStrike" dirty="0">
                <a:effectLst/>
              </a:rPr>
              <a:t>all</a:t>
            </a:r>
            <a:r>
              <a:rPr lang="en-IN" sz="2400" dirty="0"/>
              <a:t> NP problems can be solved quickly. Most computer scientists and complexity theorists strongly believe that P ≠ NP</a:t>
            </a:r>
          </a:p>
        </p:txBody>
      </p:sp>
    </p:spTree>
    <p:extLst>
      <p:ext uri="{BB962C8B-B14F-4D97-AF65-F5344CB8AC3E}">
        <p14:creationId xmlns:p14="http://schemas.microsoft.com/office/powerpoint/2010/main" val="69282821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2DAEB85-2B04-A920-1FCC-6AE7F1B2F018}"/>
              </a:ext>
            </a:extLst>
          </p:cNvPr>
          <p:cNvSpPr txBox="1"/>
          <p:nvPr/>
        </p:nvSpPr>
        <p:spPr>
          <a:xfrm>
            <a:off x="2458720" y="319088"/>
            <a:ext cx="7274560" cy="402674"/>
          </a:xfrm>
          <a:prstGeom prst="rect">
            <a:avLst/>
          </a:prstGeom>
          <a:noFill/>
        </p:spPr>
        <p:txBody>
          <a:bodyPr wrap="square">
            <a:spAutoFit/>
          </a:bodyPr>
          <a:lstStyle/>
          <a:p>
            <a:pPr marL="0" marR="0" indent="0" algn="ctr" fontAlgn="base">
              <a:lnSpc>
                <a:spcPts val="2100"/>
              </a:lnSpc>
              <a:buNone/>
            </a:pPr>
            <a:r>
              <a:rPr lang="en-IN" sz="3200" b="1" i="0" spc="12" dirty="0">
                <a:effectLst/>
                <a:latin typeface="Calibri" panose="020F0502020204030204" pitchFamily="34" charset="0"/>
                <a:cs typeface="Calibri" panose="020F0502020204030204" pitchFamily="34" charset="0"/>
              </a:rPr>
              <a:t>Decision vs Optimization Problems </a:t>
            </a:r>
            <a:endParaRPr lang="en-IN" sz="3200" b="1" i="0" spc="0" dirty="0">
              <a:effectLst/>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ABAA0F1F-ED43-D777-C2E4-9882D3EAA057}"/>
              </a:ext>
            </a:extLst>
          </p:cNvPr>
          <p:cNvSpPr txBox="1"/>
          <p:nvPr/>
        </p:nvSpPr>
        <p:spPr>
          <a:xfrm>
            <a:off x="1056640" y="988675"/>
            <a:ext cx="10078720" cy="5550237"/>
          </a:xfrm>
          <a:prstGeom prst="rect">
            <a:avLst/>
          </a:prstGeom>
          <a:noFill/>
        </p:spPr>
        <p:txBody>
          <a:bodyPr wrap="square">
            <a:spAutoFit/>
          </a:bodyPr>
          <a:lstStyle/>
          <a:p>
            <a:pPr marL="0" marR="0" indent="0" algn="just" rtl="0" fontAlgn="base">
              <a:spcAft>
                <a:spcPts val="750"/>
              </a:spcAft>
              <a:buNone/>
            </a:pPr>
            <a:r>
              <a:rPr lang="en-IN" sz="2400" b="0" i="0" spc="12" dirty="0">
                <a:effectLst/>
                <a:latin typeface="Calibri" panose="020F0502020204030204" pitchFamily="34" charset="0"/>
                <a:cs typeface="Calibri" panose="020F0502020204030204" pitchFamily="34" charset="0"/>
              </a:rPr>
              <a:t>NP-Completeness is defined for decision problems because their difficulty is easier to compare. In many cases, solving the decision version efficiently also helps solve the corresponding optimization problem using a polynomial number of calls.</a:t>
            </a:r>
            <a:endParaRPr lang="en-IN" sz="2400" b="0" i="0" spc="10" dirty="0">
              <a:effectLst/>
              <a:latin typeface="Calibri" panose="020F0502020204030204" pitchFamily="34" charset="0"/>
              <a:cs typeface="Calibri" panose="020F0502020204030204" pitchFamily="34" charset="0"/>
            </a:endParaRPr>
          </a:p>
          <a:p>
            <a:pPr marL="514350" marR="0" indent="-285750" algn="just" fontAlgn="base">
              <a:spcAft>
                <a:spcPts val="1800"/>
              </a:spcAft>
              <a:buFont typeface="Arial" panose="020B0604020202020204" pitchFamily="34" charset="0"/>
              <a:buChar char="•"/>
            </a:pPr>
            <a:r>
              <a:rPr lang="en-IN" sz="2400" b="0" i="0" spc="12" dirty="0">
                <a:effectLst/>
                <a:latin typeface="Calibri" panose="020F0502020204030204" pitchFamily="34" charset="0"/>
                <a:cs typeface="Calibri" panose="020F0502020204030204" pitchFamily="34" charset="0"/>
              </a:rPr>
              <a:t>NP-completeness is defined for decision problems.</a:t>
            </a:r>
            <a:endParaRPr lang="en-IN" sz="2400" b="0" i="0" spc="10" dirty="0">
              <a:effectLst/>
              <a:latin typeface="Calibri" panose="020F0502020204030204" pitchFamily="34" charset="0"/>
              <a:cs typeface="Calibri" panose="020F0502020204030204" pitchFamily="34" charset="0"/>
            </a:endParaRPr>
          </a:p>
          <a:p>
            <a:pPr marL="514350" marR="0" indent="-285750" algn="just" fontAlgn="base">
              <a:spcAft>
                <a:spcPts val="1800"/>
              </a:spcAft>
              <a:buFont typeface="Arial" panose="020B0604020202020204" pitchFamily="34" charset="0"/>
              <a:buChar char="•"/>
            </a:pPr>
            <a:r>
              <a:rPr lang="en-IN" sz="2400" b="0" i="0" spc="12" dirty="0">
                <a:effectLst/>
                <a:latin typeface="Calibri" panose="020F0502020204030204" pitchFamily="34" charset="0"/>
                <a:cs typeface="Calibri" panose="020F0502020204030204" pitchFamily="34" charset="0"/>
              </a:rPr>
              <a:t>Decision problems are easier to compare than optimization problems.</a:t>
            </a:r>
            <a:endParaRPr lang="en-IN" sz="2400" b="0" i="0" spc="10" dirty="0">
              <a:effectLst/>
              <a:latin typeface="Calibri" panose="020F0502020204030204" pitchFamily="34" charset="0"/>
              <a:cs typeface="Calibri" panose="020F0502020204030204" pitchFamily="34" charset="0"/>
            </a:endParaRPr>
          </a:p>
          <a:p>
            <a:pPr marL="514350" marR="0" indent="-285750" algn="just" fontAlgn="base">
              <a:spcAft>
                <a:spcPts val="1800"/>
              </a:spcAft>
              <a:buFont typeface="Arial" panose="020B0604020202020204" pitchFamily="34" charset="0"/>
              <a:buChar char="•"/>
            </a:pPr>
            <a:r>
              <a:rPr lang="en-IN" sz="2400" b="0" i="0" spc="12" dirty="0">
                <a:effectLst/>
                <a:latin typeface="Calibri" panose="020F0502020204030204" pitchFamily="34" charset="0"/>
                <a:cs typeface="Calibri" panose="020F0502020204030204" pitchFamily="34" charset="0"/>
              </a:rPr>
              <a:t>Polynomial-time solutions to decision problems can help solve optimization problems.</a:t>
            </a:r>
            <a:endParaRPr lang="en-IN" sz="2400" b="0" i="0" spc="10" dirty="0">
              <a:effectLst/>
              <a:latin typeface="Calibri" panose="020F0502020204030204" pitchFamily="34" charset="0"/>
              <a:cs typeface="Calibri" panose="020F0502020204030204" pitchFamily="34" charset="0"/>
            </a:endParaRPr>
          </a:p>
          <a:p>
            <a:pPr marL="514350" marR="0" indent="-285750" algn="just" fontAlgn="base">
              <a:spcAft>
                <a:spcPts val="1800"/>
              </a:spcAft>
              <a:buFont typeface="Arial" panose="020B0604020202020204" pitchFamily="34" charset="0"/>
              <a:buChar char="•"/>
            </a:pPr>
            <a:r>
              <a:rPr lang="en-IN" sz="2400" b="0" i="0" spc="12" dirty="0">
                <a:effectLst/>
                <a:latin typeface="Calibri" panose="020F0502020204030204" pitchFamily="34" charset="0"/>
                <a:cs typeface="Calibri" panose="020F0502020204030204" pitchFamily="34" charset="0"/>
              </a:rPr>
              <a:t>Optimization problems can be reduced to decision problems using multiple queries.</a:t>
            </a:r>
            <a:endParaRPr lang="en-IN" sz="2400" b="0" i="0" spc="10" dirty="0">
              <a:effectLst/>
              <a:latin typeface="Calibri" panose="020F0502020204030204" pitchFamily="34" charset="0"/>
              <a:cs typeface="Calibri" panose="020F0502020204030204" pitchFamily="34" charset="0"/>
            </a:endParaRPr>
          </a:p>
          <a:p>
            <a:pPr marL="514350" marR="0" indent="-285750" algn="just" fontAlgn="base">
              <a:spcAft>
                <a:spcPts val="1800"/>
              </a:spcAft>
              <a:buFont typeface="Arial" panose="020B0604020202020204" pitchFamily="34" charset="0"/>
              <a:buChar char="•"/>
            </a:pPr>
            <a:r>
              <a:rPr lang="en-IN" sz="2400" b="0" i="0" spc="12" dirty="0">
                <a:effectLst/>
                <a:latin typeface="Calibri" panose="020F0502020204030204" pitchFamily="34" charset="0"/>
                <a:cs typeface="Calibri" panose="020F0502020204030204" pitchFamily="34" charset="0"/>
              </a:rPr>
              <a:t>Hence, the complexity of decision problems reflects the complexity of optimization problems.</a:t>
            </a:r>
            <a:endParaRPr lang="en-IN" sz="2400" b="0" i="0" spc="10" dirty="0">
              <a:effectLst/>
              <a:latin typeface="Calibri" panose="020F0502020204030204" pitchFamily="34" charset="0"/>
              <a:cs typeface="Calibri" panose="020F0502020204030204" pitchFamily="34" charset="0"/>
            </a:endParaRPr>
          </a:p>
        </p:txBody>
      </p:sp>
      <p:sp>
        <p:nvSpPr>
          <p:cNvPr id="2" name="Slide Number Placeholder 1">
            <a:extLst>
              <a:ext uri="{FF2B5EF4-FFF2-40B4-BE49-F238E27FC236}">
                <a16:creationId xmlns:a16="http://schemas.microsoft.com/office/drawing/2014/main" id="{43E24AB9-CD1E-EDD9-BAFF-F73B68B235BA}"/>
              </a:ext>
            </a:extLst>
          </p:cNvPr>
          <p:cNvSpPr>
            <a:spLocks noGrp="1"/>
          </p:cNvSpPr>
          <p:nvPr>
            <p:ph type="sldNum" sz="quarter" idx="12"/>
          </p:nvPr>
        </p:nvSpPr>
        <p:spPr/>
        <p:txBody>
          <a:bodyPr/>
          <a:lstStyle/>
          <a:p>
            <a:fld id="{520A0C6E-EFDF-49F2-A292-CF6FBFE4B673}" type="slidenum">
              <a:rPr lang="en-IN" smtClean="0">
                <a:solidFill>
                  <a:schemeClr val="tx1"/>
                </a:solidFill>
                <a:cs typeface="Calibri" panose="020F0502020204030204" pitchFamily="34" charset="0"/>
              </a:rPr>
              <a:t>41</a:t>
            </a:fld>
            <a:endParaRPr lang="en-IN" dirty="0">
              <a:solidFill>
                <a:schemeClr val="tx1"/>
              </a:solidFill>
              <a:cs typeface="Calibri" panose="020F0502020204030204" pitchFamily="34" charset="0"/>
            </a:endParaRPr>
          </a:p>
        </p:txBody>
      </p:sp>
    </p:spTree>
    <p:extLst>
      <p:ext uri="{BB962C8B-B14F-4D97-AF65-F5344CB8AC3E}">
        <p14:creationId xmlns:p14="http://schemas.microsoft.com/office/powerpoint/2010/main" val="233506623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A7F6BE7-E8BC-4B98-FDF9-A6C3676B2CE1}"/>
              </a:ext>
            </a:extLst>
          </p:cNvPr>
          <p:cNvSpPr>
            <a:spLocks noGrp="1"/>
          </p:cNvSpPr>
          <p:nvPr>
            <p:ph type="sldNum" sz="quarter" idx="12"/>
          </p:nvPr>
        </p:nvSpPr>
        <p:spPr/>
        <p:txBody>
          <a:bodyPr/>
          <a:lstStyle/>
          <a:p>
            <a:fld id="{520A0C6E-EFDF-49F2-A292-CF6FBFE4B673}" type="slidenum">
              <a:rPr lang="en-IN" smtClean="0"/>
              <a:t>42</a:t>
            </a:fld>
            <a:endParaRPr lang="en-IN"/>
          </a:p>
        </p:txBody>
      </p:sp>
      <p:sp>
        <p:nvSpPr>
          <p:cNvPr id="4" name="TextBox 3">
            <a:extLst>
              <a:ext uri="{FF2B5EF4-FFF2-40B4-BE49-F238E27FC236}">
                <a16:creationId xmlns:a16="http://schemas.microsoft.com/office/drawing/2014/main" id="{B7EBC72E-A2FE-8C0E-E9CA-70AAF4C40CBB}"/>
              </a:ext>
            </a:extLst>
          </p:cNvPr>
          <p:cNvSpPr txBox="1"/>
          <p:nvPr/>
        </p:nvSpPr>
        <p:spPr>
          <a:xfrm>
            <a:off x="970280" y="427521"/>
            <a:ext cx="10251440" cy="3939540"/>
          </a:xfrm>
          <a:prstGeom prst="rect">
            <a:avLst/>
          </a:prstGeom>
          <a:noFill/>
        </p:spPr>
        <p:txBody>
          <a:bodyPr wrap="square">
            <a:spAutoFit/>
          </a:bodyPr>
          <a:lstStyle/>
          <a:p>
            <a:pPr marL="0" marR="0" algn="ctr">
              <a:spcBef>
                <a:spcPts val="1800"/>
              </a:spcBef>
              <a:spcAft>
                <a:spcPts val="900"/>
              </a:spcAft>
              <a:buNone/>
            </a:pPr>
            <a:r>
              <a:rPr lang="en-IN" sz="3200" b="1" u="none" strike="noStrike" dirty="0">
                <a:effectLst/>
                <a:latin typeface="Google Sans"/>
              </a:rPr>
              <a:t>Common Examples</a:t>
            </a:r>
          </a:p>
          <a:p>
            <a:pPr marL="0" marR="0" algn="just">
              <a:spcBef>
                <a:spcPts val="900"/>
              </a:spcBef>
              <a:spcAft>
                <a:spcPts val="1200"/>
              </a:spcAft>
              <a:buNone/>
            </a:pPr>
            <a:r>
              <a:rPr lang="en-IN" sz="2400" b="0" u="none" strike="noStrike" dirty="0">
                <a:effectLst/>
                <a:latin typeface="Google Sans"/>
              </a:rPr>
              <a:t>Thousands of real-world problems have been proven to be NP-complete, typically involving resource allocation, routing, or combinations. Common examples include: </a:t>
            </a:r>
          </a:p>
          <a:p>
            <a:pPr marL="342900" marR="0" indent="-342900" algn="just">
              <a:spcBef>
                <a:spcPts val="900"/>
              </a:spcBef>
              <a:spcAft>
                <a:spcPts val="1200"/>
              </a:spcAft>
              <a:buFont typeface="Arial" panose="020B0604020202020204" pitchFamily="34" charset="0"/>
              <a:buChar char="•"/>
            </a:pPr>
            <a:r>
              <a:rPr lang="en-IN" sz="2400" b="1" u="none" strike="noStrike" dirty="0">
                <a:effectLst/>
                <a:latin typeface="Google Sans"/>
              </a:rPr>
              <a:t>The Traveling Salesperson Problem (TSP):</a:t>
            </a:r>
            <a:r>
              <a:rPr lang="en-IN" sz="2400" b="0" u="none" strike="noStrike" dirty="0">
                <a:effectLst/>
                <a:latin typeface="Google Sans"/>
              </a:rPr>
              <a:t> Finding the shortest possible route that visits a specific list of cities and returns to the origin city. </a:t>
            </a:r>
          </a:p>
          <a:p>
            <a:pPr marL="342900" marR="0" indent="-342900" algn="just">
              <a:spcBef>
                <a:spcPts val="900"/>
              </a:spcBef>
              <a:spcAft>
                <a:spcPts val="1200"/>
              </a:spcAft>
              <a:buFont typeface="Arial" panose="020B0604020202020204" pitchFamily="34" charset="0"/>
              <a:buChar char="•"/>
            </a:pPr>
            <a:r>
              <a:rPr lang="en-IN" sz="2400" b="1" u="none" strike="noStrike" dirty="0">
                <a:effectLst/>
                <a:latin typeface="Google Sans"/>
              </a:rPr>
              <a:t>Knapsack Problem:</a:t>
            </a:r>
            <a:r>
              <a:rPr lang="en-IN" sz="2400" b="0" u="none" strike="noStrike" dirty="0">
                <a:effectLst/>
                <a:latin typeface="Google Sans"/>
              </a:rPr>
              <a:t> Selecting a set of items with given weights and values to maximize the total value without exceeding a specific weight limit. </a:t>
            </a:r>
          </a:p>
        </p:txBody>
      </p:sp>
    </p:spTree>
    <p:extLst>
      <p:ext uri="{BB962C8B-B14F-4D97-AF65-F5344CB8AC3E}">
        <p14:creationId xmlns:p14="http://schemas.microsoft.com/office/powerpoint/2010/main" val="208317643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BF05966-C1D7-B3B0-1A59-DE95DC60E70A}"/>
              </a:ext>
            </a:extLst>
          </p:cNvPr>
          <p:cNvSpPr txBox="1"/>
          <p:nvPr/>
        </p:nvSpPr>
        <p:spPr>
          <a:xfrm>
            <a:off x="3195590" y="2705725"/>
            <a:ext cx="5800819" cy="1446550"/>
          </a:xfrm>
          <a:prstGeom prst="rect">
            <a:avLst/>
          </a:prstGeom>
          <a:noFill/>
        </p:spPr>
        <p:txBody>
          <a:bodyPr wrap="none" rtlCol="0">
            <a:spAutoFit/>
          </a:bodyPr>
          <a:lstStyle/>
          <a:p>
            <a:r>
              <a:rPr lang="en-IN" sz="8800" b="1" dirty="0">
                <a:ln w="6600">
                  <a:solidFill>
                    <a:schemeClr val="accent2"/>
                  </a:solidFill>
                  <a:prstDash val="solid"/>
                </a:ln>
                <a:solidFill>
                  <a:srgbClr val="FFFFFF"/>
                </a:solidFill>
                <a:effectLst>
                  <a:outerShdw dist="38100" dir="2700000" algn="tl" rotWithShape="0">
                    <a:schemeClr val="accent2"/>
                  </a:outerShdw>
                </a:effectLst>
                <a:latin typeface="Calibri" panose="020F0502020204030204" pitchFamily="34" charset="0"/>
                <a:cs typeface="Calibri" panose="020F0502020204030204" pitchFamily="34" charset="0"/>
              </a:rPr>
              <a:t>THANK YOU</a:t>
            </a:r>
          </a:p>
        </p:txBody>
      </p:sp>
      <p:sp>
        <p:nvSpPr>
          <p:cNvPr id="3" name="Slide Number Placeholder 2">
            <a:extLst>
              <a:ext uri="{FF2B5EF4-FFF2-40B4-BE49-F238E27FC236}">
                <a16:creationId xmlns:a16="http://schemas.microsoft.com/office/drawing/2014/main" id="{56046AC3-6C4B-69A4-80AB-F303CDD5FAEC}"/>
              </a:ext>
            </a:extLst>
          </p:cNvPr>
          <p:cNvSpPr>
            <a:spLocks noGrp="1"/>
          </p:cNvSpPr>
          <p:nvPr>
            <p:ph type="sldNum" sz="quarter" idx="12"/>
          </p:nvPr>
        </p:nvSpPr>
        <p:spPr/>
        <p:txBody>
          <a:bodyPr/>
          <a:lstStyle/>
          <a:p>
            <a:fld id="{520A0C6E-EFDF-49F2-A292-CF6FBFE4B673}" type="slidenum">
              <a:rPr lang="en-IN" smtClean="0"/>
              <a:t>43</a:t>
            </a:fld>
            <a:endParaRPr lang="en-IN"/>
          </a:p>
        </p:txBody>
      </p:sp>
    </p:spTree>
    <p:extLst>
      <p:ext uri="{BB962C8B-B14F-4D97-AF65-F5344CB8AC3E}">
        <p14:creationId xmlns:p14="http://schemas.microsoft.com/office/powerpoint/2010/main" val="3745922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831</TotalTime>
  <Words>5256</Words>
  <Application>Microsoft Office PowerPoint</Application>
  <PresentationFormat>Widescreen</PresentationFormat>
  <Paragraphs>406</Paragraphs>
  <Slides>43</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43</vt:i4>
      </vt:variant>
    </vt:vector>
  </HeadingPairs>
  <TitlesOfParts>
    <vt:vector size="51" baseType="lpstr">
      <vt:lpstr>Arial</vt:lpstr>
      <vt:lpstr>Calibri</vt:lpstr>
      <vt:lpstr>Calibri Light</vt:lpstr>
      <vt:lpstr>Cambria Math</vt:lpstr>
      <vt:lpstr>Courier New</vt:lpstr>
      <vt:lpstr>Google Sans</vt:lpstr>
      <vt:lpstr>Nunito</vt:lpstr>
      <vt:lpstr>Office Theme</vt:lpstr>
      <vt:lpstr>Unit-5</vt:lpstr>
      <vt:lpstr>Syllabus</vt:lpstr>
      <vt:lpstr>PowerPoint Presentation</vt:lpstr>
      <vt:lpstr>PowerPoint Presentation</vt:lpstr>
      <vt:lpstr>PowerPoint Presentation</vt:lpstr>
      <vt:lpstr>PowerPoint Presentation</vt:lpstr>
      <vt:lpstr>Inserting into a binary search tree</vt:lpstr>
      <vt:lpstr>PowerPoint Presentation</vt:lpstr>
      <vt:lpstr>PowerPoint Presentation</vt:lpstr>
      <vt:lpstr>Deletion in Binary Search Tree (BST)</vt:lpstr>
      <vt:lpstr>Algorithm Deletion in Binary Search Tree (BST)</vt:lpstr>
      <vt:lpstr>Binary Search Tree (BST) Deletion </vt:lpstr>
      <vt:lpstr>Binary Search Tree (BST) Deletion </vt:lpstr>
      <vt:lpstr>Exercise: Construction of BST</vt:lpstr>
      <vt:lpstr>Height-Balanced Tree or AVL Tree</vt:lpstr>
      <vt:lpstr>Height-Balanced Tree or AVL Tree or Red-Black Tree</vt:lpstr>
      <vt:lpstr>PowerPoint Presentation</vt:lpstr>
      <vt:lpstr>Height-Balanced Tree or AVL Tree or Red-Black Tree</vt:lpstr>
      <vt:lpstr>PowerPoint Presentation</vt:lpstr>
      <vt:lpstr>PowerPoint Presentation</vt:lpstr>
      <vt:lpstr>Algorithm: AVL Tree Insertion</vt:lpstr>
      <vt:lpstr>Height-Balanced Tree Deletion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Dayanand Yadav</dc:creator>
  <cp:lastModifiedBy>Dayanand Yadav</cp:lastModifiedBy>
  <cp:revision>192</cp:revision>
  <dcterms:created xsi:type="dcterms:W3CDTF">2026-07-05T03:05:32Z</dcterms:created>
  <dcterms:modified xsi:type="dcterms:W3CDTF">2026-07-20T06:47:20Z</dcterms:modified>
</cp:coreProperties>
</file>