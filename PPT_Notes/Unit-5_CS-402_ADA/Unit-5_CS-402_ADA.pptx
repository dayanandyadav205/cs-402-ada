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9" r:id="rId4"/>
    <p:sldId id="264" r:id="rId5"/>
    <p:sldId id="265" r:id="rId6"/>
    <p:sldId id="266" r:id="rId7"/>
    <p:sldId id="267" r:id="rId8"/>
    <p:sldId id="268" r:id="rId9"/>
    <p:sldId id="261" r:id="rId10"/>
    <p:sldId id="262" r:id="rId11"/>
    <p:sldId id="263" r:id="rId12"/>
    <p:sldId id="270" r:id="rId13"/>
    <p:sldId id="271" r:id="rId14"/>
    <p:sldId id="272" r:id="rId15"/>
    <p:sldId id="273" r:id="rId16"/>
    <p:sldId id="274" r:id="rId17"/>
    <p:sldId id="277" r:id="rId18"/>
    <p:sldId id="281" r:id="rId19"/>
    <p:sldId id="282" r:id="rId20"/>
    <p:sldId id="283" r:id="rId21"/>
    <p:sldId id="286" r:id="rId22"/>
    <p:sldId id="284" r:id="rId23"/>
    <p:sldId id="285" r:id="rId24"/>
    <p:sldId id="287" r:id="rId25"/>
    <p:sldId id="288" r:id="rId26"/>
    <p:sldId id="289" r:id="rId27"/>
    <p:sldId id="290" r:id="rId28"/>
    <p:sldId id="291" r:id="rId29"/>
    <p:sldId id="292" r:id="rId30"/>
    <p:sldId id="293" r:id="rId31"/>
    <p:sldId id="294" r:id="rId32"/>
    <p:sldId id="295" r:id="rId33"/>
    <p:sldId id="29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A7CE0-733C-6865-6382-9E5432263D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FC6B243-0703-3DED-F25A-566AD79179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8556A21-2ED2-08DD-1093-859B0F2FF267}"/>
              </a:ext>
            </a:extLst>
          </p:cNvPr>
          <p:cNvSpPr>
            <a:spLocks noGrp="1"/>
          </p:cNvSpPr>
          <p:nvPr>
            <p:ph type="dt" sz="half" idx="10"/>
          </p:nvPr>
        </p:nvSpPr>
        <p:spPr/>
        <p:txBody>
          <a:bodyPr/>
          <a:lstStyle/>
          <a:p>
            <a:fld id="{C04477E7-61C3-41D6-8898-566D4EA17E1D}" type="datetimeFigureOut">
              <a:rPr lang="en-IN" smtClean="0"/>
              <a:t>05-07-2026</a:t>
            </a:fld>
            <a:endParaRPr lang="en-IN"/>
          </a:p>
        </p:txBody>
      </p:sp>
      <p:sp>
        <p:nvSpPr>
          <p:cNvPr id="5" name="Footer Placeholder 4">
            <a:extLst>
              <a:ext uri="{FF2B5EF4-FFF2-40B4-BE49-F238E27FC236}">
                <a16:creationId xmlns:a16="http://schemas.microsoft.com/office/drawing/2014/main" id="{F73D32EC-A551-12FA-428C-91152182FB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6B4919-25FB-8C10-7BD7-C32DCE37D00F}"/>
              </a:ext>
            </a:extLst>
          </p:cNvPr>
          <p:cNvSpPr>
            <a:spLocks noGrp="1"/>
          </p:cNvSpPr>
          <p:nvPr>
            <p:ph type="sldNum" sz="quarter" idx="12"/>
          </p:nvPr>
        </p:nvSpPr>
        <p:spPr/>
        <p:txBody>
          <a:bodyPr/>
          <a:lstStyle/>
          <a:p>
            <a:fld id="{520A0C6E-EFDF-49F2-A292-CF6FBFE4B673}" type="slidenum">
              <a:rPr lang="en-IN" smtClean="0"/>
              <a:t>‹#›</a:t>
            </a:fld>
            <a:endParaRPr lang="en-IN"/>
          </a:p>
        </p:txBody>
      </p:sp>
    </p:spTree>
    <p:extLst>
      <p:ext uri="{BB962C8B-B14F-4D97-AF65-F5344CB8AC3E}">
        <p14:creationId xmlns:p14="http://schemas.microsoft.com/office/powerpoint/2010/main" val="536111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4D919-9CDF-BFB3-7513-8181B27A2CE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6B3EB8-429A-3190-0224-DCD39C501A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4DDCAA-3463-3B25-C862-A58D020BDBAA}"/>
              </a:ext>
            </a:extLst>
          </p:cNvPr>
          <p:cNvSpPr>
            <a:spLocks noGrp="1"/>
          </p:cNvSpPr>
          <p:nvPr>
            <p:ph type="dt" sz="half" idx="10"/>
          </p:nvPr>
        </p:nvSpPr>
        <p:spPr/>
        <p:txBody>
          <a:bodyPr/>
          <a:lstStyle/>
          <a:p>
            <a:fld id="{C04477E7-61C3-41D6-8898-566D4EA17E1D}" type="datetimeFigureOut">
              <a:rPr lang="en-IN" smtClean="0"/>
              <a:t>05-07-2026</a:t>
            </a:fld>
            <a:endParaRPr lang="en-IN"/>
          </a:p>
        </p:txBody>
      </p:sp>
      <p:sp>
        <p:nvSpPr>
          <p:cNvPr id="5" name="Footer Placeholder 4">
            <a:extLst>
              <a:ext uri="{FF2B5EF4-FFF2-40B4-BE49-F238E27FC236}">
                <a16:creationId xmlns:a16="http://schemas.microsoft.com/office/drawing/2014/main" id="{B4627B3C-2E7B-AE06-9121-179570EF80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34342A-236A-F1CD-2949-ED3CAA7C5295}"/>
              </a:ext>
            </a:extLst>
          </p:cNvPr>
          <p:cNvSpPr>
            <a:spLocks noGrp="1"/>
          </p:cNvSpPr>
          <p:nvPr>
            <p:ph type="sldNum" sz="quarter" idx="12"/>
          </p:nvPr>
        </p:nvSpPr>
        <p:spPr/>
        <p:txBody>
          <a:bodyPr/>
          <a:lstStyle/>
          <a:p>
            <a:fld id="{520A0C6E-EFDF-49F2-A292-CF6FBFE4B673}" type="slidenum">
              <a:rPr lang="en-IN" smtClean="0"/>
              <a:t>‹#›</a:t>
            </a:fld>
            <a:endParaRPr lang="en-IN"/>
          </a:p>
        </p:txBody>
      </p:sp>
    </p:spTree>
    <p:extLst>
      <p:ext uri="{BB962C8B-B14F-4D97-AF65-F5344CB8AC3E}">
        <p14:creationId xmlns:p14="http://schemas.microsoft.com/office/powerpoint/2010/main" val="1658716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82A0A-1389-B3A2-4717-54433EA6A3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41F3045-22EE-4C2F-FC3E-42FDD4A12A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A1FA8C-EE4B-ECEC-FE69-E77662289083}"/>
              </a:ext>
            </a:extLst>
          </p:cNvPr>
          <p:cNvSpPr>
            <a:spLocks noGrp="1"/>
          </p:cNvSpPr>
          <p:nvPr>
            <p:ph type="dt" sz="half" idx="10"/>
          </p:nvPr>
        </p:nvSpPr>
        <p:spPr/>
        <p:txBody>
          <a:bodyPr/>
          <a:lstStyle/>
          <a:p>
            <a:fld id="{C04477E7-61C3-41D6-8898-566D4EA17E1D}" type="datetimeFigureOut">
              <a:rPr lang="en-IN" smtClean="0"/>
              <a:t>05-07-2026</a:t>
            </a:fld>
            <a:endParaRPr lang="en-IN"/>
          </a:p>
        </p:txBody>
      </p:sp>
      <p:sp>
        <p:nvSpPr>
          <p:cNvPr id="5" name="Footer Placeholder 4">
            <a:extLst>
              <a:ext uri="{FF2B5EF4-FFF2-40B4-BE49-F238E27FC236}">
                <a16:creationId xmlns:a16="http://schemas.microsoft.com/office/drawing/2014/main" id="{81EF9F4A-82B8-4AF6-5A33-CFD23D1FF0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85E102-6583-D8D2-F858-79F1E2ED7121}"/>
              </a:ext>
            </a:extLst>
          </p:cNvPr>
          <p:cNvSpPr>
            <a:spLocks noGrp="1"/>
          </p:cNvSpPr>
          <p:nvPr>
            <p:ph type="sldNum" sz="quarter" idx="12"/>
          </p:nvPr>
        </p:nvSpPr>
        <p:spPr/>
        <p:txBody>
          <a:bodyPr/>
          <a:lstStyle/>
          <a:p>
            <a:fld id="{520A0C6E-EFDF-49F2-A292-CF6FBFE4B673}" type="slidenum">
              <a:rPr lang="en-IN" smtClean="0"/>
              <a:t>‹#›</a:t>
            </a:fld>
            <a:endParaRPr lang="en-IN"/>
          </a:p>
        </p:txBody>
      </p:sp>
    </p:spTree>
    <p:extLst>
      <p:ext uri="{BB962C8B-B14F-4D97-AF65-F5344CB8AC3E}">
        <p14:creationId xmlns:p14="http://schemas.microsoft.com/office/powerpoint/2010/main" val="452869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D306E-72CA-BB31-B138-54F83C4206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1B3D5B-DAB9-F3D1-C0A2-E85471DFF1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37E7776-FD86-0104-14F6-7AE5E1C0F6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06694F3-8EDF-0ED9-6F5D-E1DE0A56BBE7}"/>
              </a:ext>
            </a:extLst>
          </p:cNvPr>
          <p:cNvSpPr>
            <a:spLocks noGrp="1"/>
          </p:cNvSpPr>
          <p:nvPr>
            <p:ph type="dt" sz="half" idx="10"/>
          </p:nvPr>
        </p:nvSpPr>
        <p:spPr/>
        <p:txBody>
          <a:bodyPr/>
          <a:lstStyle/>
          <a:p>
            <a:fld id="{C04477E7-61C3-41D6-8898-566D4EA17E1D}" type="datetimeFigureOut">
              <a:rPr lang="en-IN" smtClean="0"/>
              <a:t>05-07-2026</a:t>
            </a:fld>
            <a:endParaRPr lang="en-IN"/>
          </a:p>
        </p:txBody>
      </p:sp>
      <p:sp>
        <p:nvSpPr>
          <p:cNvPr id="6" name="Footer Placeholder 5">
            <a:extLst>
              <a:ext uri="{FF2B5EF4-FFF2-40B4-BE49-F238E27FC236}">
                <a16:creationId xmlns:a16="http://schemas.microsoft.com/office/drawing/2014/main" id="{5BBDEFC2-3B08-6140-91A0-805177ED8E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828513-01CA-3D66-210E-9222309FF2FF}"/>
              </a:ext>
            </a:extLst>
          </p:cNvPr>
          <p:cNvSpPr>
            <a:spLocks noGrp="1"/>
          </p:cNvSpPr>
          <p:nvPr>
            <p:ph type="sldNum" sz="quarter" idx="12"/>
          </p:nvPr>
        </p:nvSpPr>
        <p:spPr/>
        <p:txBody>
          <a:bodyPr/>
          <a:lstStyle/>
          <a:p>
            <a:fld id="{520A0C6E-EFDF-49F2-A292-CF6FBFE4B673}" type="slidenum">
              <a:rPr lang="en-IN" smtClean="0"/>
              <a:t>‹#›</a:t>
            </a:fld>
            <a:endParaRPr lang="en-IN"/>
          </a:p>
        </p:txBody>
      </p:sp>
    </p:spTree>
    <p:extLst>
      <p:ext uri="{BB962C8B-B14F-4D97-AF65-F5344CB8AC3E}">
        <p14:creationId xmlns:p14="http://schemas.microsoft.com/office/powerpoint/2010/main" val="2435671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C48D2-874A-5CA2-F79C-87B4C7BC9B2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5612FC-2005-87CD-95C5-0173EEDBB0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C204F8-37A1-366C-DB0D-652BDAF6EC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D703377-0034-65EF-EB39-BE65E79CAF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3FE49D-8FEB-56E7-CECE-489C7F43DE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792E089-D02A-9B62-E66E-B17BC645F376}"/>
              </a:ext>
            </a:extLst>
          </p:cNvPr>
          <p:cNvSpPr>
            <a:spLocks noGrp="1"/>
          </p:cNvSpPr>
          <p:nvPr>
            <p:ph type="dt" sz="half" idx="10"/>
          </p:nvPr>
        </p:nvSpPr>
        <p:spPr/>
        <p:txBody>
          <a:bodyPr/>
          <a:lstStyle/>
          <a:p>
            <a:fld id="{C04477E7-61C3-41D6-8898-566D4EA17E1D}" type="datetimeFigureOut">
              <a:rPr lang="en-IN" smtClean="0"/>
              <a:t>05-07-2026</a:t>
            </a:fld>
            <a:endParaRPr lang="en-IN"/>
          </a:p>
        </p:txBody>
      </p:sp>
      <p:sp>
        <p:nvSpPr>
          <p:cNvPr id="8" name="Footer Placeholder 7">
            <a:extLst>
              <a:ext uri="{FF2B5EF4-FFF2-40B4-BE49-F238E27FC236}">
                <a16:creationId xmlns:a16="http://schemas.microsoft.com/office/drawing/2014/main" id="{CCF9002B-BBE1-093C-8C96-2919B1BE593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960354D-3867-F459-36B5-365246BCACFD}"/>
              </a:ext>
            </a:extLst>
          </p:cNvPr>
          <p:cNvSpPr>
            <a:spLocks noGrp="1"/>
          </p:cNvSpPr>
          <p:nvPr>
            <p:ph type="sldNum" sz="quarter" idx="12"/>
          </p:nvPr>
        </p:nvSpPr>
        <p:spPr/>
        <p:txBody>
          <a:bodyPr/>
          <a:lstStyle/>
          <a:p>
            <a:fld id="{520A0C6E-EFDF-49F2-A292-CF6FBFE4B673}" type="slidenum">
              <a:rPr lang="en-IN" smtClean="0"/>
              <a:t>‹#›</a:t>
            </a:fld>
            <a:endParaRPr lang="en-IN"/>
          </a:p>
        </p:txBody>
      </p:sp>
    </p:spTree>
    <p:extLst>
      <p:ext uri="{BB962C8B-B14F-4D97-AF65-F5344CB8AC3E}">
        <p14:creationId xmlns:p14="http://schemas.microsoft.com/office/powerpoint/2010/main" val="287954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AA855-31ED-4AAC-981B-AC7597C6CE7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43F543B-CE6D-F93A-FD23-FB617B3AFAB6}"/>
              </a:ext>
            </a:extLst>
          </p:cNvPr>
          <p:cNvSpPr>
            <a:spLocks noGrp="1"/>
          </p:cNvSpPr>
          <p:nvPr>
            <p:ph type="dt" sz="half" idx="10"/>
          </p:nvPr>
        </p:nvSpPr>
        <p:spPr/>
        <p:txBody>
          <a:bodyPr/>
          <a:lstStyle/>
          <a:p>
            <a:fld id="{C04477E7-61C3-41D6-8898-566D4EA17E1D}" type="datetimeFigureOut">
              <a:rPr lang="en-IN" smtClean="0"/>
              <a:t>05-07-2026</a:t>
            </a:fld>
            <a:endParaRPr lang="en-IN"/>
          </a:p>
        </p:txBody>
      </p:sp>
      <p:sp>
        <p:nvSpPr>
          <p:cNvPr id="4" name="Footer Placeholder 3">
            <a:extLst>
              <a:ext uri="{FF2B5EF4-FFF2-40B4-BE49-F238E27FC236}">
                <a16:creationId xmlns:a16="http://schemas.microsoft.com/office/drawing/2014/main" id="{D0BDB22A-853E-C4F7-3712-A7E4C9D8994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135EA81-5DA6-5E7C-66CE-253CDFBEBF46}"/>
              </a:ext>
            </a:extLst>
          </p:cNvPr>
          <p:cNvSpPr>
            <a:spLocks noGrp="1"/>
          </p:cNvSpPr>
          <p:nvPr>
            <p:ph type="sldNum" sz="quarter" idx="12"/>
          </p:nvPr>
        </p:nvSpPr>
        <p:spPr/>
        <p:txBody>
          <a:bodyPr/>
          <a:lstStyle/>
          <a:p>
            <a:fld id="{520A0C6E-EFDF-49F2-A292-CF6FBFE4B673}" type="slidenum">
              <a:rPr lang="en-IN" smtClean="0"/>
              <a:t>‹#›</a:t>
            </a:fld>
            <a:endParaRPr lang="en-IN"/>
          </a:p>
        </p:txBody>
      </p:sp>
    </p:spTree>
    <p:extLst>
      <p:ext uri="{BB962C8B-B14F-4D97-AF65-F5344CB8AC3E}">
        <p14:creationId xmlns:p14="http://schemas.microsoft.com/office/powerpoint/2010/main" val="4000601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CF18B6-15B3-2754-7340-5A8FDF846774}"/>
              </a:ext>
            </a:extLst>
          </p:cNvPr>
          <p:cNvSpPr>
            <a:spLocks noGrp="1"/>
          </p:cNvSpPr>
          <p:nvPr>
            <p:ph type="dt" sz="half" idx="10"/>
          </p:nvPr>
        </p:nvSpPr>
        <p:spPr/>
        <p:txBody>
          <a:bodyPr/>
          <a:lstStyle/>
          <a:p>
            <a:fld id="{C04477E7-61C3-41D6-8898-566D4EA17E1D}" type="datetimeFigureOut">
              <a:rPr lang="en-IN" smtClean="0"/>
              <a:t>05-07-2026</a:t>
            </a:fld>
            <a:endParaRPr lang="en-IN"/>
          </a:p>
        </p:txBody>
      </p:sp>
      <p:sp>
        <p:nvSpPr>
          <p:cNvPr id="3" name="Footer Placeholder 2">
            <a:extLst>
              <a:ext uri="{FF2B5EF4-FFF2-40B4-BE49-F238E27FC236}">
                <a16:creationId xmlns:a16="http://schemas.microsoft.com/office/drawing/2014/main" id="{57260048-79B4-B3F0-33A2-866D017EE30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A569FE7-D80B-D916-13B9-7BC8E91D7D4B}"/>
              </a:ext>
            </a:extLst>
          </p:cNvPr>
          <p:cNvSpPr>
            <a:spLocks noGrp="1"/>
          </p:cNvSpPr>
          <p:nvPr>
            <p:ph type="sldNum" sz="quarter" idx="12"/>
          </p:nvPr>
        </p:nvSpPr>
        <p:spPr/>
        <p:txBody>
          <a:bodyPr/>
          <a:lstStyle/>
          <a:p>
            <a:fld id="{520A0C6E-EFDF-49F2-A292-CF6FBFE4B673}" type="slidenum">
              <a:rPr lang="en-IN" smtClean="0"/>
              <a:t>‹#›</a:t>
            </a:fld>
            <a:endParaRPr lang="en-IN"/>
          </a:p>
        </p:txBody>
      </p:sp>
    </p:spTree>
    <p:extLst>
      <p:ext uri="{BB962C8B-B14F-4D97-AF65-F5344CB8AC3E}">
        <p14:creationId xmlns:p14="http://schemas.microsoft.com/office/powerpoint/2010/main" val="953084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518E0-40D1-E8A9-AF31-A88036DB82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729619-5916-522C-F63A-4589E1016B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47D190E-FBB1-D3F6-4F59-1184C85C21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A22D8-62F1-93B9-71EC-F657D6ABDA06}"/>
              </a:ext>
            </a:extLst>
          </p:cNvPr>
          <p:cNvSpPr>
            <a:spLocks noGrp="1"/>
          </p:cNvSpPr>
          <p:nvPr>
            <p:ph type="dt" sz="half" idx="10"/>
          </p:nvPr>
        </p:nvSpPr>
        <p:spPr/>
        <p:txBody>
          <a:bodyPr/>
          <a:lstStyle/>
          <a:p>
            <a:fld id="{C04477E7-61C3-41D6-8898-566D4EA17E1D}" type="datetimeFigureOut">
              <a:rPr lang="en-IN" smtClean="0"/>
              <a:t>05-07-2026</a:t>
            </a:fld>
            <a:endParaRPr lang="en-IN"/>
          </a:p>
        </p:txBody>
      </p:sp>
      <p:sp>
        <p:nvSpPr>
          <p:cNvPr id="6" name="Footer Placeholder 5">
            <a:extLst>
              <a:ext uri="{FF2B5EF4-FFF2-40B4-BE49-F238E27FC236}">
                <a16:creationId xmlns:a16="http://schemas.microsoft.com/office/drawing/2014/main" id="{3E9840F1-D57D-9B56-A9B1-028BB96EB9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1492EC-DB35-5CBC-739D-9DFBFDA83610}"/>
              </a:ext>
            </a:extLst>
          </p:cNvPr>
          <p:cNvSpPr>
            <a:spLocks noGrp="1"/>
          </p:cNvSpPr>
          <p:nvPr>
            <p:ph type="sldNum" sz="quarter" idx="12"/>
          </p:nvPr>
        </p:nvSpPr>
        <p:spPr/>
        <p:txBody>
          <a:bodyPr/>
          <a:lstStyle/>
          <a:p>
            <a:fld id="{520A0C6E-EFDF-49F2-A292-CF6FBFE4B673}" type="slidenum">
              <a:rPr lang="en-IN" smtClean="0"/>
              <a:t>‹#›</a:t>
            </a:fld>
            <a:endParaRPr lang="en-IN"/>
          </a:p>
        </p:txBody>
      </p:sp>
    </p:spTree>
    <p:extLst>
      <p:ext uri="{BB962C8B-B14F-4D97-AF65-F5344CB8AC3E}">
        <p14:creationId xmlns:p14="http://schemas.microsoft.com/office/powerpoint/2010/main" val="3021839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868EE-CC73-9791-0894-545A28F6EC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F7E0872-DE17-84B5-C67C-BB42D42B70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0AFCA28-3047-5CA3-B9C6-CD4740D735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FCCF19-3D6B-DBDE-10AD-D2324C80AE4C}"/>
              </a:ext>
            </a:extLst>
          </p:cNvPr>
          <p:cNvSpPr>
            <a:spLocks noGrp="1"/>
          </p:cNvSpPr>
          <p:nvPr>
            <p:ph type="dt" sz="half" idx="10"/>
          </p:nvPr>
        </p:nvSpPr>
        <p:spPr/>
        <p:txBody>
          <a:bodyPr/>
          <a:lstStyle/>
          <a:p>
            <a:fld id="{C04477E7-61C3-41D6-8898-566D4EA17E1D}" type="datetimeFigureOut">
              <a:rPr lang="en-IN" smtClean="0"/>
              <a:t>05-07-2026</a:t>
            </a:fld>
            <a:endParaRPr lang="en-IN"/>
          </a:p>
        </p:txBody>
      </p:sp>
      <p:sp>
        <p:nvSpPr>
          <p:cNvPr id="6" name="Footer Placeholder 5">
            <a:extLst>
              <a:ext uri="{FF2B5EF4-FFF2-40B4-BE49-F238E27FC236}">
                <a16:creationId xmlns:a16="http://schemas.microsoft.com/office/drawing/2014/main" id="{65D612A4-2A72-215D-2541-0572221F4D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E3A9FB-949A-1837-DC8A-A581D90B9D79}"/>
              </a:ext>
            </a:extLst>
          </p:cNvPr>
          <p:cNvSpPr>
            <a:spLocks noGrp="1"/>
          </p:cNvSpPr>
          <p:nvPr>
            <p:ph type="sldNum" sz="quarter" idx="12"/>
          </p:nvPr>
        </p:nvSpPr>
        <p:spPr/>
        <p:txBody>
          <a:bodyPr/>
          <a:lstStyle/>
          <a:p>
            <a:fld id="{520A0C6E-EFDF-49F2-A292-CF6FBFE4B673}" type="slidenum">
              <a:rPr lang="en-IN" smtClean="0"/>
              <a:t>‹#›</a:t>
            </a:fld>
            <a:endParaRPr lang="en-IN"/>
          </a:p>
        </p:txBody>
      </p:sp>
    </p:spTree>
    <p:extLst>
      <p:ext uri="{BB962C8B-B14F-4D97-AF65-F5344CB8AC3E}">
        <p14:creationId xmlns:p14="http://schemas.microsoft.com/office/powerpoint/2010/main" val="227472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64C8E-31A0-68D9-B8CB-FD2034056B0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B36907-7D78-8E58-1658-83CAA86A75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E3CB2F-45F4-C529-157C-4A9D816C82ED}"/>
              </a:ext>
            </a:extLst>
          </p:cNvPr>
          <p:cNvSpPr>
            <a:spLocks noGrp="1"/>
          </p:cNvSpPr>
          <p:nvPr>
            <p:ph type="dt" sz="half" idx="10"/>
          </p:nvPr>
        </p:nvSpPr>
        <p:spPr/>
        <p:txBody>
          <a:bodyPr/>
          <a:lstStyle/>
          <a:p>
            <a:fld id="{C04477E7-61C3-41D6-8898-566D4EA17E1D}" type="datetimeFigureOut">
              <a:rPr lang="en-IN" smtClean="0"/>
              <a:t>05-07-2026</a:t>
            </a:fld>
            <a:endParaRPr lang="en-IN"/>
          </a:p>
        </p:txBody>
      </p:sp>
      <p:sp>
        <p:nvSpPr>
          <p:cNvPr id="5" name="Footer Placeholder 4">
            <a:extLst>
              <a:ext uri="{FF2B5EF4-FFF2-40B4-BE49-F238E27FC236}">
                <a16:creationId xmlns:a16="http://schemas.microsoft.com/office/drawing/2014/main" id="{567C6E31-68F1-1C98-BDA4-287248972A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920CAC-5DDF-A7BB-F0EF-90D24CC7680E}"/>
              </a:ext>
            </a:extLst>
          </p:cNvPr>
          <p:cNvSpPr>
            <a:spLocks noGrp="1"/>
          </p:cNvSpPr>
          <p:nvPr>
            <p:ph type="sldNum" sz="quarter" idx="12"/>
          </p:nvPr>
        </p:nvSpPr>
        <p:spPr/>
        <p:txBody>
          <a:bodyPr/>
          <a:lstStyle/>
          <a:p>
            <a:fld id="{520A0C6E-EFDF-49F2-A292-CF6FBFE4B673}" type="slidenum">
              <a:rPr lang="en-IN" smtClean="0"/>
              <a:t>‹#›</a:t>
            </a:fld>
            <a:endParaRPr lang="en-IN"/>
          </a:p>
        </p:txBody>
      </p:sp>
    </p:spTree>
    <p:extLst>
      <p:ext uri="{BB962C8B-B14F-4D97-AF65-F5344CB8AC3E}">
        <p14:creationId xmlns:p14="http://schemas.microsoft.com/office/powerpoint/2010/main" val="98125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81674A-525D-B23C-3597-2BE6891E38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0E96CD-C4C7-A7B7-C475-A15FEE0F31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E005F3-C552-83EE-90AE-312EB9D1DB62}"/>
              </a:ext>
            </a:extLst>
          </p:cNvPr>
          <p:cNvSpPr>
            <a:spLocks noGrp="1"/>
          </p:cNvSpPr>
          <p:nvPr>
            <p:ph type="dt" sz="half" idx="10"/>
          </p:nvPr>
        </p:nvSpPr>
        <p:spPr/>
        <p:txBody>
          <a:bodyPr/>
          <a:lstStyle/>
          <a:p>
            <a:fld id="{C04477E7-61C3-41D6-8898-566D4EA17E1D}" type="datetimeFigureOut">
              <a:rPr lang="en-IN" smtClean="0"/>
              <a:t>05-07-2026</a:t>
            </a:fld>
            <a:endParaRPr lang="en-IN"/>
          </a:p>
        </p:txBody>
      </p:sp>
      <p:sp>
        <p:nvSpPr>
          <p:cNvPr id="5" name="Footer Placeholder 4">
            <a:extLst>
              <a:ext uri="{FF2B5EF4-FFF2-40B4-BE49-F238E27FC236}">
                <a16:creationId xmlns:a16="http://schemas.microsoft.com/office/drawing/2014/main" id="{A9FCAA1A-1E4E-76F2-56D4-FE52C737E3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40D7B7-360F-B472-BDDA-AB4E23A1B871}"/>
              </a:ext>
            </a:extLst>
          </p:cNvPr>
          <p:cNvSpPr>
            <a:spLocks noGrp="1"/>
          </p:cNvSpPr>
          <p:nvPr>
            <p:ph type="sldNum" sz="quarter" idx="12"/>
          </p:nvPr>
        </p:nvSpPr>
        <p:spPr/>
        <p:txBody>
          <a:bodyPr/>
          <a:lstStyle/>
          <a:p>
            <a:fld id="{520A0C6E-EFDF-49F2-A292-CF6FBFE4B673}" type="slidenum">
              <a:rPr lang="en-IN" smtClean="0"/>
              <a:t>‹#›</a:t>
            </a:fld>
            <a:endParaRPr lang="en-IN"/>
          </a:p>
        </p:txBody>
      </p:sp>
    </p:spTree>
    <p:extLst>
      <p:ext uri="{BB962C8B-B14F-4D97-AF65-F5344CB8AC3E}">
        <p14:creationId xmlns:p14="http://schemas.microsoft.com/office/powerpoint/2010/main" val="3692260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02EE2F-799E-8AA3-C39B-62B45AC19B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BED5B8-B63F-2063-DFCA-FF0EEE7B45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FAEBDE-4BE9-AFCC-2859-F30965F2E7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4477E7-61C3-41D6-8898-566D4EA17E1D}" type="datetimeFigureOut">
              <a:rPr lang="en-IN" smtClean="0"/>
              <a:t>05-07-2026</a:t>
            </a:fld>
            <a:endParaRPr lang="en-IN"/>
          </a:p>
        </p:txBody>
      </p:sp>
      <p:sp>
        <p:nvSpPr>
          <p:cNvPr id="5" name="Footer Placeholder 4">
            <a:extLst>
              <a:ext uri="{FF2B5EF4-FFF2-40B4-BE49-F238E27FC236}">
                <a16:creationId xmlns:a16="http://schemas.microsoft.com/office/drawing/2014/main" id="{6B766ECF-FC75-DBAE-CEEA-42E423240D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D70687A-EAC4-CD56-D2DF-385274FE52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0A0C6E-EFDF-49F2-A292-CF6FBFE4B673}" type="slidenum">
              <a:rPr lang="en-IN" smtClean="0"/>
              <a:t>‹#›</a:t>
            </a:fld>
            <a:endParaRPr lang="en-IN"/>
          </a:p>
        </p:txBody>
      </p:sp>
    </p:spTree>
    <p:extLst>
      <p:ext uri="{BB962C8B-B14F-4D97-AF65-F5344CB8AC3E}">
        <p14:creationId xmlns:p14="http://schemas.microsoft.com/office/powerpoint/2010/main" val="1220190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gif"/><Relationship Id="rId1" Type="http://schemas.openxmlformats.org/officeDocument/2006/relationships/slideLayout" Target="../slideLayouts/slideLayout2.xml"/><Relationship Id="rId4" Type="http://schemas.openxmlformats.org/officeDocument/2006/relationships/image" Target="../media/image3.gif"/></Relationships>
</file>

<file path=ppt/slides/_rels/slide4.xml.rels><?xml version="1.0" encoding="UTF-8" standalone="yes"?>
<Relationships xmlns="http://schemas.openxmlformats.org/package/2006/relationships"><Relationship Id="rId2" Type="http://schemas.openxmlformats.org/officeDocument/2006/relationships/hyperlink" Target="https://cs.ecu.edu/abrahamsonk/2530/fall18/Notes/lec40B.html#binary"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gif"/><Relationship Id="rId1" Type="http://schemas.openxmlformats.org/officeDocument/2006/relationships/slideLayout" Target="../slideLayouts/slideLayout2.xml"/><Relationship Id="rId4" Type="http://schemas.openxmlformats.org/officeDocument/2006/relationships/image" Target="../media/image8.gif"/></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589C3-8D9C-1588-F925-C0E3A47227CE}"/>
              </a:ext>
            </a:extLst>
          </p:cNvPr>
          <p:cNvSpPr>
            <a:spLocks noGrp="1"/>
          </p:cNvSpPr>
          <p:nvPr>
            <p:ph type="ctrTitle"/>
          </p:nvPr>
        </p:nvSpPr>
        <p:spPr>
          <a:xfrm>
            <a:off x="1524000" y="884238"/>
            <a:ext cx="9144000" cy="1061402"/>
          </a:xfrm>
        </p:spPr>
        <p:txBody>
          <a:bodyPr/>
          <a:lstStyle/>
          <a:p>
            <a:r>
              <a:rPr lang="en-IN" dirty="0">
                <a:latin typeface="Times New Roman" panose="02020603050405020304" pitchFamily="18" charset="0"/>
                <a:cs typeface="Times New Roman" panose="02020603050405020304" pitchFamily="18" charset="0"/>
              </a:rPr>
              <a:t>Unit-5</a:t>
            </a:r>
          </a:p>
        </p:txBody>
      </p:sp>
      <p:sp>
        <p:nvSpPr>
          <p:cNvPr id="3" name="Subtitle 2">
            <a:extLst>
              <a:ext uri="{FF2B5EF4-FFF2-40B4-BE49-F238E27FC236}">
                <a16:creationId xmlns:a16="http://schemas.microsoft.com/office/drawing/2014/main" id="{6C3DA5BB-5090-24EE-E75C-51C5A32F1946}"/>
              </a:ext>
            </a:extLst>
          </p:cNvPr>
          <p:cNvSpPr>
            <a:spLocks noGrp="1"/>
          </p:cNvSpPr>
          <p:nvPr>
            <p:ph type="subTitle" idx="1"/>
          </p:nvPr>
        </p:nvSpPr>
        <p:spPr>
          <a:xfrm>
            <a:off x="1524000" y="2260918"/>
            <a:ext cx="9144000" cy="1655762"/>
          </a:xfrm>
        </p:spPr>
        <p:txBody>
          <a:bodyPr>
            <a:normAutofit/>
          </a:bodyPr>
          <a:lstStyle/>
          <a:p>
            <a:r>
              <a:rPr lang="en-IN" sz="4800" dirty="0">
                <a:latin typeface="Times New Roman" panose="02020603050405020304" pitchFamily="18" charset="0"/>
                <a:cs typeface="Times New Roman" panose="02020603050405020304" pitchFamily="18" charset="0"/>
              </a:rPr>
              <a:t>CS-402 </a:t>
            </a:r>
            <a:br>
              <a:rPr lang="en-IN" sz="4800" dirty="0">
                <a:latin typeface="Times New Roman" panose="02020603050405020304" pitchFamily="18" charset="0"/>
                <a:cs typeface="Times New Roman" panose="02020603050405020304" pitchFamily="18" charset="0"/>
              </a:rPr>
            </a:br>
            <a:r>
              <a:rPr lang="en-IN" sz="4800" dirty="0">
                <a:latin typeface="Times New Roman" panose="02020603050405020304" pitchFamily="18" charset="0"/>
                <a:cs typeface="Times New Roman" panose="02020603050405020304" pitchFamily="18" charset="0"/>
              </a:rPr>
              <a:t>ADA</a:t>
            </a:r>
          </a:p>
        </p:txBody>
      </p:sp>
    </p:spTree>
    <p:extLst>
      <p:ext uri="{BB962C8B-B14F-4D97-AF65-F5344CB8AC3E}">
        <p14:creationId xmlns:p14="http://schemas.microsoft.com/office/powerpoint/2010/main" val="1430865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B13AE-5B91-8BBE-2215-C257455AD40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Syllabus</a:t>
            </a:r>
          </a:p>
        </p:txBody>
      </p:sp>
      <p:sp>
        <p:nvSpPr>
          <p:cNvPr id="3" name="Content Placeholder 2">
            <a:extLst>
              <a:ext uri="{FF2B5EF4-FFF2-40B4-BE49-F238E27FC236}">
                <a16:creationId xmlns:a16="http://schemas.microsoft.com/office/drawing/2014/main" id="{21B64D27-F8A5-F0F9-A6BD-F48E4814C57A}"/>
              </a:ext>
            </a:extLst>
          </p:cNvPr>
          <p:cNvSpPr>
            <a:spLocks noGrp="1"/>
          </p:cNvSpPr>
          <p:nvPr>
            <p:ph idx="1"/>
          </p:nvPr>
        </p:nvSpPr>
        <p:spPr/>
        <p:txBody>
          <a:bodyPr/>
          <a:lstStyle/>
          <a:p>
            <a:pPr marL="0" indent="0" algn="just">
              <a:lnSpc>
                <a:spcPct val="150000"/>
              </a:lnSpc>
              <a:buNone/>
            </a:pPr>
            <a:r>
              <a:rPr lang="en-IN" dirty="0">
                <a:latin typeface="Times New Roman" panose="02020603050405020304" pitchFamily="18" charset="0"/>
                <a:cs typeface="Times New Roman" panose="02020603050405020304" pitchFamily="18" charset="0"/>
              </a:rPr>
              <a:t>Binary search trees, height balanced trees, 2-3 trees, B-trees, basic search and traversal techniques for trees and graphs (In order, preorder, postorder, DFS, BFS), NP-completeness. </a:t>
            </a:r>
          </a:p>
        </p:txBody>
      </p:sp>
    </p:spTree>
    <p:extLst>
      <p:ext uri="{BB962C8B-B14F-4D97-AF65-F5344CB8AC3E}">
        <p14:creationId xmlns:p14="http://schemas.microsoft.com/office/powerpoint/2010/main" val="3790980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2C122-076B-9C27-A062-A94F4F51FEC1}"/>
            </a:ext>
          </a:extLst>
        </p:cNvPr>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A343B7F5-B3AB-096E-678A-520658CC11B1}"/>
              </a:ext>
            </a:extLst>
          </p:cNvPr>
          <p:cNvGraphicFramePr>
            <a:graphicFrameLocks noGrp="1"/>
          </p:cNvGraphicFramePr>
          <p:nvPr>
            <p:extLst>
              <p:ext uri="{D42A27DB-BD31-4B8C-83A1-F6EECF244321}">
                <p14:modId xmlns:p14="http://schemas.microsoft.com/office/powerpoint/2010/main" val="2535161205"/>
              </p:ext>
            </p:extLst>
          </p:nvPr>
        </p:nvGraphicFramePr>
        <p:xfrm>
          <a:off x="762942" y="1356890"/>
          <a:ext cx="10319842" cy="640080"/>
        </p:xfrm>
        <a:graphic>
          <a:graphicData uri="http://schemas.openxmlformats.org/drawingml/2006/table">
            <a:tbl>
              <a:tblPr/>
              <a:tblGrid>
                <a:gridCol w="10319842">
                  <a:extLst>
                    <a:ext uri="{9D8B030D-6E8A-4147-A177-3AD203B41FA5}">
                      <a16:colId xmlns:a16="http://schemas.microsoft.com/office/drawing/2014/main" val="505513666"/>
                    </a:ext>
                  </a:extLst>
                </a:gridCol>
              </a:tblGrid>
              <a:tr h="0">
                <a:tc>
                  <a:txBody>
                    <a:bodyPr/>
                    <a:lstStyle/>
                    <a:p>
                      <a:pPr>
                        <a:buNone/>
                      </a:pPr>
                      <a:r>
                        <a:rPr lang="en-IN" sz="1800" dirty="0">
                          <a:effectLst/>
                        </a:rPr>
                        <a:t>If a given node </a:t>
                      </a:r>
                      <a:r>
                        <a:rPr lang="en-IN" sz="1800" i="1" dirty="0">
                          <a:effectLst/>
                        </a:rPr>
                        <a:t>v</a:t>
                      </a:r>
                      <a:r>
                        <a:rPr lang="en-IN" sz="1800" dirty="0">
                          <a:effectLst/>
                        </a:rPr>
                        <a:t> has item </a:t>
                      </a:r>
                      <a:r>
                        <a:rPr lang="en-IN" sz="1800" i="1" dirty="0">
                          <a:effectLst/>
                        </a:rPr>
                        <a:t>k</a:t>
                      </a:r>
                      <a:r>
                        <a:rPr lang="en-IN" sz="1800" dirty="0">
                          <a:effectLst/>
                        </a:rPr>
                        <a:t>, then all nodes in the left subtree of </a:t>
                      </a:r>
                      <a:r>
                        <a:rPr lang="en-IN" sz="1800" i="1" dirty="0">
                          <a:effectLst/>
                        </a:rPr>
                        <a:t>v</a:t>
                      </a:r>
                      <a:r>
                        <a:rPr lang="en-IN" sz="1800" dirty="0">
                          <a:effectLst/>
                        </a:rPr>
                        <a:t> have items that are less than </a:t>
                      </a:r>
                      <a:r>
                        <a:rPr lang="en-IN" sz="1800" i="1" dirty="0">
                          <a:effectLst/>
                        </a:rPr>
                        <a:t>k</a:t>
                      </a:r>
                      <a:r>
                        <a:rPr lang="en-IN" sz="1800" dirty="0">
                          <a:effectLst/>
                        </a:rPr>
                        <a:t>, and all nodes in the right subtree of </a:t>
                      </a:r>
                      <a:r>
                        <a:rPr lang="en-IN" sz="1800" i="1" dirty="0">
                          <a:effectLst/>
                        </a:rPr>
                        <a:t>v</a:t>
                      </a:r>
                      <a:r>
                        <a:rPr lang="en-IN" sz="1800" dirty="0">
                          <a:effectLst/>
                        </a:rPr>
                        <a:t> have items that are greater than </a:t>
                      </a:r>
                      <a:r>
                        <a:rPr lang="en-IN" sz="1800" i="1" dirty="0">
                          <a:effectLst/>
                        </a:rPr>
                        <a:t>k</a:t>
                      </a:r>
                      <a:r>
                        <a:rPr lang="en-IN" sz="1800" dirty="0">
                          <a:effectLst/>
                        </a:rPr>
                        <a:t>.</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EFDE8"/>
                    </a:solidFill>
                  </a:tcPr>
                </a:tc>
                <a:extLst>
                  <a:ext uri="{0D108BD9-81ED-4DB2-BD59-A6C34878D82A}">
                    <a16:rowId xmlns:a16="http://schemas.microsoft.com/office/drawing/2014/main" val="4248017135"/>
                  </a:ext>
                </a:extLst>
              </a:tr>
            </a:tbl>
          </a:graphicData>
        </a:graphic>
      </p:graphicFrame>
      <p:sp>
        <p:nvSpPr>
          <p:cNvPr id="14" name="TextBox 13">
            <a:extLst>
              <a:ext uri="{FF2B5EF4-FFF2-40B4-BE49-F238E27FC236}">
                <a16:creationId xmlns:a16="http://schemas.microsoft.com/office/drawing/2014/main" id="{D815520F-C11F-38FF-CB69-D825D8A572E1}"/>
              </a:ext>
            </a:extLst>
          </p:cNvPr>
          <p:cNvSpPr txBox="1"/>
          <p:nvPr/>
        </p:nvSpPr>
        <p:spPr>
          <a:xfrm>
            <a:off x="762942" y="952340"/>
            <a:ext cx="10319842" cy="5755422"/>
          </a:xfrm>
          <a:prstGeom prst="rect">
            <a:avLst/>
          </a:prstGeom>
          <a:noFill/>
        </p:spPr>
        <p:txBody>
          <a:bodyPr wrap="square">
            <a:spAutoFit/>
          </a:bodyPr>
          <a:lstStyle/>
          <a:p>
            <a:pPr indent="0" algn="just">
              <a:buNone/>
            </a:pPr>
            <a:r>
              <a:rPr lang="en-IN" sz="1600" b="0" i="0" dirty="0">
                <a:solidFill>
                  <a:srgbClr val="000000"/>
                </a:solidFill>
                <a:effectLst/>
                <a:latin typeface="Times New Roman" panose="02020603050405020304" pitchFamily="18" charset="0"/>
              </a:rPr>
              <a:t>A </a:t>
            </a:r>
            <a:r>
              <a:rPr lang="en-IN" sz="1600" b="0" i="1" dirty="0">
                <a:solidFill>
                  <a:srgbClr val="0000FF"/>
                </a:solidFill>
                <a:effectLst/>
                <a:latin typeface="Times New Roman" panose="02020603050405020304" pitchFamily="18" charset="0"/>
              </a:rPr>
              <a:t>binary search tree</a:t>
            </a:r>
            <a:r>
              <a:rPr lang="en-IN" sz="1600" b="0" i="0" dirty="0">
                <a:solidFill>
                  <a:srgbClr val="000000"/>
                </a:solidFill>
                <a:effectLst/>
                <a:latin typeface="Times New Roman" panose="02020603050405020304" pitchFamily="18" charset="0"/>
              </a:rPr>
              <a:t> is a binary tree with the following property.</a:t>
            </a:r>
          </a:p>
          <a:p>
            <a:pPr algn="just">
              <a:buNone/>
            </a:pPr>
            <a:br>
              <a:rPr lang="en-IN" sz="1600" dirty="0"/>
            </a:br>
            <a:br>
              <a:rPr lang="en-IN" sz="1600" dirty="0"/>
            </a:br>
            <a:endParaRPr lang="en-IN" sz="1600" dirty="0"/>
          </a:p>
          <a:p>
            <a:pPr indent="0" algn="just">
              <a:buNone/>
            </a:pPr>
            <a:endParaRPr lang="en-IN" sz="1600" b="0" i="0" dirty="0">
              <a:solidFill>
                <a:srgbClr val="000000"/>
              </a:solidFill>
              <a:effectLst/>
              <a:latin typeface="Times New Roman" panose="02020603050405020304" pitchFamily="18" charset="0"/>
            </a:endParaRPr>
          </a:p>
          <a:p>
            <a:pPr indent="0" algn="just">
              <a:buNone/>
            </a:pPr>
            <a:endParaRPr lang="en-IN" sz="1600" dirty="0">
              <a:solidFill>
                <a:srgbClr val="000000"/>
              </a:solidFill>
              <a:latin typeface="Times New Roman" panose="02020603050405020304" pitchFamily="18" charset="0"/>
            </a:endParaRPr>
          </a:p>
          <a:p>
            <a:pPr indent="0" algn="just">
              <a:buNone/>
            </a:pPr>
            <a:endParaRPr lang="en-IN" sz="1600" b="0" i="0" dirty="0">
              <a:solidFill>
                <a:srgbClr val="000000"/>
              </a:solidFill>
              <a:effectLst/>
              <a:latin typeface="Times New Roman" panose="02020603050405020304" pitchFamily="18" charset="0"/>
            </a:endParaRPr>
          </a:p>
          <a:p>
            <a:pPr indent="0" algn="just">
              <a:buNone/>
            </a:pPr>
            <a:endParaRPr lang="en-IN" sz="1600" dirty="0">
              <a:solidFill>
                <a:srgbClr val="000000"/>
              </a:solidFill>
              <a:latin typeface="Times New Roman" panose="02020603050405020304" pitchFamily="18" charset="0"/>
            </a:endParaRPr>
          </a:p>
          <a:p>
            <a:pPr indent="0" algn="just">
              <a:buNone/>
            </a:pPr>
            <a:endParaRPr lang="en-IN" sz="1600" dirty="0">
              <a:solidFill>
                <a:srgbClr val="000000"/>
              </a:solidFill>
              <a:latin typeface="Times New Roman" panose="02020603050405020304" pitchFamily="18" charset="0"/>
            </a:endParaRPr>
          </a:p>
          <a:p>
            <a:pPr indent="0" algn="just">
              <a:buNone/>
            </a:pPr>
            <a:r>
              <a:rPr lang="en-IN" sz="1600" b="0" i="0" dirty="0">
                <a:solidFill>
                  <a:srgbClr val="000000"/>
                </a:solidFill>
                <a:effectLst/>
                <a:latin typeface="Times New Roman" panose="02020603050405020304" pitchFamily="18" charset="0"/>
              </a:rPr>
              <a:t>For example, the following is a binary search tree.</a:t>
            </a:r>
          </a:p>
          <a:p>
            <a:pPr indent="0" algn="just">
              <a:buNone/>
            </a:pPr>
            <a:endParaRPr lang="en-IN" sz="1600" dirty="0">
              <a:solidFill>
                <a:srgbClr val="000000"/>
              </a:solidFill>
              <a:latin typeface="Times New Roman" panose="02020603050405020304" pitchFamily="18" charset="0"/>
            </a:endParaRPr>
          </a:p>
          <a:p>
            <a:pPr indent="0" algn="just">
              <a:buNone/>
            </a:pPr>
            <a:endParaRPr lang="en-IN" sz="1600" b="0" i="0" dirty="0">
              <a:solidFill>
                <a:srgbClr val="000000"/>
              </a:solidFill>
              <a:effectLst/>
              <a:latin typeface="Times New Roman" panose="02020603050405020304" pitchFamily="18" charset="0"/>
            </a:endParaRPr>
          </a:p>
          <a:p>
            <a:pPr indent="0" algn="just">
              <a:buNone/>
            </a:pPr>
            <a:endParaRPr lang="en-IN" sz="1600" dirty="0">
              <a:solidFill>
                <a:srgbClr val="000000"/>
              </a:solidFill>
              <a:latin typeface="Times New Roman" panose="02020603050405020304" pitchFamily="18" charset="0"/>
            </a:endParaRPr>
          </a:p>
          <a:p>
            <a:pPr indent="0" algn="just">
              <a:buNone/>
            </a:pPr>
            <a:endParaRPr lang="en-IN" sz="1600" b="0" i="0" dirty="0">
              <a:solidFill>
                <a:srgbClr val="000000"/>
              </a:solidFill>
              <a:effectLst/>
              <a:latin typeface="Times New Roman" panose="02020603050405020304" pitchFamily="18" charset="0"/>
            </a:endParaRPr>
          </a:p>
          <a:p>
            <a:pPr indent="0" algn="just">
              <a:buNone/>
            </a:pPr>
            <a:endParaRPr lang="en-IN" sz="1600" b="0" i="0" dirty="0">
              <a:solidFill>
                <a:srgbClr val="000000"/>
              </a:solidFill>
              <a:effectLst/>
              <a:latin typeface="Times New Roman" panose="02020603050405020304" pitchFamily="18" charset="0"/>
            </a:endParaRPr>
          </a:p>
          <a:p>
            <a:pPr indent="0" algn="just">
              <a:buNone/>
            </a:pPr>
            <a:r>
              <a:rPr lang="en-IN" sz="1600" b="0" i="0" dirty="0">
                <a:solidFill>
                  <a:srgbClr val="000000"/>
                </a:solidFill>
                <a:effectLst/>
                <a:latin typeface="Times New Roman" panose="02020603050405020304" pitchFamily="18" charset="0"/>
              </a:rPr>
              <a:t>A binary search tree can have any shape, as long as it obeys the ordering requirement. The following is a binary search tree. (The left subtree of each node is an empty tree.)</a:t>
            </a:r>
          </a:p>
          <a:p>
            <a:pPr indent="0" algn="just">
              <a:buNone/>
            </a:pPr>
            <a:endParaRPr lang="en-IN" sz="1600" b="0" i="0" dirty="0">
              <a:solidFill>
                <a:srgbClr val="000000"/>
              </a:solidFill>
              <a:effectLst/>
              <a:latin typeface="Times New Roman" panose="02020603050405020304" pitchFamily="18" charset="0"/>
            </a:endParaRPr>
          </a:p>
          <a:p>
            <a:pPr indent="0" algn="just">
              <a:buNone/>
            </a:pPr>
            <a:endParaRPr lang="en-IN" sz="1600" dirty="0">
              <a:solidFill>
                <a:srgbClr val="000000"/>
              </a:solidFill>
              <a:latin typeface="Times New Roman" panose="02020603050405020304" pitchFamily="18" charset="0"/>
            </a:endParaRPr>
          </a:p>
          <a:p>
            <a:pPr indent="0" algn="just">
              <a:buNone/>
            </a:pPr>
            <a:endParaRPr lang="en-IN" sz="1600" b="0" i="0" dirty="0">
              <a:solidFill>
                <a:srgbClr val="000000"/>
              </a:solidFill>
              <a:effectLst/>
              <a:latin typeface="Times New Roman" panose="02020603050405020304" pitchFamily="18" charset="0"/>
            </a:endParaRPr>
          </a:p>
          <a:p>
            <a:pPr indent="0" algn="just">
              <a:buNone/>
            </a:pPr>
            <a:endParaRPr lang="en-IN" sz="1600" b="0" i="0" dirty="0">
              <a:solidFill>
                <a:srgbClr val="000000"/>
              </a:solidFill>
              <a:effectLst/>
              <a:latin typeface="Times New Roman" panose="02020603050405020304" pitchFamily="18" charset="0"/>
            </a:endParaRPr>
          </a:p>
          <a:p>
            <a:pPr indent="0" algn="just">
              <a:buNone/>
            </a:pPr>
            <a:r>
              <a:rPr lang="en-IN" sz="1600" b="0" i="0" dirty="0">
                <a:solidFill>
                  <a:srgbClr val="000000"/>
                </a:solidFill>
                <a:effectLst/>
                <a:latin typeface="Times New Roman" panose="02020603050405020304" pitchFamily="18" charset="0"/>
              </a:rPr>
              <a:t>Our intent is to use a binary search tree as an implementation of a set of integers, namely, the set of integers that occur in the tree. An empty tree represents an empty set.</a:t>
            </a:r>
          </a:p>
        </p:txBody>
      </p:sp>
      <p:pic>
        <p:nvPicPr>
          <p:cNvPr id="15" name="Picture 14">
            <a:extLst>
              <a:ext uri="{FF2B5EF4-FFF2-40B4-BE49-F238E27FC236}">
                <a16:creationId xmlns:a16="http://schemas.microsoft.com/office/drawing/2014/main" id="{18498193-B9BF-C717-5679-06DF1809158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490219" y="2084804"/>
            <a:ext cx="1102182" cy="811787"/>
          </a:xfrm>
          <a:prstGeom prst="rect">
            <a:avLst/>
          </a:prstGeom>
        </p:spPr>
      </p:pic>
      <p:pic>
        <p:nvPicPr>
          <p:cNvPr id="16" name="Picture 15">
            <a:extLst>
              <a:ext uri="{FF2B5EF4-FFF2-40B4-BE49-F238E27FC236}">
                <a16:creationId xmlns:a16="http://schemas.microsoft.com/office/drawing/2014/main" id="{3957D2B6-02F3-2528-CE5B-E871DF68B27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980602" y="3418896"/>
            <a:ext cx="1884521" cy="1085028"/>
          </a:xfrm>
          <a:prstGeom prst="rect">
            <a:avLst/>
          </a:prstGeom>
        </p:spPr>
      </p:pic>
      <p:sp>
        <p:nvSpPr>
          <p:cNvPr id="19" name="TextBox 18">
            <a:extLst>
              <a:ext uri="{FF2B5EF4-FFF2-40B4-BE49-F238E27FC236}">
                <a16:creationId xmlns:a16="http://schemas.microsoft.com/office/drawing/2014/main" id="{FA165CD9-CC27-51C8-F43B-F7A4105E90DD}"/>
              </a:ext>
            </a:extLst>
          </p:cNvPr>
          <p:cNvSpPr txBox="1"/>
          <p:nvPr/>
        </p:nvSpPr>
        <p:spPr>
          <a:xfrm>
            <a:off x="769124" y="129950"/>
            <a:ext cx="6096000" cy="707886"/>
          </a:xfrm>
          <a:prstGeom prst="rect">
            <a:avLst/>
          </a:prstGeom>
          <a:noFill/>
        </p:spPr>
        <p:txBody>
          <a:bodyPr wrap="square">
            <a:spAutoFit/>
          </a:bodyPr>
          <a:lstStyle/>
          <a:p>
            <a:pPr indent="0" algn="l">
              <a:buNone/>
            </a:pPr>
            <a:r>
              <a:rPr lang="en-IN" sz="4000" b="1" i="0" dirty="0">
                <a:solidFill>
                  <a:srgbClr val="000000"/>
                </a:solidFill>
                <a:effectLst/>
                <a:latin typeface="Times New Roman" panose="02020603050405020304" pitchFamily="18" charset="0"/>
              </a:rPr>
              <a:t>Binary search trees</a:t>
            </a:r>
          </a:p>
        </p:txBody>
      </p:sp>
      <p:pic>
        <p:nvPicPr>
          <p:cNvPr id="20" name="Picture 19">
            <a:extLst>
              <a:ext uri="{FF2B5EF4-FFF2-40B4-BE49-F238E27FC236}">
                <a16:creationId xmlns:a16="http://schemas.microsoft.com/office/drawing/2014/main" id="{53C75AD4-6A25-1B41-0979-6096C90F083D}"/>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544908" y="4986323"/>
            <a:ext cx="992803" cy="1029573"/>
          </a:xfrm>
          <a:prstGeom prst="rect">
            <a:avLst/>
          </a:prstGeom>
        </p:spPr>
      </p:pic>
    </p:spTree>
    <p:extLst>
      <p:ext uri="{BB962C8B-B14F-4D97-AF65-F5344CB8AC3E}">
        <p14:creationId xmlns:p14="http://schemas.microsoft.com/office/powerpoint/2010/main" val="3236284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DD979-1B83-13FD-6730-5F8D050B6E78}"/>
              </a:ext>
            </a:extLst>
          </p:cNvPr>
          <p:cNvSpPr>
            <a:spLocks noGrp="1"/>
          </p:cNvSpPr>
          <p:nvPr>
            <p:ph type="title"/>
          </p:nvPr>
        </p:nvSpPr>
        <p:spPr>
          <a:xfrm>
            <a:off x="726440" y="283845"/>
            <a:ext cx="10515600" cy="650875"/>
          </a:xfrm>
        </p:spPr>
        <p:txBody>
          <a:bodyPr>
            <a:normAutofit fontScale="90000"/>
          </a:bodyPr>
          <a:lstStyle/>
          <a:p>
            <a:r>
              <a:rPr lang="en-IN" b="1" dirty="0">
                <a:latin typeface="Times New Roman" panose="02020603050405020304" pitchFamily="18" charset="0"/>
                <a:cs typeface="Times New Roman" panose="02020603050405020304" pitchFamily="18" charset="0"/>
              </a:rPr>
              <a:t>Lookup for binary search trees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9AADDE7-6B8C-2071-FA3D-FC168A6394BA}"/>
              </a:ext>
            </a:extLst>
          </p:cNvPr>
          <p:cNvSpPr txBox="1"/>
          <p:nvPr/>
        </p:nvSpPr>
        <p:spPr>
          <a:xfrm>
            <a:off x="807720" y="1033840"/>
            <a:ext cx="5288280" cy="5444054"/>
          </a:xfrm>
          <a:prstGeom prst="rect">
            <a:avLst/>
          </a:prstGeom>
          <a:noFill/>
        </p:spPr>
        <p:txBody>
          <a:bodyPr wrap="square">
            <a:spAutoFit/>
          </a:bodyPr>
          <a:lstStyle/>
          <a:p>
            <a:pPr indent="0" algn="just">
              <a:lnSpc>
                <a:spcPct val="150000"/>
              </a:lnSpc>
              <a:buNone/>
            </a:pPr>
            <a:r>
              <a:rPr lang="en-IN" b="0" i="0" dirty="0">
                <a:solidFill>
                  <a:srgbClr val="000000"/>
                </a:solidFill>
                <a:effectLst/>
                <a:latin typeface="Times New Roman" panose="02020603050405020304" pitchFamily="18" charset="0"/>
              </a:rPr>
              <a:t>Functions can take advantage of the ordering requirement in a way that is similar to what </a:t>
            </a:r>
            <a:r>
              <a:rPr lang="en-IN" b="0" i="1" u="sng" dirty="0">
                <a:solidFill>
                  <a:srgbClr val="0000FF"/>
                </a:solidFill>
                <a:effectLst/>
                <a:latin typeface="Times New Roman" panose="02020603050405020304" pitchFamily="18" charset="0"/>
                <a:hlinkClick r:id="rId2"/>
              </a:rPr>
              <a:t>binary search</a:t>
            </a:r>
            <a:r>
              <a:rPr lang="en-IN" b="0" i="0" dirty="0">
                <a:solidFill>
                  <a:srgbClr val="000000"/>
                </a:solidFill>
                <a:effectLst/>
                <a:latin typeface="Times New Roman" panose="02020603050405020304" pitchFamily="18" charset="0"/>
              </a:rPr>
              <a:t> does. A membership testing function can exploit the following facts.</a:t>
            </a:r>
          </a:p>
          <a:p>
            <a:pPr indent="0" algn="just">
              <a:lnSpc>
                <a:spcPct val="150000"/>
              </a:lnSpc>
              <a:buFont typeface="+mj-lt"/>
              <a:buAutoNum type="arabicPeriod"/>
            </a:pPr>
            <a:r>
              <a:rPr lang="en-IN" b="0" i="0" dirty="0">
                <a:solidFill>
                  <a:srgbClr val="000000"/>
                </a:solidFill>
                <a:effectLst/>
                <a:latin typeface="Times New Roman" panose="02020603050405020304" pitchFamily="18" charset="0"/>
              </a:rPr>
              <a:t> An empty tree has no members.</a:t>
            </a:r>
          </a:p>
          <a:p>
            <a:pPr indent="0" algn="just">
              <a:lnSpc>
                <a:spcPct val="150000"/>
              </a:lnSpc>
              <a:buFont typeface="+mj-lt"/>
              <a:buAutoNum type="arabicPeriod"/>
            </a:pPr>
            <a:r>
              <a:rPr lang="en-IN" b="0" i="0" dirty="0">
                <a:solidFill>
                  <a:srgbClr val="000000"/>
                </a:solidFill>
                <a:effectLst/>
                <a:latin typeface="Times New Roman" panose="02020603050405020304" pitchFamily="18" charset="0"/>
              </a:rPr>
              <a:t> If the root of </a:t>
            </a:r>
            <a:r>
              <a:rPr lang="en-IN" b="0" i="1" dirty="0">
                <a:solidFill>
                  <a:srgbClr val="000000"/>
                </a:solidFill>
                <a:effectLst/>
                <a:latin typeface="Times New Roman" panose="02020603050405020304" pitchFamily="18" charset="0"/>
              </a:rPr>
              <a:t>T</a:t>
            </a:r>
            <a:r>
              <a:rPr lang="en-IN" b="0" i="0" dirty="0">
                <a:solidFill>
                  <a:srgbClr val="000000"/>
                </a:solidFill>
                <a:effectLst/>
                <a:latin typeface="Times New Roman" panose="02020603050405020304" pitchFamily="18" charset="0"/>
              </a:rPr>
              <a:t> contains </a:t>
            </a:r>
            <a:r>
              <a:rPr lang="en-IN" b="0" i="1" dirty="0">
                <a:solidFill>
                  <a:srgbClr val="000000"/>
                </a:solidFill>
                <a:effectLst/>
                <a:latin typeface="Times New Roman" panose="02020603050405020304" pitchFamily="18" charset="0"/>
              </a:rPr>
              <a:t>x</a:t>
            </a:r>
            <a:r>
              <a:rPr lang="en-IN" b="0" i="0" dirty="0">
                <a:solidFill>
                  <a:srgbClr val="000000"/>
                </a:solidFill>
                <a:effectLst/>
                <a:latin typeface="Times New Roman" panose="02020603050405020304" pitchFamily="18" charset="0"/>
              </a:rPr>
              <a:t>, then tree </a:t>
            </a:r>
            <a:r>
              <a:rPr lang="en-IN" b="0" i="1" dirty="0">
                <a:solidFill>
                  <a:srgbClr val="000000"/>
                </a:solidFill>
                <a:effectLst/>
                <a:latin typeface="Times New Roman" panose="02020603050405020304" pitchFamily="18" charset="0"/>
              </a:rPr>
              <a:t>T</a:t>
            </a:r>
            <a:r>
              <a:rPr lang="en-IN" b="0" i="0" dirty="0">
                <a:solidFill>
                  <a:srgbClr val="000000"/>
                </a:solidFill>
                <a:effectLst/>
                <a:latin typeface="Times New Roman" panose="02020603050405020304" pitchFamily="18" charset="0"/>
              </a:rPr>
              <a:t> clearly contains </a:t>
            </a:r>
            <a:r>
              <a:rPr lang="en-IN" b="0" i="1" dirty="0">
                <a:solidFill>
                  <a:srgbClr val="000000"/>
                </a:solidFill>
                <a:effectLst/>
                <a:latin typeface="Times New Roman" panose="02020603050405020304" pitchFamily="18" charset="0"/>
              </a:rPr>
              <a:t>x</a:t>
            </a:r>
            <a:r>
              <a:rPr lang="en-IN" b="0" i="0" dirty="0">
                <a:solidFill>
                  <a:srgbClr val="000000"/>
                </a:solidFill>
                <a:effectLst/>
                <a:latin typeface="Times New Roman" panose="02020603050405020304" pitchFamily="18" charset="0"/>
              </a:rPr>
              <a:t>.</a:t>
            </a:r>
          </a:p>
          <a:p>
            <a:pPr indent="0" algn="just">
              <a:lnSpc>
                <a:spcPct val="150000"/>
              </a:lnSpc>
              <a:buFont typeface="+mj-lt"/>
              <a:buAutoNum type="arabicPeriod"/>
            </a:pPr>
            <a:r>
              <a:rPr lang="en-IN" b="0" i="0" dirty="0">
                <a:solidFill>
                  <a:srgbClr val="000000"/>
                </a:solidFill>
                <a:effectLst/>
                <a:latin typeface="Times New Roman" panose="02020603050405020304" pitchFamily="18" charset="0"/>
              </a:rPr>
              <a:t> If the root of </a:t>
            </a:r>
            <a:r>
              <a:rPr lang="en-IN" b="0" i="1" dirty="0">
                <a:solidFill>
                  <a:srgbClr val="000000"/>
                </a:solidFill>
                <a:effectLst/>
                <a:latin typeface="Times New Roman" panose="02020603050405020304" pitchFamily="18" charset="0"/>
              </a:rPr>
              <a:t>T</a:t>
            </a:r>
            <a:r>
              <a:rPr lang="en-IN" b="0" i="0" dirty="0">
                <a:solidFill>
                  <a:srgbClr val="000000"/>
                </a:solidFill>
                <a:effectLst/>
                <a:latin typeface="Times New Roman" panose="02020603050405020304" pitchFamily="18" charset="0"/>
              </a:rPr>
              <a:t> contains </a:t>
            </a:r>
            <a:r>
              <a:rPr lang="en-IN" b="0" i="1" dirty="0">
                <a:solidFill>
                  <a:srgbClr val="000000"/>
                </a:solidFill>
                <a:effectLst/>
                <a:latin typeface="Times New Roman" panose="02020603050405020304" pitchFamily="18" charset="0"/>
              </a:rPr>
              <a:t>k</a:t>
            </a:r>
            <a:r>
              <a:rPr lang="en-IN" b="0" i="0" dirty="0">
                <a:solidFill>
                  <a:srgbClr val="000000"/>
                </a:solidFill>
                <a:effectLst/>
                <a:latin typeface="Times New Roman" panose="02020603050405020304" pitchFamily="18" charset="0"/>
              </a:rPr>
              <a:t> and </a:t>
            </a:r>
            <a:r>
              <a:rPr lang="en-IN" b="0" i="1" dirty="0">
                <a:solidFill>
                  <a:srgbClr val="000000"/>
                </a:solidFill>
                <a:effectLst/>
                <a:latin typeface="Times New Roman" panose="02020603050405020304" pitchFamily="18" charset="0"/>
              </a:rPr>
              <a:t>x</a:t>
            </a:r>
            <a:r>
              <a:rPr lang="en-IN" b="0" i="0" dirty="0">
                <a:solidFill>
                  <a:srgbClr val="000000"/>
                </a:solidFill>
                <a:effectLst/>
                <a:latin typeface="Times New Roman" panose="02020603050405020304" pitchFamily="18" charset="0"/>
              </a:rPr>
              <a:t> &lt; </a:t>
            </a:r>
            <a:r>
              <a:rPr lang="en-IN" b="0" i="1" dirty="0">
                <a:solidFill>
                  <a:srgbClr val="000000"/>
                </a:solidFill>
                <a:effectLst/>
                <a:latin typeface="Times New Roman" panose="02020603050405020304" pitchFamily="18" charset="0"/>
              </a:rPr>
              <a:t>k</a:t>
            </a:r>
            <a:r>
              <a:rPr lang="en-IN" b="0" i="0" dirty="0">
                <a:solidFill>
                  <a:srgbClr val="000000"/>
                </a:solidFill>
                <a:effectLst/>
                <a:latin typeface="Times New Roman" panose="02020603050405020304" pitchFamily="18" charset="0"/>
              </a:rPr>
              <a:t> then, if </a:t>
            </a:r>
            <a:r>
              <a:rPr lang="en-IN" b="0" i="1" dirty="0">
                <a:solidFill>
                  <a:srgbClr val="000000"/>
                </a:solidFill>
                <a:effectLst/>
                <a:latin typeface="Times New Roman" panose="02020603050405020304" pitchFamily="18" charset="0"/>
              </a:rPr>
              <a:t>x</a:t>
            </a:r>
            <a:r>
              <a:rPr lang="en-IN" b="0" i="0" dirty="0">
                <a:solidFill>
                  <a:srgbClr val="000000"/>
                </a:solidFill>
                <a:effectLst/>
                <a:latin typeface="Times New Roman" panose="02020603050405020304" pitchFamily="18" charset="0"/>
              </a:rPr>
              <a:t> occurs in </a:t>
            </a:r>
            <a:r>
              <a:rPr lang="en-IN" b="0" i="1" dirty="0">
                <a:solidFill>
                  <a:srgbClr val="000000"/>
                </a:solidFill>
                <a:effectLst/>
                <a:latin typeface="Times New Roman" panose="02020603050405020304" pitchFamily="18" charset="0"/>
              </a:rPr>
              <a:t>T</a:t>
            </a:r>
            <a:r>
              <a:rPr lang="en-IN" b="0" i="0" dirty="0">
                <a:solidFill>
                  <a:srgbClr val="000000"/>
                </a:solidFill>
                <a:effectLst/>
                <a:latin typeface="Times New Roman" panose="02020603050405020304" pitchFamily="18" charset="0"/>
              </a:rPr>
              <a:t> at all, it must occur in </a:t>
            </a:r>
            <a:r>
              <a:rPr lang="en-IN" b="0" i="1" dirty="0">
                <a:solidFill>
                  <a:srgbClr val="000000"/>
                </a:solidFill>
                <a:effectLst/>
                <a:latin typeface="Times New Roman" panose="02020603050405020304" pitchFamily="18" charset="0"/>
              </a:rPr>
              <a:t>T </a:t>
            </a:r>
            <a:r>
              <a:rPr lang="en-IN" b="0" i="0" dirty="0">
                <a:solidFill>
                  <a:srgbClr val="000000"/>
                </a:solidFill>
                <a:effectLst/>
                <a:latin typeface="Times New Roman" panose="02020603050405020304" pitchFamily="18" charset="0"/>
              </a:rPr>
              <a:t>'s left subtree, by the ordering requirement for binary search trees.</a:t>
            </a:r>
          </a:p>
          <a:p>
            <a:pPr indent="0" algn="just">
              <a:lnSpc>
                <a:spcPct val="150000"/>
              </a:lnSpc>
              <a:buFont typeface="+mj-lt"/>
              <a:buAutoNum type="arabicPeriod"/>
            </a:pPr>
            <a:r>
              <a:rPr lang="en-IN" b="0" i="0" dirty="0">
                <a:solidFill>
                  <a:srgbClr val="000000"/>
                </a:solidFill>
                <a:effectLst/>
                <a:latin typeface="Times New Roman" panose="02020603050405020304" pitchFamily="18" charset="0"/>
              </a:rPr>
              <a:t> Similarly, if the root of </a:t>
            </a:r>
            <a:r>
              <a:rPr lang="en-IN" b="0" i="1" dirty="0">
                <a:solidFill>
                  <a:srgbClr val="000000"/>
                </a:solidFill>
                <a:effectLst/>
                <a:latin typeface="Times New Roman" panose="02020603050405020304" pitchFamily="18" charset="0"/>
              </a:rPr>
              <a:t>T</a:t>
            </a:r>
            <a:r>
              <a:rPr lang="en-IN" b="0" i="0" dirty="0">
                <a:solidFill>
                  <a:srgbClr val="000000"/>
                </a:solidFill>
                <a:effectLst/>
                <a:latin typeface="Times New Roman" panose="02020603050405020304" pitchFamily="18" charset="0"/>
              </a:rPr>
              <a:t> contains </a:t>
            </a:r>
            <a:r>
              <a:rPr lang="en-IN" b="0" i="1" dirty="0">
                <a:solidFill>
                  <a:srgbClr val="000000"/>
                </a:solidFill>
                <a:effectLst/>
                <a:latin typeface="Times New Roman" panose="02020603050405020304" pitchFamily="18" charset="0"/>
              </a:rPr>
              <a:t>k</a:t>
            </a:r>
            <a:r>
              <a:rPr lang="en-IN" b="0" i="0" dirty="0">
                <a:solidFill>
                  <a:srgbClr val="000000"/>
                </a:solidFill>
                <a:effectLst/>
                <a:latin typeface="Times New Roman" panose="02020603050405020304" pitchFamily="18" charset="0"/>
              </a:rPr>
              <a:t> and </a:t>
            </a:r>
            <a:r>
              <a:rPr lang="en-IN" b="0" i="1" dirty="0">
                <a:solidFill>
                  <a:srgbClr val="000000"/>
                </a:solidFill>
                <a:effectLst/>
                <a:latin typeface="Times New Roman" panose="02020603050405020304" pitchFamily="18" charset="0"/>
              </a:rPr>
              <a:t>x</a:t>
            </a:r>
            <a:r>
              <a:rPr lang="en-IN" b="0" i="0" dirty="0">
                <a:solidFill>
                  <a:srgbClr val="000000"/>
                </a:solidFill>
                <a:effectLst/>
                <a:latin typeface="Times New Roman" panose="02020603050405020304" pitchFamily="18" charset="0"/>
              </a:rPr>
              <a:t> &gt; </a:t>
            </a:r>
            <a:r>
              <a:rPr lang="en-IN" b="0" i="1" dirty="0">
                <a:solidFill>
                  <a:srgbClr val="000000"/>
                </a:solidFill>
                <a:effectLst/>
                <a:latin typeface="Times New Roman" panose="02020603050405020304" pitchFamily="18" charset="0"/>
              </a:rPr>
              <a:t>k</a:t>
            </a:r>
            <a:r>
              <a:rPr lang="en-IN" b="0" i="0" dirty="0">
                <a:solidFill>
                  <a:srgbClr val="000000"/>
                </a:solidFill>
                <a:effectLst/>
                <a:latin typeface="Times New Roman" panose="02020603050405020304" pitchFamily="18" charset="0"/>
              </a:rPr>
              <a:t>, then </a:t>
            </a:r>
            <a:r>
              <a:rPr lang="en-IN" b="0" i="1" dirty="0">
                <a:solidFill>
                  <a:srgbClr val="000000"/>
                </a:solidFill>
                <a:effectLst/>
                <a:latin typeface="Times New Roman" panose="02020603050405020304" pitchFamily="18" charset="0"/>
              </a:rPr>
              <a:t>x</a:t>
            </a:r>
            <a:r>
              <a:rPr lang="en-IN" b="0" i="0" dirty="0">
                <a:solidFill>
                  <a:srgbClr val="000000"/>
                </a:solidFill>
                <a:effectLst/>
                <a:latin typeface="Times New Roman" panose="02020603050405020304" pitchFamily="18" charset="0"/>
              </a:rPr>
              <a:t> occurs in </a:t>
            </a:r>
            <a:r>
              <a:rPr lang="en-IN" b="0" i="1" dirty="0">
                <a:solidFill>
                  <a:srgbClr val="000000"/>
                </a:solidFill>
                <a:effectLst/>
                <a:latin typeface="Times New Roman" panose="02020603050405020304" pitchFamily="18" charset="0"/>
              </a:rPr>
              <a:t>T</a:t>
            </a:r>
            <a:r>
              <a:rPr lang="en-IN" b="0" i="0" dirty="0">
                <a:solidFill>
                  <a:srgbClr val="000000"/>
                </a:solidFill>
                <a:effectLst/>
                <a:latin typeface="Times New Roman" panose="02020603050405020304" pitchFamily="18" charset="0"/>
              </a:rPr>
              <a:t> if and only if </a:t>
            </a:r>
            <a:r>
              <a:rPr lang="en-IN" b="0" i="1" dirty="0">
                <a:solidFill>
                  <a:srgbClr val="000000"/>
                </a:solidFill>
                <a:effectLst/>
                <a:latin typeface="Times New Roman" panose="02020603050405020304" pitchFamily="18" charset="0"/>
              </a:rPr>
              <a:t>x</a:t>
            </a:r>
            <a:r>
              <a:rPr lang="en-IN" b="0" i="0" dirty="0">
                <a:solidFill>
                  <a:srgbClr val="000000"/>
                </a:solidFill>
                <a:effectLst/>
                <a:latin typeface="Times New Roman" panose="02020603050405020304" pitchFamily="18" charset="0"/>
              </a:rPr>
              <a:t> occurs in </a:t>
            </a:r>
            <a:r>
              <a:rPr lang="en-IN" b="0" i="1" dirty="0">
                <a:solidFill>
                  <a:srgbClr val="000000"/>
                </a:solidFill>
                <a:effectLst/>
                <a:latin typeface="Times New Roman" panose="02020603050405020304" pitchFamily="18" charset="0"/>
              </a:rPr>
              <a:t>T </a:t>
            </a:r>
            <a:r>
              <a:rPr lang="en-IN" b="0" i="0" dirty="0">
                <a:solidFill>
                  <a:srgbClr val="000000"/>
                </a:solidFill>
                <a:effectLst/>
                <a:latin typeface="Times New Roman" panose="02020603050405020304" pitchFamily="18" charset="0"/>
              </a:rPr>
              <a:t>'s right subtree.</a:t>
            </a:r>
          </a:p>
        </p:txBody>
      </p:sp>
      <p:sp>
        <p:nvSpPr>
          <p:cNvPr id="7" name="TextBox 6">
            <a:extLst>
              <a:ext uri="{FF2B5EF4-FFF2-40B4-BE49-F238E27FC236}">
                <a16:creationId xmlns:a16="http://schemas.microsoft.com/office/drawing/2014/main" id="{F97D4A56-D352-7DB6-ED70-28A20585E667}"/>
              </a:ext>
            </a:extLst>
          </p:cNvPr>
          <p:cNvSpPr txBox="1"/>
          <p:nvPr/>
        </p:nvSpPr>
        <p:spPr>
          <a:xfrm>
            <a:off x="6431280" y="908934"/>
            <a:ext cx="5288280" cy="5693866"/>
          </a:xfrm>
          <a:prstGeom prst="rect">
            <a:avLst/>
          </a:prstGeom>
          <a:noFill/>
          <a:ln>
            <a:solidFill>
              <a:schemeClr val="accent1"/>
            </a:solidFill>
          </a:ln>
        </p:spPr>
        <p:txBody>
          <a:bodyPr wrap="square">
            <a:spAutoFit/>
          </a:bodyPr>
          <a:lstStyle/>
          <a:p>
            <a:pPr indent="0" algn="just">
              <a:buNone/>
            </a:pPr>
            <a:r>
              <a:rPr lang="en-IN" sz="1400" b="1" i="0" dirty="0">
                <a:solidFill>
                  <a:srgbClr val="702400"/>
                </a:solidFill>
                <a:effectLst/>
                <a:latin typeface="Courier new" panose="02070309020205020404" pitchFamily="49" charset="0"/>
              </a:rPr>
              <a:t>//==========================================</a:t>
            </a:r>
          </a:p>
          <a:p>
            <a:pPr indent="0" algn="just">
              <a:buNone/>
            </a:pPr>
            <a:r>
              <a:rPr lang="en-IN" sz="1400" b="1" i="0" dirty="0">
                <a:solidFill>
                  <a:srgbClr val="702400"/>
                </a:solidFill>
                <a:effectLst/>
                <a:latin typeface="Courier new" panose="02070309020205020404" pitchFamily="49" charset="0"/>
              </a:rPr>
              <a:t>  //               member</a:t>
            </a:r>
          </a:p>
          <a:p>
            <a:pPr indent="0" algn="just">
              <a:buNone/>
            </a:pPr>
            <a:r>
              <a:rPr lang="en-IN" sz="1400" b="1" i="0" dirty="0">
                <a:solidFill>
                  <a:srgbClr val="702400"/>
                </a:solidFill>
                <a:effectLst/>
                <a:latin typeface="Courier new" panose="02070309020205020404" pitchFamily="49" charset="0"/>
              </a:rPr>
              <a:t>  //==========================================</a:t>
            </a:r>
          </a:p>
          <a:p>
            <a:pPr indent="0" algn="just">
              <a:buNone/>
            </a:pPr>
            <a:r>
              <a:rPr lang="en-IN" sz="1400" b="1" i="0" dirty="0">
                <a:solidFill>
                  <a:srgbClr val="702400"/>
                </a:solidFill>
                <a:effectLst/>
                <a:latin typeface="Courier new" panose="02070309020205020404" pitchFamily="49" charset="0"/>
              </a:rPr>
              <a:t>  // member(</a:t>
            </a:r>
            <a:r>
              <a:rPr lang="en-IN" sz="1400" b="1" i="0" dirty="0" err="1">
                <a:solidFill>
                  <a:srgbClr val="702400"/>
                </a:solidFill>
                <a:effectLst/>
                <a:latin typeface="Courier new" panose="02070309020205020404" pitchFamily="49" charset="0"/>
              </a:rPr>
              <a:t>x,T</a:t>
            </a:r>
            <a:r>
              <a:rPr lang="en-IN" sz="1400" b="1" i="0" dirty="0">
                <a:solidFill>
                  <a:srgbClr val="702400"/>
                </a:solidFill>
                <a:effectLst/>
                <a:latin typeface="Courier new" panose="02070309020205020404" pitchFamily="49" charset="0"/>
              </a:rPr>
              <a:t>) returns true if x is in binary</a:t>
            </a:r>
          </a:p>
          <a:p>
            <a:pPr indent="0" algn="just">
              <a:buNone/>
            </a:pPr>
            <a:r>
              <a:rPr lang="en-IN" sz="1400" b="1" i="0" dirty="0">
                <a:solidFill>
                  <a:srgbClr val="702400"/>
                </a:solidFill>
                <a:effectLst/>
                <a:latin typeface="Courier new" panose="02070309020205020404" pitchFamily="49" charset="0"/>
              </a:rPr>
              <a:t>  // search tree T.</a:t>
            </a:r>
          </a:p>
          <a:p>
            <a:pPr indent="0" algn="just">
              <a:buNone/>
            </a:pPr>
            <a:r>
              <a:rPr lang="en-IN" sz="1400" b="1" i="0" dirty="0">
                <a:solidFill>
                  <a:srgbClr val="702400"/>
                </a:solidFill>
                <a:effectLst/>
                <a:latin typeface="Courier new" panose="02070309020205020404" pitchFamily="49" charset="0"/>
              </a:rPr>
              <a:t>  //==========================================</a:t>
            </a:r>
          </a:p>
          <a:p>
            <a:pPr indent="0" algn="just">
              <a:buNone/>
            </a:pPr>
            <a:endParaRPr lang="en-IN" sz="1400" b="1" i="0" dirty="0">
              <a:solidFill>
                <a:srgbClr val="702400"/>
              </a:solidFill>
              <a:effectLst/>
              <a:latin typeface="Courier new" panose="02070309020205020404" pitchFamily="49" charset="0"/>
            </a:endParaRPr>
          </a:p>
          <a:p>
            <a:pPr indent="0" algn="just">
              <a:buNone/>
            </a:pPr>
            <a:r>
              <a:rPr lang="en-IN" sz="1400" b="1" i="0" dirty="0">
                <a:solidFill>
                  <a:srgbClr val="702400"/>
                </a:solidFill>
                <a:effectLst/>
                <a:latin typeface="Courier new" panose="02070309020205020404" pitchFamily="49" charset="0"/>
              </a:rPr>
              <a:t>  bool member(</a:t>
            </a:r>
            <a:r>
              <a:rPr lang="en-IN" sz="1400" b="1" i="0" dirty="0" err="1">
                <a:solidFill>
                  <a:srgbClr val="702400"/>
                </a:solidFill>
                <a:effectLst/>
                <a:latin typeface="Courier new" panose="02070309020205020404" pitchFamily="49" charset="0"/>
              </a:rPr>
              <a:t>const</a:t>
            </a:r>
            <a:r>
              <a:rPr lang="en-IN" sz="1400" b="1" i="0" dirty="0">
                <a:solidFill>
                  <a:srgbClr val="702400"/>
                </a:solidFill>
                <a:effectLst/>
                <a:latin typeface="Courier new" panose="02070309020205020404" pitchFamily="49" charset="0"/>
              </a:rPr>
              <a:t> int x, </a:t>
            </a:r>
            <a:r>
              <a:rPr lang="en-IN" sz="1400" b="1" i="0" dirty="0" err="1">
                <a:solidFill>
                  <a:srgbClr val="702400"/>
                </a:solidFill>
                <a:effectLst/>
                <a:latin typeface="Courier new" panose="02070309020205020404" pitchFamily="49" charset="0"/>
              </a:rPr>
              <a:t>const</a:t>
            </a:r>
            <a:r>
              <a:rPr lang="en-IN" sz="1400" b="1" i="0" dirty="0">
                <a:solidFill>
                  <a:srgbClr val="702400"/>
                </a:solidFill>
                <a:effectLst/>
                <a:latin typeface="Courier new" panose="02070309020205020404" pitchFamily="49" charset="0"/>
              </a:rPr>
              <a:t> Tree T)</a:t>
            </a:r>
          </a:p>
          <a:p>
            <a:pPr indent="0" algn="just">
              <a:buNone/>
            </a:pPr>
            <a:r>
              <a:rPr lang="en-IN" sz="1400" b="1" i="0" dirty="0">
                <a:solidFill>
                  <a:srgbClr val="702400"/>
                </a:solidFill>
                <a:effectLst/>
                <a:latin typeface="Courier new" panose="02070309020205020404" pitchFamily="49" charset="0"/>
              </a:rPr>
              <a:t>  {</a:t>
            </a:r>
          </a:p>
          <a:p>
            <a:pPr indent="0" algn="just">
              <a:buNone/>
            </a:pPr>
            <a:r>
              <a:rPr lang="en-IN" sz="1400" b="1" i="0" dirty="0">
                <a:solidFill>
                  <a:srgbClr val="702400"/>
                </a:solidFill>
                <a:effectLst/>
                <a:latin typeface="Courier new" panose="02070309020205020404" pitchFamily="49" charset="0"/>
              </a:rPr>
              <a:t>    if(T == NULL)</a:t>
            </a:r>
          </a:p>
          <a:p>
            <a:pPr indent="0" algn="just">
              <a:buNone/>
            </a:pPr>
            <a:r>
              <a:rPr lang="en-IN" sz="1400" b="1" i="0" dirty="0">
                <a:solidFill>
                  <a:srgbClr val="702400"/>
                </a:solidFill>
                <a:effectLst/>
                <a:latin typeface="Courier new" panose="02070309020205020404" pitchFamily="49" charset="0"/>
              </a:rPr>
              <a:t>    {</a:t>
            </a:r>
          </a:p>
          <a:p>
            <a:pPr indent="0" algn="just">
              <a:buNone/>
            </a:pPr>
            <a:r>
              <a:rPr lang="en-IN" sz="1400" b="1" i="0" dirty="0">
                <a:solidFill>
                  <a:srgbClr val="702400"/>
                </a:solidFill>
                <a:effectLst/>
                <a:latin typeface="Courier new" panose="02070309020205020404" pitchFamily="49" charset="0"/>
              </a:rPr>
              <a:t>      return false;</a:t>
            </a:r>
          </a:p>
          <a:p>
            <a:pPr indent="0" algn="just">
              <a:buNone/>
            </a:pPr>
            <a:r>
              <a:rPr lang="en-IN" sz="1400" b="1" i="0" dirty="0">
                <a:solidFill>
                  <a:srgbClr val="702400"/>
                </a:solidFill>
                <a:effectLst/>
                <a:latin typeface="Courier new" panose="02070309020205020404" pitchFamily="49" charset="0"/>
              </a:rPr>
              <a:t>    }</a:t>
            </a:r>
          </a:p>
          <a:p>
            <a:pPr indent="0" algn="just">
              <a:buNone/>
            </a:pPr>
            <a:r>
              <a:rPr lang="en-IN" sz="1400" b="1" i="0" dirty="0">
                <a:solidFill>
                  <a:srgbClr val="702400"/>
                </a:solidFill>
                <a:effectLst/>
                <a:latin typeface="Courier new" panose="02070309020205020404" pitchFamily="49" charset="0"/>
              </a:rPr>
              <a:t>    else if(x == T-&gt;item)</a:t>
            </a:r>
          </a:p>
          <a:p>
            <a:pPr indent="0" algn="just">
              <a:buNone/>
            </a:pPr>
            <a:r>
              <a:rPr lang="en-IN" sz="1400" b="1" i="0" dirty="0">
                <a:solidFill>
                  <a:srgbClr val="702400"/>
                </a:solidFill>
                <a:effectLst/>
                <a:latin typeface="Courier new" panose="02070309020205020404" pitchFamily="49" charset="0"/>
              </a:rPr>
              <a:t>    {</a:t>
            </a:r>
          </a:p>
          <a:p>
            <a:pPr indent="0" algn="just">
              <a:buNone/>
            </a:pPr>
            <a:r>
              <a:rPr lang="en-IN" sz="1400" b="1" i="0" dirty="0">
                <a:solidFill>
                  <a:srgbClr val="702400"/>
                </a:solidFill>
                <a:effectLst/>
                <a:latin typeface="Courier new" panose="02070309020205020404" pitchFamily="49" charset="0"/>
              </a:rPr>
              <a:t>      return true;</a:t>
            </a:r>
          </a:p>
          <a:p>
            <a:pPr indent="0" algn="just">
              <a:buNone/>
            </a:pPr>
            <a:r>
              <a:rPr lang="en-IN" sz="1400" b="1" i="0" dirty="0">
                <a:solidFill>
                  <a:srgbClr val="702400"/>
                </a:solidFill>
                <a:effectLst/>
                <a:latin typeface="Courier new" panose="02070309020205020404" pitchFamily="49" charset="0"/>
              </a:rPr>
              <a:t>    }</a:t>
            </a:r>
          </a:p>
          <a:p>
            <a:pPr indent="0" algn="just">
              <a:buNone/>
            </a:pPr>
            <a:r>
              <a:rPr lang="en-IN" sz="1400" b="1" i="0" dirty="0">
                <a:solidFill>
                  <a:srgbClr val="702400"/>
                </a:solidFill>
                <a:effectLst/>
                <a:latin typeface="Courier new" panose="02070309020205020404" pitchFamily="49" charset="0"/>
              </a:rPr>
              <a:t>    else if(x &lt; T-&gt;item)</a:t>
            </a:r>
          </a:p>
          <a:p>
            <a:pPr indent="0" algn="just">
              <a:buNone/>
            </a:pPr>
            <a:r>
              <a:rPr lang="en-IN" sz="1400" b="1" i="0" dirty="0">
                <a:solidFill>
                  <a:srgbClr val="702400"/>
                </a:solidFill>
                <a:effectLst/>
                <a:latin typeface="Courier new" panose="02070309020205020404" pitchFamily="49" charset="0"/>
              </a:rPr>
              <a:t>    {</a:t>
            </a:r>
          </a:p>
          <a:p>
            <a:pPr indent="0" algn="just">
              <a:buNone/>
            </a:pPr>
            <a:r>
              <a:rPr lang="en-IN" sz="1400" b="1" i="0" dirty="0">
                <a:solidFill>
                  <a:srgbClr val="702400"/>
                </a:solidFill>
                <a:effectLst/>
                <a:latin typeface="Courier new" panose="02070309020205020404" pitchFamily="49" charset="0"/>
              </a:rPr>
              <a:t>      return member(x, T-&gt;left);</a:t>
            </a:r>
          </a:p>
          <a:p>
            <a:pPr indent="0" algn="just">
              <a:buNone/>
            </a:pPr>
            <a:r>
              <a:rPr lang="en-IN" sz="1400" b="1" i="0" dirty="0">
                <a:solidFill>
                  <a:srgbClr val="702400"/>
                </a:solidFill>
                <a:effectLst/>
                <a:latin typeface="Courier new" panose="02070309020205020404" pitchFamily="49" charset="0"/>
              </a:rPr>
              <a:t>    }</a:t>
            </a:r>
          </a:p>
          <a:p>
            <a:pPr indent="0" algn="just">
              <a:buNone/>
            </a:pPr>
            <a:r>
              <a:rPr lang="en-IN" sz="1400" b="1" i="0" dirty="0">
                <a:solidFill>
                  <a:srgbClr val="702400"/>
                </a:solidFill>
                <a:effectLst/>
                <a:latin typeface="Courier new" panose="02070309020205020404" pitchFamily="49" charset="0"/>
              </a:rPr>
              <a:t>    else</a:t>
            </a:r>
          </a:p>
          <a:p>
            <a:pPr indent="0" algn="just">
              <a:buNone/>
            </a:pPr>
            <a:r>
              <a:rPr lang="en-IN" sz="1400" b="1" i="0" dirty="0">
                <a:solidFill>
                  <a:srgbClr val="702400"/>
                </a:solidFill>
                <a:effectLst/>
                <a:latin typeface="Courier new" panose="02070309020205020404" pitchFamily="49" charset="0"/>
              </a:rPr>
              <a:t>    {</a:t>
            </a:r>
          </a:p>
          <a:p>
            <a:pPr indent="0" algn="just">
              <a:buNone/>
            </a:pPr>
            <a:r>
              <a:rPr lang="en-IN" sz="1400" b="1" i="0" dirty="0">
                <a:solidFill>
                  <a:srgbClr val="702400"/>
                </a:solidFill>
                <a:effectLst/>
                <a:latin typeface="Courier new" panose="02070309020205020404" pitchFamily="49" charset="0"/>
              </a:rPr>
              <a:t>      return member(x, T-&gt;right);</a:t>
            </a:r>
          </a:p>
          <a:p>
            <a:pPr indent="0" algn="just">
              <a:buNone/>
            </a:pPr>
            <a:r>
              <a:rPr lang="en-IN" sz="1400" b="1" i="0" dirty="0">
                <a:solidFill>
                  <a:srgbClr val="702400"/>
                </a:solidFill>
                <a:effectLst/>
                <a:latin typeface="Courier new" panose="02070309020205020404" pitchFamily="49" charset="0"/>
              </a:rPr>
              <a:t>    }</a:t>
            </a:r>
          </a:p>
          <a:p>
            <a:pPr indent="0" algn="just">
              <a:buNone/>
            </a:pPr>
            <a:r>
              <a:rPr lang="en-IN" sz="1400" b="1" i="0" dirty="0">
                <a:solidFill>
                  <a:srgbClr val="702400"/>
                </a:solidFill>
                <a:effectLst/>
                <a:latin typeface="Courier new" panose="02070309020205020404" pitchFamily="49" charset="0"/>
              </a:rPr>
              <a:t>  }</a:t>
            </a:r>
            <a:endParaRPr lang="en-IN" sz="1400" dirty="0"/>
          </a:p>
        </p:txBody>
      </p:sp>
    </p:spTree>
    <p:extLst>
      <p:ext uri="{BB962C8B-B14F-4D97-AF65-F5344CB8AC3E}">
        <p14:creationId xmlns:p14="http://schemas.microsoft.com/office/powerpoint/2010/main" val="2209586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F3A23-5458-38DF-C2B7-AAA97A58D66E}"/>
              </a:ext>
            </a:extLst>
          </p:cNvPr>
          <p:cNvSpPr>
            <a:spLocks noGrp="1"/>
          </p:cNvSpPr>
          <p:nvPr>
            <p:ph type="title"/>
          </p:nvPr>
        </p:nvSpPr>
        <p:spPr>
          <a:xfrm>
            <a:off x="838200" y="202315"/>
            <a:ext cx="10515600" cy="691515"/>
          </a:xfrm>
        </p:spPr>
        <p:txBody>
          <a:bodyPr>
            <a:normAutofit fontScale="90000"/>
          </a:bodyPr>
          <a:lstStyle/>
          <a:p>
            <a:r>
              <a:rPr lang="en-IN" b="1" dirty="0">
                <a:latin typeface="Times New Roman" panose="02020603050405020304" pitchFamily="18" charset="0"/>
                <a:cs typeface="Times New Roman" panose="02020603050405020304" pitchFamily="18" charset="0"/>
              </a:rPr>
              <a:t>Inserting into a binary search tree</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9EA32D9-E8BC-BFED-B13A-6F00FDE5608B}"/>
              </a:ext>
            </a:extLst>
          </p:cNvPr>
          <p:cNvSpPr txBox="1"/>
          <p:nvPr/>
        </p:nvSpPr>
        <p:spPr>
          <a:xfrm>
            <a:off x="6096000" y="863100"/>
            <a:ext cx="5471160" cy="5911234"/>
          </a:xfrm>
          <a:prstGeom prst="rect">
            <a:avLst/>
          </a:prstGeom>
          <a:noFill/>
          <a:ln>
            <a:solidFill>
              <a:schemeClr val="accent1"/>
            </a:solidFill>
          </a:ln>
        </p:spPr>
        <p:txBody>
          <a:bodyPr wrap="square">
            <a:spAutoFit/>
          </a:bodyPr>
          <a:lstStyle/>
          <a:p>
            <a:pPr indent="0" algn="l">
              <a:lnSpc>
                <a:spcPct val="150000"/>
              </a:lnSpc>
              <a:buNone/>
            </a:pPr>
            <a:r>
              <a:rPr lang="en-IN" sz="1100" b="1" i="0" dirty="0">
                <a:solidFill>
                  <a:srgbClr val="702400"/>
                </a:solidFill>
                <a:effectLst/>
                <a:latin typeface="Courier new" panose="02070309020205020404" pitchFamily="49" charset="0"/>
              </a:rPr>
              <a:t>//==========================================</a:t>
            </a:r>
          </a:p>
          <a:p>
            <a:pPr indent="0" algn="l">
              <a:lnSpc>
                <a:spcPct val="150000"/>
              </a:lnSpc>
              <a:buNone/>
            </a:pPr>
            <a:r>
              <a:rPr lang="en-IN" sz="1100" b="1" i="0" dirty="0">
                <a:solidFill>
                  <a:srgbClr val="702400"/>
                </a:solidFill>
                <a:effectLst/>
                <a:latin typeface="Courier new" panose="02070309020205020404" pitchFamily="49" charset="0"/>
              </a:rPr>
              <a:t>  //                insert</a:t>
            </a:r>
          </a:p>
          <a:p>
            <a:pPr indent="0" algn="l">
              <a:lnSpc>
                <a:spcPct val="150000"/>
              </a:lnSpc>
              <a:buNone/>
            </a:pPr>
            <a:r>
              <a:rPr lang="en-IN" sz="1100" b="1" i="0" dirty="0">
                <a:solidFill>
                  <a:srgbClr val="702400"/>
                </a:solidFill>
                <a:effectLst/>
                <a:latin typeface="Courier new" panose="02070309020205020404" pitchFamily="49" charset="0"/>
              </a:rPr>
              <a:t>  //==========================================</a:t>
            </a:r>
          </a:p>
          <a:p>
            <a:pPr indent="0" algn="l">
              <a:lnSpc>
                <a:spcPct val="150000"/>
              </a:lnSpc>
              <a:buNone/>
            </a:pPr>
            <a:r>
              <a:rPr lang="en-IN" sz="1100" b="1" i="0" dirty="0">
                <a:solidFill>
                  <a:srgbClr val="702400"/>
                </a:solidFill>
                <a:effectLst/>
                <a:latin typeface="Courier new" panose="02070309020205020404" pitchFamily="49" charset="0"/>
              </a:rPr>
              <a:t>  // insert(</a:t>
            </a:r>
            <a:r>
              <a:rPr lang="en-IN" sz="1100" b="1" i="0" dirty="0" err="1">
                <a:solidFill>
                  <a:srgbClr val="702400"/>
                </a:solidFill>
                <a:effectLst/>
                <a:latin typeface="Courier new" panose="02070309020205020404" pitchFamily="49" charset="0"/>
              </a:rPr>
              <a:t>x,T</a:t>
            </a:r>
            <a:r>
              <a:rPr lang="en-IN" sz="1100" b="1" i="0" dirty="0">
                <a:solidFill>
                  <a:srgbClr val="702400"/>
                </a:solidFill>
                <a:effectLst/>
                <a:latin typeface="Courier new" panose="02070309020205020404" pitchFamily="49" charset="0"/>
              </a:rPr>
              <a:t>) inserts x (destructively) into</a:t>
            </a:r>
          </a:p>
          <a:p>
            <a:pPr indent="0" algn="l">
              <a:lnSpc>
                <a:spcPct val="150000"/>
              </a:lnSpc>
              <a:buNone/>
            </a:pPr>
            <a:r>
              <a:rPr lang="en-IN" sz="1100" b="1" i="0" dirty="0">
                <a:solidFill>
                  <a:srgbClr val="702400"/>
                </a:solidFill>
                <a:effectLst/>
                <a:latin typeface="Courier new" panose="02070309020205020404" pitchFamily="49" charset="0"/>
              </a:rPr>
              <a:t>  // binary search tree T. If x is already a</a:t>
            </a:r>
          </a:p>
          <a:p>
            <a:pPr indent="0" algn="l">
              <a:lnSpc>
                <a:spcPct val="150000"/>
              </a:lnSpc>
              <a:buNone/>
            </a:pPr>
            <a:r>
              <a:rPr lang="en-IN" sz="1100" b="1" i="0" dirty="0">
                <a:solidFill>
                  <a:srgbClr val="702400"/>
                </a:solidFill>
                <a:effectLst/>
                <a:latin typeface="Courier new" panose="02070309020205020404" pitchFamily="49" charset="0"/>
              </a:rPr>
              <a:t>  // member of T, it does nothing.</a:t>
            </a:r>
          </a:p>
          <a:p>
            <a:pPr indent="0" algn="l">
              <a:lnSpc>
                <a:spcPct val="150000"/>
              </a:lnSpc>
              <a:buNone/>
            </a:pPr>
            <a:r>
              <a:rPr lang="en-IN" sz="1100" b="1" i="0" dirty="0">
                <a:solidFill>
                  <a:srgbClr val="702400"/>
                </a:solidFill>
                <a:effectLst/>
                <a:latin typeface="Courier new" panose="02070309020205020404" pitchFamily="49" charset="0"/>
              </a:rPr>
              <a:t>  //==========================================</a:t>
            </a:r>
          </a:p>
          <a:p>
            <a:pPr indent="0" algn="l">
              <a:lnSpc>
                <a:spcPct val="150000"/>
              </a:lnSpc>
              <a:buNone/>
            </a:pPr>
            <a:endParaRPr lang="en-IN" sz="1100" b="1" i="0" dirty="0">
              <a:solidFill>
                <a:srgbClr val="702400"/>
              </a:solidFill>
              <a:effectLst/>
              <a:latin typeface="Courier new" panose="02070309020205020404" pitchFamily="49" charset="0"/>
            </a:endParaRPr>
          </a:p>
          <a:p>
            <a:pPr indent="0" algn="l">
              <a:lnSpc>
                <a:spcPct val="150000"/>
              </a:lnSpc>
              <a:buNone/>
            </a:pPr>
            <a:r>
              <a:rPr lang="en-IN" sz="1100" b="1" i="0" dirty="0">
                <a:solidFill>
                  <a:srgbClr val="702400"/>
                </a:solidFill>
                <a:effectLst/>
                <a:latin typeface="Courier new" panose="02070309020205020404" pitchFamily="49" charset="0"/>
              </a:rPr>
              <a:t>  void insert(int x, Tree&amp; T)</a:t>
            </a:r>
          </a:p>
          <a:p>
            <a:pPr indent="0" algn="l">
              <a:lnSpc>
                <a:spcPct val="150000"/>
              </a:lnSpc>
              <a:buNone/>
            </a:pPr>
            <a:r>
              <a:rPr lang="en-IN" sz="1100" b="1" i="0" dirty="0">
                <a:solidFill>
                  <a:srgbClr val="702400"/>
                </a:solidFill>
                <a:effectLst/>
                <a:latin typeface="Courier new" panose="02070309020205020404" pitchFamily="49" charset="0"/>
              </a:rPr>
              <a:t>  {</a:t>
            </a:r>
          </a:p>
          <a:p>
            <a:pPr indent="0" algn="l">
              <a:lnSpc>
                <a:spcPct val="150000"/>
              </a:lnSpc>
              <a:buNone/>
            </a:pPr>
            <a:r>
              <a:rPr lang="en-IN" sz="1100" b="1" i="0" dirty="0">
                <a:solidFill>
                  <a:srgbClr val="702400"/>
                </a:solidFill>
                <a:effectLst/>
                <a:latin typeface="Courier new" panose="02070309020205020404" pitchFamily="49" charset="0"/>
              </a:rPr>
              <a:t>    if(T == NULL)</a:t>
            </a:r>
          </a:p>
          <a:p>
            <a:pPr indent="0" algn="l">
              <a:lnSpc>
                <a:spcPct val="150000"/>
              </a:lnSpc>
              <a:buNone/>
            </a:pPr>
            <a:r>
              <a:rPr lang="en-IN" sz="1100" b="1" i="0" dirty="0">
                <a:solidFill>
                  <a:srgbClr val="702400"/>
                </a:solidFill>
                <a:effectLst/>
                <a:latin typeface="Courier new" panose="02070309020205020404" pitchFamily="49" charset="0"/>
              </a:rPr>
              <a:t>    {</a:t>
            </a:r>
          </a:p>
          <a:p>
            <a:pPr indent="0" algn="l">
              <a:lnSpc>
                <a:spcPct val="150000"/>
              </a:lnSpc>
              <a:buNone/>
            </a:pPr>
            <a:r>
              <a:rPr lang="en-IN" sz="1100" b="1" i="0" dirty="0">
                <a:solidFill>
                  <a:srgbClr val="702400"/>
                </a:solidFill>
                <a:effectLst/>
                <a:latin typeface="Courier new" panose="02070309020205020404" pitchFamily="49" charset="0"/>
              </a:rPr>
              <a:t>      T = new Node(x, NULL, NULL);</a:t>
            </a:r>
          </a:p>
          <a:p>
            <a:pPr indent="0" algn="l">
              <a:lnSpc>
                <a:spcPct val="150000"/>
              </a:lnSpc>
              <a:buNone/>
            </a:pPr>
            <a:r>
              <a:rPr lang="en-IN" sz="1100" b="1" i="0" dirty="0">
                <a:solidFill>
                  <a:srgbClr val="702400"/>
                </a:solidFill>
                <a:effectLst/>
                <a:latin typeface="Courier new" panose="02070309020205020404" pitchFamily="49" charset="0"/>
              </a:rPr>
              <a:t>    }</a:t>
            </a:r>
          </a:p>
          <a:p>
            <a:pPr indent="0" algn="l">
              <a:lnSpc>
                <a:spcPct val="150000"/>
              </a:lnSpc>
              <a:buNone/>
            </a:pPr>
            <a:r>
              <a:rPr lang="en-IN" sz="1100" b="1" i="0" dirty="0">
                <a:solidFill>
                  <a:srgbClr val="702400"/>
                </a:solidFill>
                <a:effectLst/>
                <a:latin typeface="Courier new" panose="02070309020205020404" pitchFamily="49" charset="0"/>
              </a:rPr>
              <a:t>    else if(x &lt; T-&gt;item)</a:t>
            </a:r>
          </a:p>
          <a:p>
            <a:pPr indent="0" algn="l">
              <a:lnSpc>
                <a:spcPct val="150000"/>
              </a:lnSpc>
              <a:buNone/>
            </a:pPr>
            <a:r>
              <a:rPr lang="en-IN" sz="1100" b="1" i="0" dirty="0">
                <a:solidFill>
                  <a:srgbClr val="702400"/>
                </a:solidFill>
                <a:effectLst/>
                <a:latin typeface="Courier new" panose="02070309020205020404" pitchFamily="49" charset="0"/>
              </a:rPr>
              <a:t>    {</a:t>
            </a:r>
          </a:p>
          <a:p>
            <a:pPr indent="0" algn="l">
              <a:lnSpc>
                <a:spcPct val="150000"/>
              </a:lnSpc>
              <a:buNone/>
            </a:pPr>
            <a:r>
              <a:rPr lang="en-IN" sz="1100" b="1" i="0" dirty="0">
                <a:solidFill>
                  <a:srgbClr val="702400"/>
                </a:solidFill>
                <a:effectLst/>
                <a:latin typeface="Courier new" panose="02070309020205020404" pitchFamily="49" charset="0"/>
              </a:rPr>
              <a:t>      insert(x, T-&gt;left);</a:t>
            </a:r>
          </a:p>
          <a:p>
            <a:pPr indent="0" algn="l">
              <a:lnSpc>
                <a:spcPct val="150000"/>
              </a:lnSpc>
              <a:buNone/>
            </a:pPr>
            <a:r>
              <a:rPr lang="en-IN" sz="1100" b="1" i="0" dirty="0">
                <a:solidFill>
                  <a:srgbClr val="702400"/>
                </a:solidFill>
                <a:effectLst/>
                <a:latin typeface="Courier new" panose="02070309020205020404" pitchFamily="49" charset="0"/>
              </a:rPr>
              <a:t>    }</a:t>
            </a:r>
          </a:p>
          <a:p>
            <a:pPr indent="0" algn="l">
              <a:lnSpc>
                <a:spcPct val="150000"/>
              </a:lnSpc>
              <a:buNone/>
            </a:pPr>
            <a:r>
              <a:rPr lang="en-IN" sz="1100" b="1" i="0" dirty="0">
                <a:solidFill>
                  <a:srgbClr val="702400"/>
                </a:solidFill>
                <a:effectLst/>
                <a:latin typeface="Courier new" panose="02070309020205020404" pitchFamily="49" charset="0"/>
              </a:rPr>
              <a:t>    else if(x &gt; T-&gt;item)</a:t>
            </a:r>
          </a:p>
          <a:p>
            <a:pPr indent="0" algn="l">
              <a:lnSpc>
                <a:spcPct val="150000"/>
              </a:lnSpc>
              <a:buNone/>
            </a:pPr>
            <a:r>
              <a:rPr lang="en-IN" sz="1100" b="1" i="0" dirty="0">
                <a:solidFill>
                  <a:srgbClr val="702400"/>
                </a:solidFill>
                <a:effectLst/>
                <a:latin typeface="Courier new" panose="02070309020205020404" pitchFamily="49" charset="0"/>
              </a:rPr>
              <a:t>    {</a:t>
            </a:r>
          </a:p>
          <a:p>
            <a:pPr indent="0" algn="l">
              <a:lnSpc>
                <a:spcPct val="150000"/>
              </a:lnSpc>
              <a:buNone/>
            </a:pPr>
            <a:r>
              <a:rPr lang="en-IN" sz="1100" b="1" i="0" dirty="0">
                <a:solidFill>
                  <a:srgbClr val="702400"/>
                </a:solidFill>
                <a:effectLst/>
                <a:latin typeface="Courier new" panose="02070309020205020404" pitchFamily="49" charset="0"/>
              </a:rPr>
              <a:t>      insert(x, T-&gt;right);</a:t>
            </a:r>
          </a:p>
          <a:p>
            <a:pPr indent="0" algn="l">
              <a:lnSpc>
                <a:spcPct val="150000"/>
              </a:lnSpc>
              <a:buNone/>
            </a:pPr>
            <a:r>
              <a:rPr lang="en-IN" sz="1100" b="1" i="0" dirty="0">
                <a:solidFill>
                  <a:srgbClr val="702400"/>
                </a:solidFill>
                <a:effectLst/>
                <a:latin typeface="Courier new" panose="02070309020205020404" pitchFamily="49" charset="0"/>
              </a:rPr>
              <a:t>    }</a:t>
            </a:r>
          </a:p>
          <a:p>
            <a:pPr indent="0" algn="l">
              <a:lnSpc>
                <a:spcPct val="150000"/>
              </a:lnSpc>
              <a:buNone/>
            </a:pPr>
            <a:r>
              <a:rPr lang="en-IN" sz="1100" b="1" i="0" dirty="0">
                <a:solidFill>
                  <a:srgbClr val="702400"/>
                </a:solidFill>
                <a:effectLst/>
                <a:latin typeface="Courier new" panose="02070309020205020404" pitchFamily="49" charset="0"/>
              </a:rPr>
              <a:t>  }</a:t>
            </a:r>
          </a:p>
        </p:txBody>
      </p:sp>
      <p:pic>
        <p:nvPicPr>
          <p:cNvPr id="6" name="Picture 5">
            <a:extLst>
              <a:ext uri="{FF2B5EF4-FFF2-40B4-BE49-F238E27FC236}">
                <a16:creationId xmlns:a16="http://schemas.microsoft.com/office/drawing/2014/main" id="{13900199-3F94-F2A9-89F4-04682A164AF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31042" y="2536190"/>
            <a:ext cx="3731172" cy="1456690"/>
          </a:xfrm>
          <a:prstGeom prst="rect">
            <a:avLst/>
          </a:prstGeom>
        </p:spPr>
      </p:pic>
      <p:sp>
        <p:nvSpPr>
          <p:cNvPr id="8" name="TextBox 7">
            <a:extLst>
              <a:ext uri="{FF2B5EF4-FFF2-40B4-BE49-F238E27FC236}">
                <a16:creationId xmlns:a16="http://schemas.microsoft.com/office/drawing/2014/main" id="{4212AA98-BA5B-9CA7-31FD-355FC53AF278}"/>
              </a:ext>
            </a:extLst>
          </p:cNvPr>
          <p:cNvSpPr txBox="1"/>
          <p:nvPr/>
        </p:nvSpPr>
        <p:spPr>
          <a:xfrm>
            <a:off x="838200" y="1019526"/>
            <a:ext cx="4993640" cy="4110741"/>
          </a:xfrm>
          <a:prstGeom prst="rect">
            <a:avLst/>
          </a:prstGeom>
          <a:noFill/>
        </p:spPr>
        <p:txBody>
          <a:bodyPr wrap="square">
            <a:spAutoFit/>
          </a:bodyPr>
          <a:lstStyle/>
          <a:p>
            <a:pPr indent="0" algn="just">
              <a:lnSpc>
                <a:spcPct val="150000"/>
              </a:lnSpc>
              <a:buNone/>
            </a:pPr>
            <a:r>
              <a:rPr lang="en-IN" sz="1600" b="0" i="0" dirty="0">
                <a:solidFill>
                  <a:srgbClr val="000000"/>
                </a:solidFill>
                <a:effectLst/>
                <a:latin typeface="Times New Roman" panose="02020603050405020304" pitchFamily="18" charset="0"/>
              </a:rPr>
              <a:t>To insert a value, just find where that value would have been, had it already been in the tree, then add the value as a new leaf. For example, inserting 13 as shown below would result in the following change.</a:t>
            </a:r>
          </a:p>
          <a:p>
            <a:pPr indent="0" algn="just">
              <a:lnSpc>
                <a:spcPct val="150000"/>
              </a:lnSpc>
              <a:buNone/>
            </a:pPr>
            <a:endParaRPr lang="en-IN" sz="1600" dirty="0">
              <a:solidFill>
                <a:srgbClr val="000000"/>
              </a:solidFill>
              <a:latin typeface="Times New Roman" panose="02020603050405020304" pitchFamily="18" charset="0"/>
            </a:endParaRPr>
          </a:p>
          <a:p>
            <a:pPr indent="0" algn="just">
              <a:lnSpc>
                <a:spcPct val="150000"/>
              </a:lnSpc>
              <a:buNone/>
            </a:pPr>
            <a:endParaRPr lang="en-IN" sz="1600" b="0" i="0" dirty="0">
              <a:solidFill>
                <a:srgbClr val="000000"/>
              </a:solidFill>
              <a:effectLst/>
              <a:latin typeface="Times New Roman" panose="02020603050405020304" pitchFamily="18" charset="0"/>
            </a:endParaRPr>
          </a:p>
          <a:p>
            <a:pPr indent="0" algn="just">
              <a:lnSpc>
                <a:spcPct val="150000"/>
              </a:lnSpc>
              <a:buNone/>
            </a:pPr>
            <a:endParaRPr lang="en-IN" sz="1600" dirty="0">
              <a:solidFill>
                <a:srgbClr val="000000"/>
              </a:solidFill>
              <a:latin typeface="Times New Roman" panose="02020603050405020304" pitchFamily="18" charset="0"/>
            </a:endParaRPr>
          </a:p>
          <a:p>
            <a:pPr indent="0" algn="just">
              <a:lnSpc>
                <a:spcPct val="150000"/>
              </a:lnSpc>
              <a:buNone/>
            </a:pPr>
            <a:endParaRPr lang="en-IN" sz="1600" b="0" i="0" dirty="0">
              <a:solidFill>
                <a:srgbClr val="000000"/>
              </a:solidFill>
              <a:effectLst/>
              <a:latin typeface="Times New Roman" panose="02020603050405020304" pitchFamily="18" charset="0"/>
            </a:endParaRPr>
          </a:p>
          <a:p>
            <a:pPr indent="0" algn="just">
              <a:lnSpc>
                <a:spcPct val="150000"/>
              </a:lnSpc>
              <a:buNone/>
            </a:pPr>
            <a:r>
              <a:rPr lang="en-IN" sz="1600" b="0" i="0" dirty="0">
                <a:solidFill>
                  <a:srgbClr val="000000"/>
                </a:solidFill>
                <a:effectLst/>
                <a:latin typeface="Times New Roman" panose="02020603050405020304" pitchFamily="18" charset="0"/>
              </a:rPr>
              <a:t>The actual insertion takes place when a null tree is encountered. The null tree is replaced by a leaf. If the value to be inserted is already in the tree, nothing is done.</a:t>
            </a:r>
          </a:p>
        </p:txBody>
      </p:sp>
      <p:sp>
        <p:nvSpPr>
          <p:cNvPr id="10" name="TextBox 9">
            <a:extLst>
              <a:ext uri="{FF2B5EF4-FFF2-40B4-BE49-F238E27FC236}">
                <a16:creationId xmlns:a16="http://schemas.microsoft.com/office/drawing/2014/main" id="{5ECE6AE9-53E2-7463-EFBC-B3ADD56F400F}"/>
              </a:ext>
            </a:extLst>
          </p:cNvPr>
          <p:cNvSpPr txBox="1"/>
          <p:nvPr/>
        </p:nvSpPr>
        <p:spPr>
          <a:xfrm>
            <a:off x="838200" y="5130267"/>
            <a:ext cx="4993640" cy="1525418"/>
          </a:xfrm>
          <a:prstGeom prst="rect">
            <a:avLst/>
          </a:prstGeom>
          <a:noFill/>
        </p:spPr>
        <p:txBody>
          <a:bodyPr wrap="square">
            <a:spAutoFit/>
          </a:bodyPr>
          <a:lstStyle/>
          <a:p>
            <a:pPr indent="0" algn="l">
              <a:lnSpc>
                <a:spcPct val="150000"/>
              </a:lnSpc>
              <a:buNone/>
            </a:pPr>
            <a:r>
              <a:rPr lang="en-IN" sz="1600" b="0" i="0" dirty="0">
                <a:solidFill>
                  <a:srgbClr val="000000"/>
                </a:solidFill>
                <a:effectLst/>
                <a:latin typeface="Times New Roman" panose="02020603050405020304" pitchFamily="18" charset="0"/>
              </a:rPr>
              <a:t>Notice that parameter </a:t>
            </a:r>
            <a:r>
              <a:rPr lang="en-IN" sz="1600" b="0" i="1" dirty="0">
                <a:solidFill>
                  <a:srgbClr val="000000"/>
                </a:solidFill>
                <a:effectLst/>
                <a:latin typeface="Times New Roman" panose="02020603050405020304" pitchFamily="18" charset="0"/>
              </a:rPr>
              <a:t>T</a:t>
            </a:r>
            <a:r>
              <a:rPr lang="en-IN" sz="1600" b="0" i="0" dirty="0">
                <a:solidFill>
                  <a:srgbClr val="000000"/>
                </a:solidFill>
                <a:effectLst/>
                <a:latin typeface="Times New Roman" panose="02020603050405020304" pitchFamily="18" charset="0"/>
              </a:rPr>
              <a:t> is passed by reference. The first case needs to change the pointer that is stored in </a:t>
            </a:r>
            <a:r>
              <a:rPr lang="en-IN" sz="1600" b="0" i="1" dirty="0">
                <a:solidFill>
                  <a:srgbClr val="000000"/>
                </a:solidFill>
                <a:effectLst/>
                <a:latin typeface="Times New Roman" panose="02020603050405020304" pitchFamily="18" charset="0"/>
              </a:rPr>
              <a:t>T</a:t>
            </a:r>
            <a:r>
              <a:rPr lang="en-IN" sz="1600" b="0" i="0" dirty="0">
                <a:solidFill>
                  <a:srgbClr val="000000"/>
                </a:solidFill>
                <a:effectLst/>
                <a:latin typeface="Times New Roman" panose="02020603050405020304" pitchFamily="18" charset="0"/>
              </a:rPr>
              <a:t>. Also notice that there is no case for </a:t>
            </a:r>
            <a:r>
              <a:rPr lang="en-IN" sz="1600" b="0" i="1" dirty="0">
                <a:solidFill>
                  <a:srgbClr val="000000"/>
                </a:solidFill>
                <a:effectLst/>
                <a:latin typeface="Times New Roman" panose="02020603050405020304" pitchFamily="18" charset="0"/>
              </a:rPr>
              <a:t>x</a:t>
            </a:r>
            <a:r>
              <a:rPr lang="en-IN" sz="1600" b="0" i="0" dirty="0">
                <a:solidFill>
                  <a:srgbClr val="000000"/>
                </a:solidFill>
                <a:effectLst/>
                <a:latin typeface="Times New Roman" panose="02020603050405020304" pitchFamily="18" charset="0"/>
              </a:rPr>
              <a:t> = </a:t>
            </a:r>
            <a:r>
              <a:rPr lang="en-IN" sz="1600" b="0" i="1" dirty="0">
                <a:solidFill>
                  <a:srgbClr val="000000"/>
                </a:solidFill>
                <a:effectLst/>
                <a:latin typeface="Times New Roman" panose="02020603050405020304" pitchFamily="18" charset="0"/>
              </a:rPr>
              <a:t>T</a:t>
            </a:r>
            <a:r>
              <a:rPr lang="en-IN" sz="1600" b="1" i="0" dirty="0">
                <a:solidFill>
                  <a:srgbClr val="000000"/>
                </a:solidFill>
                <a:effectLst/>
                <a:latin typeface="Courier new" panose="02070309020205020404" pitchFamily="49" charset="0"/>
              </a:rPr>
              <a:t>-&gt;</a:t>
            </a:r>
            <a:r>
              <a:rPr lang="en-IN" sz="1600" b="0" i="0" dirty="0">
                <a:solidFill>
                  <a:srgbClr val="000000"/>
                </a:solidFill>
                <a:effectLst/>
                <a:latin typeface="Times New Roman" panose="02020603050405020304" pitchFamily="18" charset="0"/>
              </a:rPr>
              <a:t>item since insert is supposed to do nothing when </a:t>
            </a:r>
            <a:r>
              <a:rPr lang="en-IN" sz="1600" b="0" i="1" dirty="0">
                <a:solidFill>
                  <a:srgbClr val="000000"/>
                </a:solidFill>
                <a:effectLst/>
                <a:latin typeface="Times New Roman" panose="02020603050405020304" pitchFamily="18" charset="0"/>
              </a:rPr>
              <a:t>x</a:t>
            </a:r>
            <a:r>
              <a:rPr lang="en-IN" sz="1600" b="0" i="0" dirty="0">
                <a:solidFill>
                  <a:srgbClr val="000000"/>
                </a:solidFill>
                <a:effectLst/>
                <a:latin typeface="Times New Roman" panose="02020603050405020304" pitchFamily="18" charset="0"/>
              </a:rPr>
              <a:t> already occurs in the tree.</a:t>
            </a:r>
          </a:p>
        </p:txBody>
      </p:sp>
    </p:spTree>
    <p:extLst>
      <p:ext uri="{BB962C8B-B14F-4D97-AF65-F5344CB8AC3E}">
        <p14:creationId xmlns:p14="http://schemas.microsoft.com/office/powerpoint/2010/main" val="935725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6A18E-93C1-2286-1FD2-29AA0B8C28BE}"/>
              </a:ext>
            </a:extLst>
          </p:cNvPr>
          <p:cNvSpPr>
            <a:spLocks noGrp="1"/>
          </p:cNvSpPr>
          <p:nvPr>
            <p:ph type="title"/>
          </p:nvPr>
        </p:nvSpPr>
        <p:spPr>
          <a:xfrm>
            <a:off x="665480" y="136088"/>
            <a:ext cx="10515600" cy="772795"/>
          </a:xfrm>
        </p:spPr>
        <p:txBody>
          <a:bodyPr>
            <a:normAutofit/>
          </a:bodyPr>
          <a:lstStyle/>
          <a:p>
            <a:r>
              <a:rPr lang="en-IN" sz="3600" b="1" dirty="0">
                <a:latin typeface="Times New Roman" panose="02020603050405020304" pitchFamily="18" charset="0"/>
                <a:cs typeface="Times New Roman" panose="02020603050405020304" pitchFamily="18" charset="0"/>
              </a:rPr>
              <a:t>Removing the smallest value from binary search tree</a:t>
            </a:r>
            <a:endParaRPr lang="en-IN" sz="3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F9540F9-9238-1961-F3A4-A64D65899FFE}"/>
              </a:ext>
            </a:extLst>
          </p:cNvPr>
          <p:cNvSpPr txBox="1"/>
          <p:nvPr/>
        </p:nvSpPr>
        <p:spPr>
          <a:xfrm>
            <a:off x="628650" y="1320363"/>
            <a:ext cx="4451350" cy="2951064"/>
          </a:xfrm>
          <a:prstGeom prst="rect">
            <a:avLst/>
          </a:prstGeom>
          <a:noFill/>
        </p:spPr>
        <p:txBody>
          <a:bodyPr wrap="square">
            <a:spAutoFit/>
          </a:bodyPr>
          <a:lstStyle/>
          <a:p>
            <a:pPr indent="0" algn="just">
              <a:lnSpc>
                <a:spcPct val="150000"/>
              </a:lnSpc>
              <a:buNone/>
            </a:pPr>
            <a:r>
              <a:rPr lang="en-IN" sz="1800" b="0" i="0" dirty="0">
                <a:solidFill>
                  <a:srgbClr val="000000"/>
                </a:solidFill>
                <a:effectLst/>
                <a:latin typeface="Times New Roman" panose="02020603050405020304" pitchFamily="18" charset="0"/>
              </a:rPr>
              <a:t>Suppose that we want to remove the smallest value from a nonempty binary search tree. Finding the smallest value is easy. It is a matter of going to the left as far as possible. Then we remove the node that is found there, replacing it by its right subtree. Here is an example.</a:t>
            </a:r>
          </a:p>
        </p:txBody>
      </p:sp>
      <p:pic>
        <p:nvPicPr>
          <p:cNvPr id="6" name="Picture 5">
            <a:extLst>
              <a:ext uri="{FF2B5EF4-FFF2-40B4-BE49-F238E27FC236}">
                <a16:creationId xmlns:a16="http://schemas.microsoft.com/office/drawing/2014/main" id="{D6600653-E287-F918-A759-290CF81B9567}"/>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8650" y="4555471"/>
            <a:ext cx="4446758" cy="1225570"/>
          </a:xfrm>
          <a:prstGeom prst="rect">
            <a:avLst/>
          </a:prstGeom>
        </p:spPr>
      </p:pic>
      <p:sp>
        <p:nvSpPr>
          <p:cNvPr id="8" name="TextBox 7">
            <a:extLst>
              <a:ext uri="{FF2B5EF4-FFF2-40B4-BE49-F238E27FC236}">
                <a16:creationId xmlns:a16="http://schemas.microsoft.com/office/drawing/2014/main" id="{8B35E7A6-B031-E9B5-B835-274D55908804}"/>
              </a:ext>
            </a:extLst>
          </p:cNvPr>
          <p:cNvSpPr txBox="1"/>
          <p:nvPr/>
        </p:nvSpPr>
        <p:spPr>
          <a:xfrm>
            <a:off x="5821680" y="656549"/>
            <a:ext cx="6096000" cy="458074"/>
          </a:xfrm>
          <a:prstGeom prst="rect">
            <a:avLst/>
          </a:prstGeom>
          <a:noFill/>
        </p:spPr>
        <p:txBody>
          <a:bodyPr wrap="square">
            <a:spAutoFit/>
          </a:bodyPr>
          <a:lstStyle/>
          <a:p>
            <a:pPr indent="0" algn="just">
              <a:lnSpc>
                <a:spcPct val="150000"/>
              </a:lnSpc>
              <a:buNone/>
            </a:pPr>
            <a:r>
              <a:rPr lang="en-IN" sz="1800" b="0" i="0" dirty="0">
                <a:solidFill>
                  <a:srgbClr val="000000"/>
                </a:solidFill>
                <a:effectLst/>
                <a:latin typeface="Times New Roman" panose="02020603050405020304" pitchFamily="18" charset="0"/>
              </a:rPr>
              <a:t>Here is an implementation of that idea.</a:t>
            </a:r>
          </a:p>
        </p:txBody>
      </p:sp>
      <p:sp>
        <p:nvSpPr>
          <p:cNvPr id="10" name="TextBox 9">
            <a:extLst>
              <a:ext uri="{FF2B5EF4-FFF2-40B4-BE49-F238E27FC236}">
                <a16:creationId xmlns:a16="http://schemas.microsoft.com/office/drawing/2014/main" id="{38E77D1E-9A70-91F4-92D0-D13E9FC1B037}"/>
              </a:ext>
            </a:extLst>
          </p:cNvPr>
          <p:cNvSpPr txBox="1"/>
          <p:nvPr/>
        </p:nvSpPr>
        <p:spPr>
          <a:xfrm>
            <a:off x="5325110" y="1028046"/>
            <a:ext cx="6299200" cy="5693866"/>
          </a:xfrm>
          <a:prstGeom prst="rect">
            <a:avLst/>
          </a:prstGeom>
          <a:noFill/>
          <a:ln>
            <a:solidFill>
              <a:schemeClr val="accent1"/>
            </a:solidFill>
          </a:ln>
        </p:spPr>
        <p:txBody>
          <a:bodyPr wrap="square">
            <a:spAutoFit/>
          </a:bodyPr>
          <a:lstStyle/>
          <a:p>
            <a:pPr indent="0" algn="l">
              <a:buNone/>
            </a:pPr>
            <a:r>
              <a:rPr lang="en-IN" sz="1400" b="1" i="0" dirty="0">
                <a:solidFill>
                  <a:srgbClr val="702400"/>
                </a:solidFill>
                <a:effectLst/>
                <a:latin typeface="Courier new" panose="02070309020205020404" pitchFamily="49" charset="0"/>
              </a:rPr>
              <a:t> //====================================================</a:t>
            </a:r>
          </a:p>
          <a:p>
            <a:pPr indent="0" algn="l">
              <a:buNone/>
            </a:pPr>
            <a:r>
              <a:rPr lang="en-IN" sz="1400" b="1" i="0" dirty="0">
                <a:solidFill>
                  <a:srgbClr val="702400"/>
                </a:solidFill>
                <a:effectLst/>
                <a:latin typeface="Courier new" panose="02070309020205020404" pitchFamily="49" charset="0"/>
              </a:rPr>
              <a:t>  //               </a:t>
            </a:r>
            <a:r>
              <a:rPr lang="en-IN" sz="1400" b="1" i="0" dirty="0" err="1">
                <a:solidFill>
                  <a:srgbClr val="702400"/>
                </a:solidFill>
                <a:effectLst/>
                <a:latin typeface="Courier new" panose="02070309020205020404" pitchFamily="49" charset="0"/>
              </a:rPr>
              <a:t>removeSmallest</a:t>
            </a:r>
            <a:endParaRPr lang="en-IN" sz="1400" b="1" i="0" dirty="0">
              <a:solidFill>
                <a:srgbClr val="702400"/>
              </a:solidFill>
              <a:effectLst/>
              <a:latin typeface="Courier new" panose="02070309020205020404" pitchFamily="49" charset="0"/>
            </a:endParaRPr>
          </a:p>
          <a:p>
            <a:pPr indent="0" algn="l">
              <a:buNone/>
            </a:pPr>
            <a:r>
              <a:rPr lang="en-IN" sz="1400" b="1" i="0" dirty="0">
                <a:solidFill>
                  <a:srgbClr val="702400"/>
                </a:solidFill>
                <a:effectLst/>
                <a:latin typeface="Courier new" panose="02070309020205020404" pitchFamily="49" charset="0"/>
              </a:rPr>
              <a:t>  //====================================================</a:t>
            </a:r>
          </a:p>
          <a:p>
            <a:pPr indent="0" algn="l">
              <a:buNone/>
            </a:pPr>
            <a:r>
              <a:rPr lang="en-IN" sz="1400" b="1" i="0" dirty="0">
                <a:solidFill>
                  <a:srgbClr val="702400"/>
                </a:solidFill>
                <a:effectLst/>
                <a:latin typeface="Courier new" panose="02070309020205020404" pitchFamily="49" charset="0"/>
              </a:rPr>
              <a:t>  // </a:t>
            </a:r>
            <a:r>
              <a:rPr lang="en-IN" sz="1400" b="1" i="0" dirty="0" err="1">
                <a:solidFill>
                  <a:srgbClr val="702400"/>
                </a:solidFill>
                <a:effectLst/>
                <a:latin typeface="Courier new" panose="02070309020205020404" pitchFamily="49" charset="0"/>
              </a:rPr>
              <a:t>removeSmallest</a:t>
            </a:r>
            <a:r>
              <a:rPr lang="en-IN" sz="1400" b="1" i="0" dirty="0">
                <a:solidFill>
                  <a:srgbClr val="702400"/>
                </a:solidFill>
                <a:effectLst/>
                <a:latin typeface="Courier new" panose="02070309020205020404" pitchFamily="49" charset="0"/>
              </a:rPr>
              <a:t>(T) removes the smallest value from</a:t>
            </a:r>
          </a:p>
          <a:p>
            <a:pPr indent="0" algn="l">
              <a:buNone/>
            </a:pPr>
            <a:r>
              <a:rPr lang="en-IN" sz="1400" b="1" i="0" dirty="0">
                <a:solidFill>
                  <a:srgbClr val="702400"/>
                </a:solidFill>
                <a:effectLst/>
                <a:latin typeface="Courier new" panose="02070309020205020404" pitchFamily="49" charset="0"/>
              </a:rPr>
              <a:t>  // binary search tree T and returns the value that</a:t>
            </a:r>
          </a:p>
          <a:p>
            <a:pPr indent="0" algn="l">
              <a:buNone/>
            </a:pPr>
            <a:r>
              <a:rPr lang="en-IN" sz="1400" b="1" i="0" dirty="0">
                <a:solidFill>
                  <a:srgbClr val="702400"/>
                </a:solidFill>
                <a:effectLst/>
                <a:latin typeface="Courier new" panose="02070309020205020404" pitchFamily="49" charset="0"/>
              </a:rPr>
              <a:t>  // was removed.</a:t>
            </a:r>
          </a:p>
          <a:p>
            <a:pPr indent="0" algn="l">
              <a:buNone/>
            </a:pPr>
            <a:r>
              <a:rPr lang="en-IN" sz="1400" b="1" i="0" dirty="0">
                <a:solidFill>
                  <a:srgbClr val="702400"/>
                </a:solidFill>
                <a:effectLst/>
                <a:latin typeface="Courier new" panose="02070309020205020404" pitchFamily="49" charset="0"/>
              </a:rPr>
              <a:t>  //</a:t>
            </a:r>
          </a:p>
          <a:p>
            <a:pPr indent="0" algn="l">
              <a:buNone/>
            </a:pPr>
            <a:r>
              <a:rPr lang="en-IN" sz="1400" b="1" i="0" dirty="0">
                <a:solidFill>
                  <a:srgbClr val="702400"/>
                </a:solidFill>
                <a:effectLst/>
                <a:latin typeface="Courier new" panose="02070309020205020404" pitchFamily="49" charset="0"/>
              </a:rPr>
              <a:t>  // Requirement: T must not be an empty tree.</a:t>
            </a:r>
          </a:p>
          <a:p>
            <a:pPr indent="0" algn="l">
              <a:buNone/>
            </a:pPr>
            <a:r>
              <a:rPr lang="en-IN" sz="1400" b="1" i="0" dirty="0">
                <a:solidFill>
                  <a:srgbClr val="702400"/>
                </a:solidFill>
                <a:effectLst/>
                <a:latin typeface="Courier new" panose="02070309020205020404" pitchFamily="49" charset="0"/>
              </a:rPr>
              <a:t>  //====================================================</a:t>
            </a:r>
          </a:p>
          <a:p>
            <a:pPr indent="0" algn="l">
              <a:buNone/>
            </a:pPr>
            <a:endParaRPr lang="en-IN" sz="1400" b="1" i="0" dirty="0">
              <a:solidFill>
                <a:srgbClr val="702400"/>
              </a:solidFill>
              <a:effectLst/>
              <a:latin typeface="Courier new" panose="02070309020205020404" pitchFamily="49" charset="0"/>
            </a:endParaRPr>
          </a:p>
          <a:p>
            <a:pPr indent="0" algn="l">
              <a:buNone/>
            </a:pPr>
            <a:r>
              <a:rPr lang="en-IN" sz="1400" b="1" i="0" dirty="0">
                <a:solidFill>
                  <a:srgbClr val="702400"/>
                </a:solidFill>
                <a:effectLst/>
                <a:latin typeface="Courier new" panose="02070309020205020404" pitchFamily="49" charset="0"/>
              </a:rPr>
              <a:t>  int </a:t>
            </a:r>
            <a:r>
              <a:rPr lang="en-IN" sz="1400" b="1" i="0" dirty="0" err="1">
                <a:solidFill>
                  <a:srgbClr val="702400"/>
                </a:solidFill>
                <a:effectLst/>
                <a:latin typeface="Courier new" panose="02070309020205020404" pitchFamily="49" charset="0"/>
              </a:rPr>
              <a:t>removeSmallest</a:t>
            </a:r>
            <a:r>
              <a:rPr lang="en-IN" sz="1400" b="1" i="0" dirty="0">
                <a:solidFill>
                  <a:srgbClr val="702400"/>
                </a:solidFill>
                <a:effectLst/>
                <a:latin typeface="Courier new" panose="02070309020205020404" pitchFamily="49" charset="0"/>
              </a:rPr>
              <a:t>(Tree&amp; T)</a:t>
            </a:r>
          </a:p>
          <a:p>
            <a:pPr indent="0" algn="l">
              <a:buNone/>
            </a:pPr>
            <a:r>
              <a:rPr lang="en-IN" sz="1400" b="1" i="0" dirty="0">
                <a:solidFill>
                  <a:srgbClr val="702400"/>
                </a:solidFill>
                <a:effectLst/>
                <a:latin typeface="Courier new" panose="02070309020205020404" pitchFamily="49" charset="0"/>
              </a:rPr>
              <a:t>  {</a:t>
            </a:r>
          </a:p>
          <a:p>
            <a:pPr indent="0" algn="l">
              <a:buNone/>
            </a:pPr>
            <a:r>
              <a:rPr lang="en-IN" sz="1400" b="1" i="0" dirty="0">
                <a:solidFill>
                  <a:srgbClr val="702400"/>
                </a:solidFill>
                <a:effectLst/>
                <a:latin typeface="Courier new" panose="02070309020205020404" pitchFamily="49" charset="0"/>
              </a:rPr>
              <a:t>    if(T-&gt;left == NULL)</a:t>
            </a:r>
          </a:p>
          <a:p>
            <a:pPr indent="0" algn="l">
              <a:buNone/>
            </a:pPr>
            <a:r>
              <a:rPr lang="en-IN" sz="1400" b="1" i="0" dirty="0">
                <a:solidFill>
                  <a:srgbClr val="702400"/>
                </a:solidFill>
                <a:effectLst/>
                <a:latin typeface="Courier new" panose="02070309020205020404" pitchFamily="49" charset="0"/>
              </a:rPr>
              <a:t>    {</a:t>
            </a:r>
          </a:p>
          <a:p>
            <a:pPr indent="0" algn="l">
              <a:buNone/>
            </a:pPr>
            <a:r>
              <a:rPr lang="en-IN" sz="1400" b="1" i="0" dirty="0">
                <a:solidFill>
                  <a:srgbClr val="702400"/>
                </a:solidFill>
                <a:effectLst/>
                <a:latin typeface="Courier new" panose="02070309020205020404" pitchFamily="49" charset="0"/>
              </a:rPr>
              <a:t>      int  result = T-&gt;item;</a:t>
            </a:r>
          </a:p>
          <a:p>
            <a:pPr indent="0" algn="l">
              <a:buNone/>
            </a:pPr>
            <a:r>
              <a:rPr lang="en-IN" sz="1400" b="1" i="0" dirty="0">
                <a:solidFill>
                  <a:srgbClr val="702400"/>
                </a:solidFill>
                <a:effectLst/>
                <a:latin typeface="Courier new" panose="02070309020205020404" pitchFamily="49" charset="0"/>
              </a:rPr>
              <a:t>      Tree p      = T;</a:t>
            </a:r>
          </a:p>
          <a:p>
            <a:pPr indent="0" algn="l">
              <a:buNone/>
            </a:pPr>
            <a:endParaRPr lang="en-IN" sz="1400" b="1" i="0" dirty="0">
              <a:solidFill>
                <a:srgbClr val="702400"/>
              </a:solidFill>
              <a:effectLst/>
              <a:latin typeface="Courier new" panose="02070309020205020404" pitchFamily="49" charset="0"/>
            </a:endParaRPr>
          </a:p>
          <a:p>
            <a:pPr indent="0" algn="l">
              <a:buNone/>
            </a:pPr>
            <a:r>
              <a:rPr lang="en-IN" sz="1400" b="1" i="0" dirty="0">
                <a:solidFill>
                  <a:srgbClr val="702400"/>
                </a:solidFill>
                <a:effectLst/>
                <a:latin typeface="Courier new" panose="02070309020205020404" pitchFamily="49" charset="0"/>
              </a:rPr>
              <a:t>      T = T-&gt;right;</a:t>
            </a:r>
          </a:p>
          <a:p>
            <a:pPr indent="0" algn="l">
              <a:buNone/>
            </a:pPr>
            <a:r>
              <a:rPr lang="en-IN" sz="1400" b="1" i="0" dirty="0">
                <a:solidFill>
                  <a:srgbClr val="702400"/>
                </a:solidFill>
                <a:effectLst/>
                <a:latin typeface="Courier new" panose="02070309020205020404" pitchFamily="49" charset="0"/>
              </a:rPr>
              <a:t>      delete p;</a:t>
            </a:r>
          </a:p>
          <a:p>
            <a:pPr indent="0" algn="l">
              <a:buNone/>
            </a:pPr>
            <a:r>
              <a:rPr lang="en-IN" sz="1400" b="1" i="0" dirty="0">
                <a:solidFill>
                  <a:srgbClr val="702400"/>
                </a:solidFill>
                <a:effectLst/>
                <a:latin typeface="Courier new" panose="02070309020205020404" pitchFamily="49" charset="0"/>
              </a:rPr>
              <a:t>      return result;</a:t>
            </a:r>
          </a:p>
          <a:p>
            <a:pPr indent="0" algn="l">
              <a:buNone/>
            </a:pPr>
            <a:r>
              <a:rPr lang="en-IN" sz="1400" b="1" i="0" dirty="0">
                <a:solidFill>
                  <a:srgbClr val="702400"/>
                </a:solidFill>
                <a:effectLst/>
                <a:latin typeface="Courier new" panose="02070309020205020404" pitchFamily="49" charset="0"/>
              </a:rPr>
              <a:t>    }</a:t>
            </a:r>
          </a:p>
          <a:p>
            <a:pPr indent="0" algn="l">
              <a:buNone/>
            </a:pPr>
            <a:r>
              <a:rPr lang="en-IN" sz="1400" b="1" i="0" dirty="0">
                <a:solidFill>
                  <a:srgbClr val="702400"/>
                </a:solidFill>
                <a:effectLst/>
                <a:latin typeface="Courier new" panose="02070309020205020404" pitchFamily="49" charset="0"/>
              </a:rPr>
              <a:t>    else </a:t>
            </a:r>
          </a:p>
          <a:p>
            <a:pPr indent="0" algn="l">
              <a:buNone/>
            </a:pPr>
            <a:r>
              <a:rPr lang="en-IN" sz="1400" b="1" i="0" dirty="0">
                <a:solidFill>
                  <a:srgbClr val="702400"/>
                </a:solidFill>
                <a:effectLst/>
                <a:latin typeface="Courier new" panose="02070309020205020404" pitchFamily="49" charset="0"/>
              </a:rPr>
              <a:t>    {</a:t>
            </a:r>
          </a:p>
          <a:p>
            <a:pPr indent="0" algn="l">
              <a:buNone/>
            </a:pPr>
            <a:r>
              <a:rPr lang="en-IN" sz="1400" b="1" i="0" dirty="0">
                <a:solidFill>
                  <a:srgbClr val="702400"/>
                </a:solidFill>
                <a:effectLst/>
                <a:latin typeface="Courier new" panose="02070309020205020404" pitchFamily="49" charset="0"/>
              </a:rPr>
              <a:t>      return </a:t>
            </a:r>
            <a:r>
              <a:rPr lang="en-IN" sz="1400" b="1" i="0" dirty="0" err="1">
                <a:solidFill>
                  <a:srgbClr val="702400"/>
                </a:solidFill>
                <a:effectLst/>
                <a:latin typeface="Courier new" panose="02070309020205020404" pitchFamily="49" charset="0"/>
              </a:rPr>
              <a:t>removeSmallest</a:t>
            </a:r>
            <a:r>
              <a:rPr lang="en-IN" sz="1400" b="1" i="0" dirty="0">
                <a:solidFill>
                  <a:srgbClr val="702400"/>
                </a:solidFill>
                <a:effectLst/>
                <a:latin typeface="Courier new" panose="02070309020205020404" pitchFamily="49" charset="0"/>
              </a:rPr>
              <a:t>(T-&gt;left);</a:t>
            </a:r>
          </a:p>
          <a:p>
            <a:pPr indent="0" algn="l">
              <a:buNone/>
            </a:pPr>
            <a:r>
              <a:rPr lang="en-IN" sz="1400" b="1" i="0" dirty="0">
                <a:solidFill>
                  <a:srgbClr val="702400"/>
                </a:solidFill>
                <a:effectLst/>
                <a:latin typeface="Courier new" panose="02070309020205020404" pitchFamily="49" charset="0"/>
              </a:rPr>
              <a:t>    }</a:t>
            </a:r>
          </a:p>
          <a:p>
            <a:pPr indent="0" algn="l">
              <a:buNone/>
            </a:pPr>
            <a:r>
              <a:rPr lang="en-IN" sz="1400" b="1" i="0" dirty="0">
                <a:solidFill>
                  <a:srgbClr val="702400"/>
                </a:solidFill>
                <a:effectLst/>
                <a:latin typeface="Courier new" panose="02070309020205020404" pitchFamily="49" charset="0"/>
              </a:rPr>
              <a:t>  }</a:t>
            </a:r>
            <a:endParaRPr lang="en-IN" sz="1400" dirty="0"/>
          </a:p>
        </p:txBody>
      </p:sp>
    </p:spTree>
    <p:extLst>
      <p:ext uri="{BB962C8B-B14F-4D97-AF65-F5344CB8AC3E}">
        <p14:creationId xmlns:p14="http://schemas.microsoft.com/office/powerpoint/2010/main" val="1480550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F8A3CE4-3DCC-0AFF-0140-E1AA2D554426}"/>
              </a:ext>
            </a:extLst>
          </p:cNvPr>
          <p:cNvSpPr txBox="1"/>
          <p:nvPr/>
        </p:nvSpPr>
        <p:spPr>
          <a:xfrm>
            <a:off x="662940" y="816746"/>
            <a:ext cx="10866120" cy="646331"/>
          </a:xfrm>
          <a:prstGeom prst="rect">
            <a:avLst/>
          </a:prstGeom>
          <a:noFill/>
        </p:spPr>
        <p:txBody>
          <a:bodyPr wrap="square">
            <a:spAutoFit/>
          </a:bodyPr>
          <a:lstStyle/>
          <a:p>
            <a:pPr indent="0" algn="l">
              <a:buNone/>
            </a:pPr>
            <a:r>
              <a:rPr lang="en-IN" sz="1800" b="0" i="0" dirty="0">
                <a:solidFill>
                  <a:srgbClr val="000000"/>
                </a:solidFill>
                <a:effectLst/>
                <a:latin typeface="Times New Roman" panose="02020603050405020304" pitchFamily="18" charset="0"/>
              </a:rPr>
              <a:t>If </a:t>
            </a:r>
            <a:r>
              <a:rPr lang="en-IN" sz="1800" b="0" i="1" dirty="0">
                <a:solidFill>
                  <a:srgbClr val="000000"/>
                </a:solidFill>
                <a:effectLst/>
                <a:latin typeface="Times New Roman" panose="02020603050405020304" pitchFamily="18" charset="0"/>
              </a:rPr>
              <a:t>x</a:t>
            </a:r>
            <a:r>
              <a:rPr lang="en-IN" sz="1800" b="0" i="0" dirty="0">
                <a:solidFill>
                  <a:srgbClr val="000000"/>
                </a:solidFill>
                <a:effectLst/>
                <a:latin typeface="Times New Roman" panose="02020603050405020304" pitchFamily="18" charset="0"/>
              </a:rPr>
              <a:t> occurs at the root of </a:t>
            </a:r>
            <a:r>
              <a:rPr lang="en-IN" sz="1800" b="0" i="1" dirty="0">
                <a:solidFill>
                  <a:srgbClr val="000000"/>
                </a:solidFill>
                <a:effectLst/>
                <a:latin typeface="Times New Roman" panose="02020603050405020304" pitchFamily="18" charset="0"/>
              </a:rPr>
              <a:t>T</a:t>
            </a:r>
            <a:r>
              <a:rPr lang="en-IN" sz="1800" b="0" i="0" dirty="0">
                <a:solidFill>
                  <a:srgbClr val="000000"/>
                </a:solidFill>
                <a:effectLst/>
                <a:latin typeface="Times New Roman" panose="02020603050405020304" pitchFamily="18" charset="0"/>
              </a:rPr>
              <a:t> and one of the subtrees of the root is empty, then removing </a:t>
            </a:r>
            <a:r>
              <a:rPr lang="en-IN" sz="1800" b="0" i="1" dirty="0">
                <a:solidFill>
                  <a:srgbClr val="000000"/>
                </a:solidFill>
                <a:effectLst/>
                <a:latin typeface="Times New Roman" panose="02020603050405020304" pitchFamily="18" charset="0"/>
              </a:rPr>
              <a:t>x</a:t>
            </a:r>
            <a:r>
              <a:rPr lang="en-IN" sz="1800" b="0" i="0" dirty="0">
                <a:solidFill>
                  <a:srgbClr val="000000"/>
                </a:solidFill>
                <a:effectLst/>
                <a:latin typeface="Times New Roman" panose="02020603050405020304" pitchFamily="18" charset="0"/>
              </a:rPr>
              <a:t> is easy. Just replace the tree by the one that is not empty.</a:t>
            </a:r>
          </a:p>
        </p:txBody>
      </p:sp>
      <p:pic>
        <p:nvPicPr>
          <p:cNvPr id="6" name="Picture 5">
            <a:extLst>
              <a:ext uri="{FF2B5EF4-FFF2-40B4-BE49-F238E27FC236}">
                <a16:creationId xmlns:a16="http://schemas.microsoft.com/office/drawing/2014/main" id="{B84D00A3-6DDB-BE0D-2803-6198E81F6487}"/>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011930" y="1351164"/>
            <a:ext cx="3160078" cy="1202443"/>
          </a:xfrm>
          <a:prstGeom prst="rect">
            <a:avLst/>
          </a:prstGeom>
        </p:spPr>
      </p:pic>
      <p:sp>
        <p:nvSpPr>
          <p:cNvPr id="8" name="TextBox 7">
            <a:extLst>
              <a:ext uri="{FF2B5EF4-FFF2-40B4-BE49-F238E27FC236}">
                <a16:creationId xmlns:a16="http://schemas.microsoft.com/office/drawing/2014/main" id="{BA5D9A44-582D-FB23-41CE-A7DD97939B64}"/>
              </a:ext>
            </a:extLst>
          </p:cNvPr>
          <p:cNvSpPr txBox="1"/>
          <p:nvPr/>
        </p:nvSpPr>
        <p:spPr>
          <a:xfrm>
            <a:off x="662940" y="2598717"/>
            <a:ext cx="10515600" cy="1200329"/>
          </a:xfrm>
          <a:prstGeom prst="rect">
            <a:avLst/>
          </a:prstGeom>
          <a:noFill/>
        </p:spPr>
        <p:txBody>
          <a:bodyPr wrap="square">
            <a:spAutoFit/>
          </a:bodyPr>
          <a:lstStyle/>
          <a:p>
            <a:pPr indent="0" algn="just">
              <a:buNone/>
            </a:pPr>
            <a:r>
              <a:rPr lang="en-IN" sz="1800" b="0" i="0" dirty="0">
                <a:solidFill>
                  <a:srgbClr val="000000"/>
                </a:solidFill>
                <a:effectLst/>
                <a:latin typeface="Times New Roman" panose="02020603050405020304" pitchFamily="18" charset="0"/>
              </a:rPr>
              <a:t>The same idea works even if both subtrees are empty. After finding that the left subtree is empty, replace </a:t>
            </a:r>
            <a:r>
              <a:rPr lang="en-IN" sz="1800" b="0" i="1" dirty="0">
                <a:solidFill>
                  <a:srgbClr val="000000"/>
                </a:solidFill>
                <a:effectLst/>
                <a:latin typeface="Times New Roman" panose="02020603050405020304" pitchFamily="18" charset="0"/>
              </a:rPr>
              <a:t>T</a:t>
            </a:r>
            <a:r>
              <a:rPr lang="en-IN" sz="1800" b="0" i="0" dirty="0">
                <a:solidFill>
                  <a:srgbClr val="000000"/>
                </a:solidFill>
                <a:effectLst/>
                <a:latin typeface="Times New Roman" panose="02020603050405020304" pitchFamily="18" charset="0"/>
              </a:rPr>
              <a:t> by its right subtree, whether that is empty or not. Also, a similar idea works even when the value to be removed is not at the root, as long as at least one of its subtrees is empty. For example, here is how to remove a value from a subtree, where the left subtree of that subtree is empty.</a:t>
            </a:r>
          </a:p>
        </p:txBody>
      </p:sp>
      <p:pic>
        <p:nvPicPr>
          <p:cNvPr id="9" name="Picture 8">
            <a:extLst>
              <a:ext uri="{FF2B5EF4-FFF2-40B4-BE49-F238E27FC236}">
                <a16:creationId xmlns:a16="http://schemas.microsoft.com/office/drawing/2014/main" id="{627B74FE-EB02-B1ED-DB63-D21A9DB59C9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011930" y="3879543"/>
            <a:ext cx="3529965" cy="1295509"/>
          </a:xfrm>
          <a:prstGeom prst="rect">
            <a:avLst/>
          </a:prstGeom>
        </p:spPr>
      </p:pic>
      <p:sp>
        <p:nvSpPr>
          <p:cNvPr id="11" name="TextBox 10">
            <a:extLst>
              <a:ext uri="{FF2B5EF4-FFF2-40B4-BE49-F238E27FC236}">
                <a16:creationId xmlns:a16="http://schemas.microsoft.com/office/drawing/2014/main" id="{D7AA4A12-0A51-8BA8-5675-56B523ABA487}"/>
              </a:ext>
            </a:extLst>
          </p:cNvPr>
          <p:cNvSpPr txBox="1"/>
          <p:nvPr/>
        </p:nvSpPr>
        <p:spPr>
          <a:xfrm>
            <a:off x="662940" y="5183670"/>
            <a:ext cx="10722610" cy="646331"/>
          </a:xfrm>
          <a:prstGeom prst="rect">
            <a:avLst/>
          </a:prstGeom>
          <a:noFill/>
        </p:spPr>
        <p:txBody>
          <a:bodyPr wrap="square">
            <a:spAutoFit/>
          </a:bodyPr>
          <a:lstStyle/>
          <a:p>
            <a:pPr indent="0" algn="l">
              <a:buNone/>
            </a:pPr>
            <a:r>
              <a:rPr lang="en-IN" sz="1800" b="0" i="0" dirty="0">
                <a:solidFill>
                  <a:srgbClr val="000000"/>
                </a:solidFill>
                <a:effectLst/>
                <a:latin typeface="Times New Roman" panose="02020603050405020304" pitchFamily="18" charset="0"/>
              </a:rPr>
              <a:t>Removing a value where both subtrees are nonempty is more involved. First, we remove the smallest value </a:t>
            </a:r>
            <a:r>
              <a:rPr lang="en-IN" sz="1800" b="0" i="1" dirty="0">
                <a:solidFill>
                  <a:srgbClr val="000000"/>
                </a:solidFill>
                <a:effectLst/>
                <a:latin typeface="Times New Roman" panose="02020603050405020304" pitchFamily="18" charset="0"/>
              </a:rPr>
              <a:t>s</a:t>
            </a:r>
            <a:r>
              <a:rPr lang="en-IN" sz="1800" b="0" i="0" dirty="0">
                <a:solidFill>
                  <a:srgbClr val="000000"/>
                </a:solidFill>
                <a:effectLst/>
                <a:latin typeface="Times New Roman" panose="02020603050405020304" pitchFamily="18" charset="0"/>
              </a:rPr>
              <a:t> from the right subtree, then replace the value that is supposed to removed by </a:t>
            </a:r>
            <a:r>
              <a:rPr lang="en-IN" sz="1800" b="0" i="1" dirty="0">
                <a:solidFill>
                  <a:srgbClr val="000000"/>
                </a:solidFill>
                <a:effectLst/>
                <a:latin typeface="Times New Roman" panose="02020603050405020304" pitchFamily="18" charset="0"/>
              </a:rPr>
              <a:t>s</a:t>
            </a:r>
            <a:r>
              <a:rPr lang="en-IN" sz="1800" b="0" i="0" dirty="0">
                <a:solidFill>
                  <a:srgbClr val="000000"/>
                </a:solidFill>
                <a:effectLst/>
                <a:latin typeface="Times New Roman" panose="02020603050405020304" pitchFamily="18" charset="0"/>
              </a:rPr>
              <a:t>.</a:t>
            </a:r>
          </a:p>
        </p:txBody>
      </p:sp>
      <p:pic>
        <p:nvPicPr>
          <p:cNvPr id="12" name="Picture 11">
            <a:extLst>
              <a:ext uri="{FF2B5EF4-FFF2-40B4-BE49-F238E27FC236}">
                <a16:creationId xmlns:a16="http://schemas.microsoft.com/office/drawing/2014/main" id="{5C1240CF-BE91-44AA-9DD4-DA6A6954A81A}"/>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579506" y="5858305"/>
            <a:ext cx="3032988" cy="831790"/>
          </a:xfrm>
          <a:prstGeom prst="rect">
            <a:avLst/>
          </a:prstGeom>
        </p:spPr>
      </p:pic>
      <p:sp>
        <p:nvSpPr>
          <p:cNvPr id="16" name="TextBox 15">
            <a:extLst>
              <a:ext uri="{FF2B5EF4-FFF2-40B4-BE49-F238E27FC236}">
                <a16:creationId xmlns:a16="http://schemas.microsoft.com/office/drawing/2014/main" id="{A4E788EB-2FA2-6A8B-D93B-D6722393A700}"/>
              </a:ext>
            </a:extLst>
          </p:cNvPr>
          <p:cNvSpPr txBox="1"/>
          <p:nvPr/>
        </p:nvSpPr>
        <p:spPr>
          <a:xfrm>
            <a:off x="2402205" y="185900"/>
            <a:ext cx="7244080" cy="584775"/>
          </a:xfrm>
          <a:prstGeom prst="rect">
            <a:avLst/>
          </a:prstGeom>
          <a:noFill/>
        </p:spPr>
        <p:txBody>
          <a:bodyPr wrap="square">
            <a:spAutoFit/>
          </a:bodyPr>
          <a:lstStyle/>
          <a:p>
            <a:pPr indent="0" algn="ctr">
              <a:buNone/>
            </a:pPr>
            <a:r>
              <a:rPr lang="en-IN" sz="3200" b="1" i="0" dirty="0">
                <a:solidFill>
                  <a:srgbClr val="000000"/>
                </a:solidFill>
                <a:effectLst/>
                <a:latin typeface="Times New Roman" panose="02020603050405020304" pitchFamily="18" charset="0"/>
              </a:rPr>
              <a:t>Deletion from a Binary Search Tree</a:t>
            </a:r>
          </a:p>
        </p:txBody>
      </p:sp>
    </p:spTree>
    <p:extLst>
      <p:ext uri="{BB962C8B-B14F-4D97-AF65-F5344CB8AC3E}">
        <p14:creationId xmlns:p14="http://schemas.microsoft.com/office/powerpoint/2010/main" val="741111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17A3926-E16B-E095-081C-2236C01E495A}"/>
              </a:ext>
            </a:extLst>
          </p:cNvPr>
          <p:cNvPicPr>
            <a:picLocks noChangeAspect="1"/>
          </p:cNvPicPr>
          <p:nvPr/>
        </p:nvPicPr>
        <p:blipFill>
          <a:blip r:embed="rId2"/>
          <a:stretch>
            <a:fillRect/>
          </a:stretch>
        </p:blipFill>
        <p:spPr>
          <a:xfrm>
            <a:off x="6096000" y="753830"/>
            <a:ext cx="4968696" cy="5887516"/>
          </a:xfrm>
          <a:prstGeom prst="rect">
            <a:avLst/>
          </a:prstGeom>
          <a:ln>
            <a:solidFill>
              <a:schemeClr val="accent1"/>
            </a:solidFill>
          </a:ln>
        </p:spPr>
      </p:pic>
      <p:sp>
        <p:nvSpPr>
          <p:cNvPr id="11" name="TextBox 10">
            <a:extLst>
              <a:ext uri="{FF2B5EF4-FFF2-40B4-BE49-F238E27FC236}">
                <a16:creationId xmlns:a16="http://schemas.microsoft.com/office/drawing/2014/main" id="{46B5F320-EC64-B8B9-41C9-180AB92BFD92}"/>
              </a:ext>
            </a:extLst>
          </p:cNvPr>
          <p:cNvSpPr txBox="1"/>
          <p:nvPr/>
        </p:nvSpPr>
        <p:spPr>
          <a:xfrm>
            <a:off x="833120" y="897374"/>
            <a:ext cx="4968696" cy="369332"/>
          </a:xfrm>
          <a:prstGeom prst="rect">
            <a:avLst/>
          </a:prstGeom>
          <a:noFill/>
        </p:spPr>
        <p:txBody>
          <a:bodyPr wrap="square">
            <a:spAutoFit/>
          </a:bodyPr>
          <a:lstStyle/>
          <a:p>
            <a:pPr indent="0" algn="l">
              <a:buNone/>
            </a:pPr>
            <a:r>
              <a:rPr lang="en-IN" sz="1800" b="0" i="0" dirty="0">
                <a:solidFill>
                  <a:srgbClr val="000000"/>
                </a:solidFill>
                <a:effectLst/>
                <a:latin typeface="Times New Roman" panose="02020603050405020304" pitchFamily="18" charset="0"/>
              </a:rPr>
              <a:t>Here are definitions of remove and </a:t>
            </a:r>
            <a:r>
              <a:rPr lang="en-IN" sz="1800" b="0" i="0" dirty="0" err="1">
                <a:solidFill>
                  <a:srgbClr val="000000"/>
                </a:solidFill>
                <a:effectLst/>
                <a:latin typeface="Times New Roman" panose="02020603050405020304" pitchFamily="18" charset="0"/>
              </a:rPr>
              <a:t>removeSmallest</a:t>
            </a:r>
            <a:r>
              <a:rPr lang="en-IN" sz="1800" b="0" i="0" dirty="0">
                <a:solidFill>
                  <a:srgbClr val="000000"/>
                </a:solidFill>
                <a:effectLst/>
                <a:latin typeface="Times New Roman" panose="02020603050405020304" pitchFamily="18" charset="0"/>
              </a:rPr>
              <a:t>.</a:t>
            </a:r>
          </a:p>
        </p:txBody>
      </p:sp>
      <p:sp>
        <p:nvSpPr>
          <p:cNvPr id="13" name="TextBox 12">
            <a:extLst>
              <a:ext uri="{FF2B5EF4-FFF2-40B4-BE49-F238E27FC236}">
                <a16:creationId xmlns:a16="http://schemas.microsoft.com/office/drawing/2014/main" id="{11BC1F97-43BF-C105-F65F-781BDA6986E7}"/>
              </a:ext>
            </a:extLst>
          </p:cNvPr>
          <p:cNvSpPr txBox="1"/>
          <p:nvPr/>
        </p:nvSpPr>
        <p:spPr>
          <a:xfrm>
            <a:off x="2402205" y="185900"/>
            <a:ext cx="7244080" cy="584775"/>
          </a:xfrm>
          <a:prstGeom prst="rect">
            <a:avLst/>
          </a:prstGeom>
          <a:noFill/>
        </p:spPr>
        <p:txBody>
          <a:bodyPr wrap="square">
            <a:spAutoFit/>
          </a:bodyPr>
          <a:lstStyle/>
          <a:p>
            <a:pPr indent="0" algn="ctr">
              <a:buNone/>
            </a:pPr>
            <a:r>
              <a:rPr lang="en-IN" sz="3200" b="1" i="0" dirty="0">
                <a:solidFill>
                  <a:srgbClr val="000000"/>
                </a:solidFill>
                <a:effectLst/>
                <a:latin typeface="Times New Roman" panose="02020603050405020304" pitchFamily="18" charset="0"/>
              </a:rPr>
              <a:t>Deletion from a Binary Search Tree</a:t>
            </a:r>
          </a:p>
        </p:txBody>
      </p:sp>
    </p:spTree>
    <p:extLst>
      <p:ext uri="{BB962C8B-B14F-4D97-AF65-F5344CB8AC3E}">
        <p14:creationId xmlns:p14="http://schemas.microsoft.com/office/powerpoint/2010/main" val="2140301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A277-EC67-C60A-1F6D-7C50DD86FE48}"/>
              </a:ext>
            </a:extLst>
          </p:cNvPr>
          <p:cNvSpPr>
            <a:spLocks noGrp="1"/>
          </p:cNvSpPr>
          <p:nvPr>
            <p:ph type="title"/>
          </p:nvPr>
        </p:nvSpPr>
        <p:spPr>
          <a:xfrm>
            <a:off x="838200" y="160376"/>
            <a:ext cx="10515600" cy="1325563"/>
          </a:xfrm>
        </p:spPr>
        <p:txBody>
          <a:bodyPr/>
          <a:lstStyle/>
          <a:p>
            <a:r>
              <a:rPr lang="en-IN" b="1" dirty="0">
                <a:latin typeface="Times New Roman" panose="02020603050405020304" pitchFamily="18" charset="0"/>
                <a:cs typeface="Times New Roman" panose="02020603050405020304" pitchFamily="18" charset="0"/>
              </a:rPr>
              <a:t>Height-Balanced Trees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2EBB4EA-0E73-E973-8D90-928CB5BA519E}"/>
              </a:ext>
            </a:extLst>
          </p:cNvPr>
          <p:cNvSpPr txBox="1"/>
          <p:nvPr/>
        </p:nvSpPr>
        <p:spPr>
          <a:xfrm>
            <a:off x="838200" y="1244162"/>
            <a:ext cx="10307320" cy="5035353"/>
          </a:xfrm>
          <a:prstGeom prst="rect">
            <a:avLst/>
          </a:prstGeom>
          <a:noFill/>
        </p:spPr>
        <p:txBody>
          <a:bodyPr wrap="square">
            <a:spAutoFit/>
          </a:bodyPr>
          <a:lstStyle/>
          <a:p>
            <a:pPr indent="0" algn="just">
              <a:lnSpc>
                <a:spcPct val="150000"/>
              </a:lnSpc>
              <a:buNone/>
            </a:pPr>
            <a:r>
              <a:rPr lang="en-IN" sz="1800" b="0" i="0" dirty="0">
                <a:solidFill>
                  <a:srgbClr val="000000"/>
                </a:solidFill>
                <a:effectLst/>
                <a:latin typeface="Times New Roman" panose="02020603050405020304" pitchFamily="18" charset="0"/>
                <a:cs typeface="Times New Roman" panose="02020603050405020304" pitchFamily="18" charset="0"/>
              </a:rPr>
              <a:t>Binary search trees are a nice idea, but they fail to accomplish our goal of doing lookup, insertion and deletion each in time O(log</a:t>
            </a:r>
            <a:r>
              <a:rPr lang="en-IN" sz="1200" b="0" i="0" baseline="-25000" dirty="0">
                <a:solidFill>
                  <a:srgbClr val="000000"/>
                </a:solidFill>
                <a:effectLst/>
                <a:latin typeface="Times New Roman" panose="02020603050405020304" pitchFamily="18" charset="0"/>
                <a:cs typeface="Times New Roman" panose="02020603050405020304" pitchFamily="18" charset="0"/>
              </a:rPr>
              <a:t>2</a:t>
            </a:r>
            <a:r>
              <a:rPr lang="en-IN" sz="1800" b="0" i="0" dirty="0">
                <a:solidFill>
                  <a:srgbClr val="000000"/>
                </a:solidFill>
                <a:effectLst/>
                <a:latin typeface="Times New Roman" panose="02020603050405020304" pitchFamily="18" charset="0"/>
                <a:cs typeface="Times New Roman" panose="02020603050405020304" pitchFamily="18" charset="0"/>
              </a:rPr>
              <a:t>(</a:t>
            </a:r>
            <a:r>
              <a:rPr lang="en-IN" sz="1800" b="0" i="1" dirty="0">
                <a:solidFill>
                  <a:srgbClr val="000000"/>
                </a:solidFill>
                <a:effectLst/>
                <a:latin typeface="Times New Roman" panose="02020603050405020304" pitchFamily="18" charset="0"/>
                <a:cs typeface="Times New Roman" panose="02020603050405020304" pitchFamily="18" charset="0"/>
              </a:rPr>
              <a:t>n</a:t>
            </a:r>
            <a:r>
              <a:rPr lang="en-IN" sz="1800" b="0" i="0" dirty="0">
                <a:solidFill>
                  <a:srgbClr val="000000"/>
                </a:solidFill>
                <a:effectLst/>
                <a:latin typeface="Times New Roman" panose="02020603050405020304" pitchFamily="18" charset="0"/>
                <a:cs typeface="Times New Roman" panose="02020603050405020304" pitchFamily="18" charset="0"/>
              </a:rPr>
              <a:t>)), when there are </a:t>
            </a:r>
            <a:r>
              <a:rPr lang="en-IN" sz="1800" b="0" i="1" dirty="0">
                <a:solidFill>
                  <a:srgbClr val="000000"/>
                </a:solidFill>
                <a:effectLst/>
                <a:latin typeface="Times New Roman" panose="02020603050405020304" pitchFamily="18" charset="0"/>
                <a:cs typeface="Times New Roman" panose="02020603050405020304" pitchFamily="18" charset="0"/>
              </a:rPr>
              <a:t>n</a:t>
            </a:r>
            <a:r>
              <a:rPr lang="en-IN" sz="1800" b="0" i="0" dirty="0">
                <a:solidFill>
                  <a:srgbClr val="000000"/>
                </a:solidFill>
                <a:effectLst/>
                <a:latin typeface="Times New Roman" panose="02020603050405020304" pitchFamily="18" charset="0"/>
                <a:cs typeface="Times New Roman" panose="02020603050405020304" pitchFamily="18" charset="0"/>
              </a:rPr>
              <a:t> items in the tree. Imagine starting with an empty tree and inserting 1, 2, 3 and 4, in that order.</a:t>
            </a:r>
          </a:p>
          <a:p>
            <a:pPr indent="0" algn="just">
              <a:lnSpc>
                <a:spcPct val="150000"/>
              </a:lnSpc>
              <a:buNone/>
            </a:pPr>
            <a:endParaRPr lang="en-IN" dirty="0">
              <a:solidFill>
                <a:srgbClr val="000000"/>
              </a:solidFill>
              <a:latin typeface="Times New Roman" panose="02020603050405020304" pitchFamily="18" charset="0"/>
              <a:cs typeface="Times New Roman" panose="02020603050405020304" pitchFamily="18" charset="0"/>
            </a:endParaRPr>
          </a:p>
          <a:p>
            <a:pPr indent="0" algn="just">
              <a:lnSpc>
                <a:spcPct val="150000"/>
              </a:lnSpc>
              <a:buNone/>
            </a:pPr>
            <a:endParaRPr lang="en-IN" sz="1800" b="0" i="0" dirty="0">
              <a:solidFill>
                <a:srgbClr val="000000"/>
              </a:solidFill>
              <a:effectLst/>
              <a:latin typeface="Times New Roman" panose="02020603050405020304" pitchFamily="18" charset="0"/>
              <a:cs typeface="Times New Roman" panose="02020603050405020304" pitchFamily="18" charset="0"/>
            </a:endParaRPr>
          </a:p>
          <a:p>
            <a:pPr indent="0" algn="just">
              <a:lnSpc>
                <a:spcPct val="150000"/>
              </a:lnSpc>
              <a:buNone/>
            </a:pPr>
            <a:endParaRPr lang="en-IN" dirty="0">
              <a:solidFill>
                <a:srgbClr val="000000"/>
              </a:solidFill>
              <a:latin typeface="Times New Roman" panose="02020603050405020304" pitchFamily="18" charset="0"/>
              <a:cs typeface="Times New Roman" panose="02020603050405020304" pitchFamily="18" charset="0"/>
            </a:endParaRPr>
          </a:p>
          <a:p>
            <a:pPr indent="0" algn="just">
              <a:lnSpc>
                <a:spcPct val="150000"/>
              </a:lnSpc>
              <a:buNone/>
            </a:pPr>
            <a:endParaRPr lang="en-IN" sz="1800" b="0" i="0" dirty="0">
              <a:solidFill>
                <a:srgbClr val="000000"/>
              </a:solidFill>
              <a:effectLst/>
              <a:latin typeface="Times New Roman" panose="02020603050405020304" pitchFamily="18" charset="0"/>
              <a:cs typeface="Times New Roman" panose="02020603050405020304" pitchFamily="18" charset="0"/>
            </a:endParaRPr>
          </a:p>
          <a:p>
            <a:pPr indent="0" algn="just">
              <a:lnSpc>
                <a:spcPct val="150000"/>
              </a:lnSpc>
              <a:buNone/>
            </a:pPr>
            <a:endParaRPr lang="en-IN" sz="1800" b="0" i="0" dirty="0">
              <a:solidFill>
                <a:srgbClr val="000000"/>
              </a:solidFill>
              <a:effectLst/>
              <a:latin typeface="Times New Roman" panose="02020603050405020304" pitchFamily="18" charset="0"/>
              <a:cs typeface="Times New Roman" panose="02020603050405020304" pitchFamily="18" charset="0"/>
            </a:endParaRPr>
          </a:p>
          <a:p>
            <a:pPr indent="0" algn="just">
              <a:lnSpc>
                <a:spcPct val="150000"/>
              </a:lnSpc>
              <a:buNone/>
            </a:pPr>
            <a:r>
              <a:rPr lang="en-IN" sz="1800" b="0" i="0" dirty="0">
                <a:solidFill>
                  <a:srgbClr val="000000"/>
                </a:solidFill>
                <a:effectLst/>
                <a:latin typeface="Times New Roman" panose="02020603050405020304" pitchFamily="18" charset="0"/>
                <a:cs typeface="Times New Roman" panose="02020603050405020304" pitchFamily="18" charset="0"/>
              </a:rPr>
              <a:t>You do not get a branching tree, but a linear tree. All of the left subtrees are empty. Because of this </a:t>
            </a:r>
            <a:r>
              <a:rPr lang="en-IN" sz="1800" b="0" i="0" dirty="0" err="1">
                <a:solidFill>
                  <a:srgbClr val="000000"/>
                </a:solidFill>
                <a:effectLst/>
                <a:latin typeface="Times New Roman" panose="02020603050405020304" pitchFamily="18" charset="0"/>
                <a:cs typeface="Times New Roman" panose="02020603050405020304" pitchFamily="18" charset="0"/>
              </a:rPr>
              <a:t>behavior</a:t>
            </a:r>
            <a:r>
              <a:rPr lang="en-IN" sz="1800" b="0" i="0" dirty="0">
                <a:solidFill>
                  <a:srgbClr val="000000"/>
                </a:solidFill>
                <a:effectLst/>
                <a:latin typeface="Times New Roman" panose="02020603050405020304" pitchFamily="18" charset="0"/>
                <a:cs typeface="Times New Roman" panose="02020603050405020304" pitchFamily="18" charset="0"/>
              </a:rPr>
              <a:t>, </a:t>
            </a:r>
            <a:r>
              <a:rPr lang="en-IN" sz="1800" b="0" i="1" dirty="0">
                <a:solidFill>
                  <a:srgbClr val="000000"/>
                </a:solidFill>
                <a:effectLst/>
                <a:latin typeface="Times New Roman" panose="02020603050405020304" pitchFamily="18" charset="0"/>
                <a:cs typeface="Times New Roman" panose="02020603050405020304" pitchFamily="18" charset="0"/>
              </a:rPr>
              <a:t>in the worst case</a:t>
            </a:r>
            <a:r>
              <a:rPr lang="en-IN" sz="1800" b="0" i="0" dirty="0">
                <a:solidFill>
                  <a:srgbClr val="000000"/>
                </a:solidFill>
                <a:effectLst/>
                <a:latin typeface="Times New Roman" panose="02020603050405020304" pitchFamily="18" charset="0"/>
                <a:cs typeface="Times New Roman" panose="02020603050405020304" pitchFamily="18" charset="0"/>
              </a:rPr>
              <a:t> each of the operations (lookup, insertion and deletion) takes time Θ(</a:t>
            </a:r>
            <a:r>
              <a:rPr lang="en-IN" sz="1800" b="0" i="1" dirty="0">
                <a:solidFill>
                  <a:srgbClr val="000000"/>
                </a:solidFill>
                <a:effectLst/>
                <a:latin typeface="Times New Roman" panose="02020603050405020304" pitchFamily="18" charset="0"/>
                <a:cs typeface="Times New Roman" panose="02020603050405020304" pitchFamily="18" charset="0"/>
              </a:rPr>
              <a:t>n</a:t>
            </a:r>
            <a:r>
              <a:rPr lang="en-IN" sz="1800" b="0" i="0" dirty="0">
                <a:solidFill>
                  <a:srgbClr val="000000"/>
                </a:solidFill>
                <a:effectLst/>
                <a:latin typeface="Times New Roman" panose="02020603050405020304" pitchFamily="18" charset="0"/>
                <a:cs typeface="Times New Roman" panose="02020603050405020304" pitchFamily="18" charset="0"/>
              </a:rPr>
              <a:t>). From the perspective of the worst case, we might as well be using a linked list and linear search.</a:t>
            </a:r>
          </a:p>
          <a:p>
            <a:pPr indent="0" algn="just">
              <a:lnSpc>
                <a:spcPct val="150000"/>
              </a:lnSpc>
              <a:buNone/>
            </a:pPr>
            <a:r>
              <a:rPr lang="en-IN" sz="1800" b="0" i="0" dirty="0">
                <a:solidFill>
                  <a:srgbClr val="000000"/>
                </a:solidFill>
                <a:effectLst/>
                <a:latin typeface="Times New Roman" panose="02020603050405020304" pitchFamily="18" charset="0"/>
                <a:cs typeface="Times New Roman" panose="02020603050405020304" pitchFamily="18" charset="0"/>
              </a:rPr>
              <a:t>That bad worst case </a:t>
            </a:r>
            <a:r>
              <a:rPr lang="en-IN" sz="1800" b="0" i="0" dirty="0" err="1">
                <a:solidFill>
                  <a:srgbClr val="000000"/>
                </a:solidFill>
                <a:effectLst/>
                <a:latin typeface="Times New Roman" panose="02020603050405020304" pitchFamily="18" charset="0"/>
                <a:cs typeface="Times New Roman" panose="02020603050405020304" pitchFamily="18" charset="0"/>
              </a:rPr>
              <a:t>behavior</a:t>
            </a:r>
            <a:r>
              <a:rPr lang="en-IN" sz="1800" b="0" i="0" dirty="0">
                <a:solidFill>
                  <a:srgbClr val="000000"/>
                </a:solidFill>
                <a:effectLst/>
                <a:latin typeface="Times New Roman" panose="02020603050405020304" pitchFamily="18" charset="0"/>
                <a:cs typeface="Times New Roman" panose="02020603050405020304" pitchFamily="18" charset="0"/>
              </a:rPr>
              <a:t> can be avoided by using an idea called </a:t>
            </a:r>
            <a:r>
              <a:rPr lang="en-IN" sz="1800" b="0" i="1" dirty="0">
                <a:solidFill>
                  <a:srgbClr val="0000FF"/>
                </a:solidFill>
                <a:effectLst/>
                <a:latin typeface="Times New Roman" panose="02020603050405020304" pitchFamily="18" charset="0"/>
                <a:cs typeface="Times New Roman" panose="02020603050405020304" pitchFamily="18" charset="0"/>
              </a:rPr>
              <a:t>height balancing</a:t>
            </a:r>
            <a:r>
              <a:rPr lang="en-IN" sz="1800" b="0" i="0" dirty="0">
                <a:solidFill>
                  <a:srgbClr val="000000"/>
                </a:solidFill>
                <a:effectLst/>
                <a:latin typeface="Times New Roman" panose="02020603050405020304" pitchFamily="18" charset="0"/>
                <a:cs typeface="Times New Roman" panose="02020603050405020304" pitchFamily="18" charset="0"/>
              </a:rPr>
              <a:t>, also called </a:t>
            </a:r>
            <a:r>
              <a:rPr lang="en-IN" sz="1800" b="0" i="1" dirty="0">
                <a:solidFill>
                  <a:srgbClr val="0000FF"/>
                </a:solidFill>
                <a:effectLst/>
                <a:latin typeface="Times New Roman" panose="02020603050405020304" pitchFamily="18" charset="0"/>
                <a:cs typeface="Times New Roman" panose="02020603050405020304" pitchFamily="18" charset="0"/>
              </a:rPr>
              <a:t>AVL trees</a:t>
            </a:r>
            <a:r>
              <a:rPr lang="en-IN" sz="1800" b="0" i="0" dirty="0">
                <a:solidFill>
                  <a:srgbClr val="000000"/>
                </a:solidFill>
                <a:effectLst/>
                <a:latin typeface="Times New Roman" panose="02020603050405020304" pitchFamily="18" charset="0"/>
                <a:cs typeface="Times New Roman" panose="02020603050405020304" pitchFamily="18" charset="0"/>
              </a:rPr>
              <a:t>.</a:t>
            </a:r>
          </a:p>
        </p:txBody>
      </p:sp>
      <p:pic>
        <p:nvPicPr>
          <p:cNvPr id="7" name="Picture 6">
            <a:extLst>
              <a:ext uri="{FF2B5EF4-FFF2-40B4-BE49-F238E27FC236}">
                <a16:creationId xmlns:a16="http://schemas.microsoft.com/office/drawing/2014/main" id="{A53206A7-BBF5-56B8-6271-88B3467056E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090118" y="2569725"/>
            <a:ext cx="5439695" cy="1864162"/>
          </a:xfrm>
          <a:prstGeom prst="rect">
            <a:avLst/>
          </a:prstGeom>
        </p:spPr>
      </p:pic>
    </p:spTree>
    <p:extLst>
      <p:ext uri="{BB962C8B-B14F-4D97-AF65-F5344CB8AC3E}">
        <p14:creationId xmlns:p14="http://schemas.microsoft.com/office/powerpoint/2010/main" val="3894166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50B0F-284A-571E-1F97-72B7479D07D5}"/>
              </a:ext>
            </a:extLst>
          </p:cNvPr>
          <p:cNvSpPr>
            <a:spLocks noGrp="1"/>
          </p:cNvSpPr>
          <p:nvPr>
            <p:ph type="title"/>
          </p:nvPr>
        </p:nvSpPr>
        <p:spPr>
          <a:xfrm>
            <a:off x="838200" y="88999"/>
            <a:ext cx="10515600" cy="1325563"/>
          </a:xfrm>
        </p:spPr>
        <p:txBody>
          <a:bodyPr/>
          <a:lstStyle/>
          <a:p>
            <a:r>
              <a:rPr lang="en-IN" b="1" dirty="0">
                <a:latin typeface="Times New Roman" panose="02020603050405020304" pitchFamily="18" charset="0"/>
                <a:cs typeface="Times New Roman" panose="02020603050405020304" pitchFamily="18" charset="0"/>
              </a:rPr>
              <a:t>Height-balanced trees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41E7D25-F0C7-50C9-FBE5-7E3A2FE0ED15}"/>
              </a:ext>
            </a:extLst>
          </p:cNvPr>
          <p:cNvSpPr txBox="1"/>
          <p:nvPr/>
        </p:nvSpPr>
        <p:spPr>
          <a:xfrm>
            <a:off x="838200" y="1414562"/>
            <a:ext cx="10612120" cy="2345322"/>
          </a:xfrm>
          <a:prstGeom prst="rect">
            <a:avLst/>
          </a:prstGeom>
          <a:noFill/>
        </p:spPr>
        <p:txBody>
          <a:bodyPr wrap="square">
            <a:spAutoFit/>
          </a:bodyPr>
          <a:lstStyle/>
          <a:p>
            <a:pPr indent="0" algn="just">
              <a:lnSpc>
                <a:spcPct val="150000"/>
              </a:lnSpc>
              <a:buNone/>
            </a:pPr>
            <a:r>
              <a:rPr lang="en-IN" sz="2000" b="0" i="0" dirty="0">
                <a:solidFill>
                  <a:srgbClr val="000000"/>
                </a:solidFill>
                <a:effectLst/>
                <a:latin typeface="Times New Roman" panose="02020603050405020304" pitchFamily="18" charset="0"/>
                <a:cs typeface="Times New Roman" panose="02020603050405020304" pitchFamily="18" charset="0"/>
              </a:rPr>
              <a:t>The </a:t>
            </a:r>
            <a:r>
              <a:rPr lang="en-IN" sz="2000" b="0" i="1" dirty="0">
                <a:solidFill>
                  <a:srgbClr val="0000FF"/>
                </a:solidFill>
                <a:effectLst/>
                <a:latin typeface="Times New Roman" panose="02020603050405020304" pitchFamily="18" charset="0"/>
                <a:cs typeface="Times New Roman" panose="02020603050405020304" pitchFamily="18" charset="0"/>
              </a:rPr>
              <a:t>height</a:t>
            </a:r>
            <a:r>
              <a:rPr lang="en-IN" sz="2000" b="0" i="0" dirty="0">
                <a:solidFill>
                  <a:srgbClr val="000000"/>
                </a:solidFill>
                <a:effectLst/>
                <a:latin typeface="Times New Roman" panose="02020603050405020304" pitchFamily="18" charset="0"/>
                <a:cs typeface="Times New Roman" panose="02020603050405020304" pitchFamily="18" charset="0"/>
              </a:rPr>
              <a:t> of a node in a tree is the length of the longest path from that node downward to a leaf, counting both the start and end vertices of the path. The height of a leaf is 1. The height of a nonempty tree is the height of its root. For example, tree</a:t>
            </a:r>
          </a:p>
          <a:p>
            <a:pPr indent="0" algn="just">
              <a:lnSpc>
                <a:spcPct val="150000"/>
              </a:lnSpc>
              <a:buNone/>
            </a:pPr>
            <a:r>
              <a:rPr lang="en-IN" sz="2000" b="0" i="0" dirty="0">
                <a:solidFill>
                  <a:srgbClr val="000000"/>
                </a:solidFill>
                <a:effectLst/>
                <a:latin typeface="Times New Roman" panose="02020603050405020304" pitchFamily="18" charset="0"/>
                <a:cs typeface="Times New Roman" panose="02020603050405020304" pitchFamily="18" charset="0"/>
              </a:rPr>
              <a:t>has height 3. (There are 3 equally long paths from the root to a leaf. One of them is (30 18 24).) The height of an empty tree is defined to be 0.</a:t>
            </a:r>
          </a:p>
        </p:txBody>
      </p:sp>
      <p:pic>
        <p:nvPicPr>
          <p:cNvPr id="6" name="Picture 5">
            <a:extLst>
              <a:ext uri="{FF2B5EF4-FFF2-40B4-BE49-F238E27FC236}">
                <a16:creationId xmlns:a16="http://schemas.microsoft.com/office/drawing/2014/main" id="{48BDCE55-DC40-578B-699F-C36510AA3EC1}"/>
              </a:ext>
              <a:ext uri="{C183D7F6-B498-43B3-948B-1728B52AA6E4}">
                <adec:decorative xmlns:adec="http://schemas.microsoft.com/office/drawing/2017/decorative" val="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625153" y="3850640"/>
            <a:ext cx="5577738" cy="2092960"/>
          </a:xfrm>
          <a:prstGeom prst="rect">
            <a:avLst/>
          </a:prstGeom>
        </p:spPr>
      </p:pic>
    </p:spTree>
    <p:extLst>
      <p:ext uri="{BB962C8B-B14F-4D97-AF65-F5344CB8AC3E}">
        <p14:creationId xmlns:p14="http://schemas.microsoft.com/office/powerpoint/2010/main" val="3651469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4A67FB7-DD22-3E07-8370-FD4F353CFC6E}"/>
              </a:ext>
            </a:extLst>
          </p:cNvPr>
          <p:cNvSpPr txBox="1"/>
          <p:nvPr/>
        </p:nvSpPr>
        <p:spPr>
          <a:xfrm>
            <a:off x="726440" y="1009085"/>
            <a:ext cx="10739120" cy="5161478"/>
          </a:xfrm>
          <a:prstGeom prst="rect">
            <a:avLst/>
          </a:prstGeom>
          <a:noFill/>
        </p:spPr>
        <p:txBody>
          <a:bodyPr wrap="square">
            <a:spAutoFit/>
          </a:bodyPr>
          <a:lstStyle/>
          <a:p>
            <a:pPr indent="0" algn="just">
              <a:lnSpc>
                <a:spcPct val="150000"/>
              </a:lnSpc>
              <a:buNone/>
            </a:pPr>
            <a:r>
              <a:rPr lang="en-IN" b="1" i="0" dirty="0">
                <a:solidFill>
                  <a:srgbClr val="000000"/>
                </a:solidFill>
                <a:effectLst/>
                <a:latin typeface="Times New Roman" panose="02020603050405020304" pitchFamily="18" charset="0"/>
                <a:cs typeface="Times New Roman" panose="02020603050405020304" pitchFamily="18" charset="0"/>
              </a:rPr>
              <a:t>Height-balancing requirement.</a:t>
            </a:r>
            <a:r>
              <a:rPr lang="en-IN" b="0" i="0" dirty="0">
                <a:solidFill>
                  <a:srgbClr val="000000"/>
                </a:solidFill>
                <a:effectLst/>
                <a:latin typeface="Times New Roman" panose="02020603050405020304" pitchFamily="18" charset="0"/>
                <a:cs typeface="Times New Roman" panose="02020603050405020304" pitchFamily="18" charset="0"/>
              </a:rPr>
              <a:t> A </a:t>
            </a:r>
            <a:r>
              <a:rPr lang="en-IN" b="0" i="1" dirty="0">
                <a:solidFill>
                  <a:srgbClr val="000000"/>
                </a:solidFill>
                <a:effectLst/>
                <a:latin typeface="Times New Roman" panose="02020603050405020304" pitchFamily="18" charset="0"/>
                <a:cs typeface="Times New Roman" panose="02020603050405020304" pitchFamily="18" charset="0"/>
              </a:rPr>
              <a:t>node</a:t>
            </a:r>
            <a:r>
              <a:rPr lang="en-IN" b="0" i="0" dirty="0">
                <a:solidFill>
                  <a:srgbClr val="000000"/>
                </a:solidFill>
                <a:effectLst/>
                <a:latin typeface="Times New Roman" panose="02020603050405020304" pitchFamily="18" charset="0"/>
                <a:cs typeface="Times New Roman" panose="02020603050405020304" pitchFamily="18" charset="0"/>
              </a:rPr>
              <a:t> in a tree is </a:t>
            </a:r>
            <a:r>
              <a:rPr lang="en-IN" b="0" i="1" dirty="0">
                <a:solidFill>
                  <a:srgbClr val="0000FF"/>
                </a:solidFill>
                <a:effectLst/>
                <a:latin typeface="Times New Roman" panose="02020603050405020304" pitchFamily="18" charset="0"/>
                <a:cs typeface="Times New Roman" panose="02020603050405020304" pitchFamily="18" charset="0"/>
              </a:rPr>
              <a:t>height-balanced</a:t>
            </a:r>
            <a:r>
              <a:rPr lang="en-IN" b="0" i="0" dirty="0">
                <a:solidFill>
                  <a:srgbClr val="000000"/>
                </a:solidFill>
                <a:effectLst/>
                <a:latin typeface="Times New Roman" panose="02020603050405020304" pitchFamily="18" charset="0"/>
                <a:cs typeface="Times New Roman" panose="02020603050405020304" pitchFamily="18" charset="0"/>
              </a:rPr>
              <a:t> if the heights of its subtrees differ by no more than 1. (That is, if the subtrees have heights </a:t>
            </a:r>
            <a:r>
              <a:rPr lang="en-IN" b="0" i="1" dirty="0">
                <a:solidFill>
                  <a:srgbClr val="000000"/>
                </a:solidFill>
                <a:effectLst/>
                <a:latin typeface="Times New Roman" panose="02020603050405020304" pitchFamily="18" charset="0"/>
                <a:cs typeface="Times New Roman" panose="02020603050405020304" pitchFamily="18" charset="0"/>
              </a:rPr>
              <a:t>h</a:t>
            </a:r>
            <a:r>
              <a:rPr lang="en-IN" sz="1200" b="0" i="0" baseline="-25000" dirty="0">
                <a:solidFill>
                  <a:srgbClr val="000000"/>
                </a:solidFill>
                <a:effectLst/>
                <a:latin typeface="Times New Roman" panose="02020603050405020304" pitchFamily="18" charset="0"/>
                <a:cs typeface="Times New Roman" panose="02020603050405020304" pitchFamily="18" charset="0"/>
              </a:rPr>
              <a:t>1</a:t>
            </a:r>
            <a:r>
              <a:rPr lang="en-IN" b="0" i="0" dirty="0">
                <a:solidFill>
                  <a:srgbClr val="000000"/>
                </a:solidFill>
                <a:effectLst/>
                <a:latin typeface="Times New Roman" panose="02020603050405020304" pitchFamily="18" charset="0"/>
                <a:cs typeface="Times New Roman" panose="02020603050405020304" pitchFamily="18" charset="0"/>
              </a:rPr>
              <a:t> and </a:t>
            </a:r>
            <a:r>
              <a:rPr lang="en-IN" b="0" i="1" dirty="0">
                <a:solidFill>
                  <a:srgbClr val="000000"/>
                </a:solidFill>
                <a:effectLst/>
                <a:latin typeface="Times New Roman" panose="02020603050405020304" pitchFamily="18" charset="0"/>
                <a:cs typeface="Times New Roman" panose="02020603050405020304" pitchFamily="18" charset="0"/>
              </a:rPr>
              <a:t>h</a:t>
            </a:r>
            <a:r>
              <a:rPr lang="en-IN" sz="1200" b="0" i="0" baseline="-25000" dirty="0">
                <a:solidFill>
                  <a:srgbClr val="000000"/>
                </a:solidFill>
                <a:effectLst/>
                <a:latin typeface="Times New Roman" panose="02020603050405020304" pitchFamily="18" charset="0"/>
                <a:cs typeface="Times New Roman" panose="02020603050405020304" pitchFamily="18" charset="0"/>
              </a:rPr>
              <a:t>2</a:t>
            </a:r>
            <a:r>
              <a:rPr lang="en-IN" b="0" i="0" dirty="0">
                <a:solidFill>
                  <a:srgbClr val="000000"/>
                </a:solidFill>
                <a:effectLst/>
                <a:latin typeface="Times New Roman" panose="02020603050405020304" pitchFamily="18" charset="0"/>
                <a:cs typeface="Times New Roman" panose="02020603050405020304" pitchFamily="18" charset="0"/>
              </a:rPr>
              <a:t>, then |</a:t>
            </a:r>
            <a:r>
              <a:rPr lang="en-IN" b="0" i="1" dirty="0">
                <a:solidFill>
                  <a:srgbClr val="000000"/>
                </a:solidFill>
                <a:effectLst/>
                <a:latin typeface="Times New Roman" panose="02020603050405020304" pitchFamily="18" charset="0"/>
                <a:cs typeface="Times New Roman" panose="02020603050405020304" pitchFamily="18" charset="0"/>
              </a:rPr>
              <a:t>h</a:t>
            </a:r>
            <a:r>
              <a:rPr lang="en-IN" sz="1200" b="0" i="0" baseline="-25000" dirty="0">
                <a:solidFill>
                  <a:srgbClr val="000000"/>
                </a:solidFill>
                <a:effectLst/>
                <a:latin typeface="Times New Roman" panose="02020603050405020304" pitchFamily="18" charset="0"/>
                <a:cs typeface="Times New Roman" panose="02020603050405020304" pitchFamily="18" charset="0"/>
              </a:rPr>
              <a:t>1</a:t>
            </a:r>
            <a:r>
              <a:rPr lang="en-IN" b="0" i="0" dirty="0">
                <a:solidFill>
                  <a:srgbClr val="000000"/>
                </a:solidFill>
                <a:effectLst/>
                <a:latin typeface="Times New Roman" panose="02020603050405020304" pitchFamily="18" charset="0"/>
                <a:cs typeface="Times New Roman" panose="02020603050405020304" pitchFamily="18" charset="0"/>
              </a:rPr>
              <a:t> − </a:t>
            </a:r>
            <a:r>
              <a:rPr lang="en-IN" b="0" i="1" dirty="0">
                <a:solidFill>
                  <a:srgbClr val="000000"/>
                </a:solidFill>
                <a:effectLst/>
                <a:latin typeface="Times New Roman" panose="02020603050405020304" pitchFamily="18" charset="0"/>
                <a:cs typeface="Times New Roman" panose="02020603050405020304" pitchFamily="18" charset="0"/>
              </a:rPr>
              <a:t>h</a:t>
            </a:r>
            <a:r>
              <a:rPr lang="en-IN" sz="1200" b="0" i="0" baseline="-25000" dirty="0">
                <a:solidFill>
                  <a:srgbClr val="000000"/>
                </a:solidFill>
                <a:effectLst/>
                <a:latin typeface="Times New Roman" panose="02020603050405020304" pitchFamily="18" charset="0"/>
                <a:cs typeface="Times New Roman" panose="02020603050405020304" pitchFamily="18" charset="0"/>
              </a:rPr>
              <a:t>2</a:t>
            </a:r>
            <a:r>
              <a:rPr lang="en-IN" b="0" i="0" dirty="0">
                <a:solidFill>
                  <a:srgbClr val="000000"/>
                </a:solidFill>
                <a:effectLst/>
                <a:latin typeface="Times New Roman" panose="02020603050405020304" pitchFamily="18" charset="0"/>
                <a:cs typeface="Times New Roman" panose="02020603050405020304" pitchFamily="18" charset="0"/>
              </a:rPr>
              <a:t>| ≤ 1.) A </a:t>
            </a:r>
            <a:r>
              <a:rPr lang="en-IN" b="0" i="1" dirty="0">
                <a:solidFill>
                  <a:srgbClr val="000000"/>
                </a:solidFill>
                <a:effectLst/>
                <a:latin typeface="Times New Roman" panose="02020603050405020304" pitchFamily="18" charset="0"/>
                <a:cs typeface="Times New Roman" panose="02020603050405020304" pitchFamily="18" charset="0"/>
              </a:rPr>
              <a:t>tree</a:t>
            </a:r>
            <a:r>
              <a:rPr lang="en-IN" b="0" i="0" dirty="0">
                <a:solidFill>
                  <a:srgbClr val="000000"/>
                </a:solidFill>
                <a:effectLst/>
                <a:latin typeface="Times New Roman" panose="02020603050405020304" pitchFamily="18" charset="0"/>
                <a:cs typeface="Times New Roman" panose="02020603050405020304" pitchFamily="18" charset="0"/>
              </a:rPr>
              <a:t> is height-balanced if all of its nodes are height-balanced. (An empty tree is height-balanced by definition.)</a:t>
            </a:r>
          </a:p>
          <a:p>
            <a:pPr indent="0" algn="just">
              <a:lnSpc>
                <a:spcPct val="150000"/>
              </a:lnSpc>
              <a:buNone/>
            </a:pPr>
            <a:r>
              <a:rPr lang="en-IN" b="0" i="0" dirty="0">
                <a:solidFill>
                  <a:srgbClr val="000000"/>
                </a:solidFill>
                <a:effectLst/>
                <a:latin typeface="Times New Roman" panose="02020603050405020304" pitchFamily="18" charset="0"/>
                <a:cs typeface="Times New Roman" panose="02020603050405020304" pitchFamily="18" charset="0"/>
              </a:rPr>
              <a:t>For example, the preceding tree is height-balanced. Check each node. Notice that the height of that node's left subtree differs from the height of its right subtree by no more than 1. The node holding 18 has a left subtree of height 0 and a right subtree of height 1. The root has two subtrees of height 2.</a:t>
            </a:r>
          </a:p>
          <a:p>
            <a:pPr indent="0" algn="just">
              <a:lnSpc>
                <a:spcPct val="150000"/>
              </a:lnSpc>
              <a:buNone/>
            </a:pPr>
            <a:r>
              <a:rPr lang="en-IN" b="0" i="0" dirty="0">
                <a:solidFill>
                  <a:srgbClr val="000000"/>
                </a:solidFill>
                <a:effectLst/>
                <a:latin typeface="Times New Roman" panose="02020603050405020304" pitchFamily="18" charset="0"/>
                <a:cs typeface="Times New Roman" panose="02020603050405020304" pitchFamily="18" charset="0"/>
              </a:rPr>
              <a:t>Our goal is to keep our binary search trees height-balanced. The basic algorithms defined on the preceding pages can yield an unbalanced tree. Rather than casting them aside, though, we simply patch them by adding balancing steps to restore the balance.</a:t>
            </a:r>
          </a:p>
          <a:p>
            <a:pPr indent="0" algn="just">
              <a:lnSpc>
                <a:spcPct val="150000"/>
              </a:lnSpc>
              <a:buNone/>
            </a:pPr>
            <a:r>
              <a:rPr lang="en-IN" b="0" i="0" dirty="0">
                <a:solidFill>
                  <a:srgbClr val="000000"/>
                </a:solidFill>
                <a:effectLst/>
                <a:latin typeface="Times New Roman" panose="02020603050405020304" pitchFamily="18" charset="0"/>
                <a:cs typeface="Times New Roman" panose="02020603050405020304" pitchFamily="18" charset="0"/>
              </a:rPr>
              <a:t>It can be shown that a height-balanced tree with </a:t>
            </a:r>
            <a:r>
              <a:rPr lang="en-IN" b="0" i="1" dirty="0">
                <a:solidFill>
                  <a:srgbClr val="000000"/>
                </a:solidFill>
                <a:effectLst/>
                <a:latin typeface="Times New Roman" panose="02020603050405020304" pitchFamily="18" charset="0"/>
                <a:cs typeface="Times New Roman" panose="02020603050405020304" pitchFamily="18" charset="0"/>
              </a:rPr>
              <a:t>n</a:t>
            </a:r>
            <a:r>
              <a:rPr lang="en-IN" b="0" i="0" dirty="0">
                <a:solidFill>
                  <a:srgbClr val="000000"/>
                </a:solidFill>
                <a:effectLst/>
                <a:latin typeface="Times New Roman" panose="02020603050405020304" pitchFamily="18" charset="0"/>
                <a:cs typeface="Times New Roman" panose="02020603050405020304" pitchFamily="18" charset="0"/>
              </a:rPr>
              <a:t> nodes has height Θ(log</a:t>
            </a:r>
            <a:r>
              <a:rPr lang="en-IN" sz="1200" b="0" i="0" baseline="-25000" dirty="0">
                <a:solidFill>
                  <a:srgbClr val="000000"/>
                </a:solidFill>
                <a:effectLst/>
                <a:latin typeface="Times New Roman" panose="02020603050405020304" pitchFamily="18" charset="0"/>
                <a:cs typeface="Times New Roman" panose="02020603050405020304" pitchFamily="18" charset="0"/>
              </a:rPr>
              <a:t>2</a:t>
            </a:r>
            <a:r>
              <a:rPr lang="en-IN" b="0" i="0" dirty="0">
                <a:solidFill>
                  <a:srgbClr val="000000"/>
                </a:solidFill>
                <a:effectLst/>
                <a:latin typeface="Times New Roman" panose="02020603050405020304" pitchFamily="18" charset="0"/>
                <a:cs typeface="Times New Roman" panose="02020603050405020304" pitchFamily="18" charset="0"/>
              </a:rPr>
              <a:t>(</a:t>
            </a:r>
            <a:r>
              <a:rPr lang="en-IN" b="0" i="1" dirty="0">
                <a:solidFill>
                  <a:srgbClr val="000000"/>
                </a:solidFill>
                <a:effectLst/>
                <a:latin typeface="Times New Roman" panose="02020603050405020304" pitchFamily="18" charset="0"/>
                <a:cs typeface="Times New Roman" panose="02020603050405020304" pitchFamily="18" charset="0"/>
              </a:rPr>
              <a:t>n</a:t>
            </a:r>
            <a:r>
              <a:rPr lang="en-IN" b="0" i="0" dirty="0">
                <a:solidFill>
                  <a:srgbClr val="000000"/>
                </a:solidFill>
                <a:effectLst/>
                <a:latin typeface="Times New Roman" panose="02020603050405020304" pitchFamily="18" charset="0"/>
                <a:cs typeface="Times New Roman" panose="02020603050405020304" pitchFamily="18" charset="0"/>
              </a:rPr>
              <a:t>)). Since the cost of our algorithms is proportional to the height of the tree, each operation (lookup, insertion or deletion) will take time Θ(log</a:t>
            </a:r>
            <a:r>
              <a:rPr lang="en-IN" sz="1200" b="0" i="0" baseline="-25000" dirty="0">
                <a:solidFill>
                  <a:srgbClr val="000000"/>
                </a:solidFill>
                <a:effectLst/>
                <a:latin typeface="Times New Roman" panose="02020603050405020304" pitchFamily="18" charset="0"/>
                <a:cs typeface="Times New Roman" panose="02020603050405020304" pitchFamily="18" charset="0"/>
              </a:rPr>
              <a:t>2</a:t>
            </a:r>
            <a:r>
              <a:rPr lang="en-IN" b="0" i="0" dirty="0">
                <a:solidFill>
                  <a:srgbClr val="000000"/>
                </a:solidFill>
                <a:effectLst/>
                <a:latin typeface="Times New Roman" panose="02020603050405020304" pitchFamily="18" charset="0"/>
                <a:cs typeface="Times New Roman" panose="02020603050405020304" pitchFamily="18" charset="0"/>
              </a:rPr>
              <a:t>(</a:t>
            </a:r>
            <a:r>
              <a:rPr lang="en-IN" b="0" i="1" dirty="0">
                <a:solidFill>
                  <a:srgbClr val="000000"/>
                </a:solidFill>
                <a:effectLst/>
                <a:latin typeface="Times New Roman" panose="02020603050405020304" pitchFamily="18" charset="0"/>
                <a:cs typeface="Times New Roman" panose="02020603050405020304" pitchFamily="18" charset="0"/>
              </a:rPr>
              <a:t>n</a:t>
            </a:r>
            <a:r>
              <a:rPr lang="en-IN" b="0" i="0" dirty="0">
                <a:solidFill>
                  <a:srgbClr val="000000"/>
                </a:solidFill>
                <a:effectLst/>
                <a:latin typeface="Times New Roman" panose="02020603050405020304" pitchFamily="18" charset="0"/>
                <a:cs typeface="Times New Roman" panose="02020603050405020304" pitchFamily="18" charset="0"/>
              </a:rPr>
              <a:t>)) in the worst case, as long as we keep the trees height-balanced.</a:t>
            </a:r>
          </a:p>
        </p:txBody>
      </p:sp>
      <p:sp>
        <p:nvSpPr>
          <p:cNvPr id="6" name="Title 1">
            <a:extLst>
              <a:ext uri="{FF2B5EF4-FFF2-40B4-BE49-F238E27FC236}">
                <a16:creationId xmlns:a16="http://schemas.microsoft.com/office/drawing/2014/main" id="{0226D54F-31A7-30EC-A8A8-F9E63ABD19B1}"/>
              </a:ext>
            </a:extLst>
          </p:cNvPr>
          <p:cNvSpPr>
            <a:spLocks noGrp="1"/>
          </p:cNvSpPr>
          <p:nvPr>
            <p:ph type="title"/>
          </p:nvPr>
        </p:nvSpPr>
        <p:spPr>
          <a:xfrm>
            <a:off x="838200" y="358914"/>
            <a:ext cx="10515600" cy="488315"/>
          </a:xfrm>
        </p:spPr>
        <p:txBody>
          <a:bodyPr>
            <a:noAutofit/>
          </a:bodyPr>
          <a:lstStyle/>
          <a:p>
            <a:r>
              <a:rPr lang="en-IN" sz="4000" b="1" dirty="0">
                <a:latin typeface="Times New Roman" panose="02020603050405020304" pitchFamily="18" charset="0"/>
                <a:cs typeface="Times New Roman" panose="02020603050405020304" pitchFamily="18" charset="0"/>
              </a:rPr>
              <a:t>Height-balanced trees</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9344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F3186F-3819-8684-9C13-50A7669BADA4}"/>
              </a:ext>
            </a:extLst>
          </p:cNvPr>
          <p:cNvSpPr txBox="1"/>
          <p:nvPr/>
        </p:nvSpPr>
        <p:spPr>
          <a:xfrm>
            <a:off x="1559560" y="335281"/>
            <a:ext cx="9072880" cy="584775"/>
          </a:xfrm>
          <a:prstGeom prst="rect">
            <a:avLst/>
          </a:prstGeom>
          <a:noFill/>
        </p:spPr>
        <p:txBody>
          <a:bodyPr wrap="square">
            <a:spAutoFit/>
          </a:bodyPr>
          <a:lstStyle/>
          <a:p>
            <a:pPr indent="0" algn="ctr">
              <a:buNone/>
            </a:pPr>
            <a:r>
              <a:rPr lang="en-IN" sz="3200" b="1" i="0" dirty="0">
                <a:solidFill>
                  <a:srgbClr val="000000"/>
                </a:solidFill>
                <a:effectLst/>
                <a:latin typeface="Times New Roman" panose="02020603050405020304" pitchFamily="18" charset="0"/>
              </a:rPr>
              <a:t>Rotations</a:t>
            </a:r>
            <a:endParaRPr lang="en-IN" sz="3200" dirty="0"/>
          </a:p>
        </p:txBody>
      </p:sp>
      <p:sp>
        <p:nvSpPr>
          <p:cNvPr id="7" name="TextBox 6">
            <a:extLst>
              <a:ext uri="{FF2B5EF4-FFF2-40B4-BE49-F238E27FC236}">
                <a16:creationId xmlns:a16="http://schemas.microsoft.com/office/drawing/2014/main" id="{AE6DEA8C-1833-391E-D357-31B58783F6AE}"/>
              </a:ext>
            </a:extLst>
          </p:cNvPr>
          <p:cNvSpPr txBox="1"/>
          <p:nvPr/>
        </p:nvSpPr>
        <p:spPr>
          <a:xfrm>
            <a:off x="843280" y="920056"/>
            <a:ext cx="10353040" cy="4197559"/>
          </a:xfrm>
          <a:prstGeom prst="rect">
            <a:avLst/>
          </a:prstGeom>
          <a:noFill/>
        </p:spPr>
        <p:txBody>
          <a:bodyPr wrap="square">
            <a:spAutoFit/>
          </a:bodyPr>
          <a:lstStyle/>
          <a:p>
            <a:pPr indent="0" algn="just">
              <a:lnSpc>
                <a:spcPct val="150000"/>
              </a:lnSpc>
              <a:buNone/>
            </a:pPr>
            <a:r>
              <a:rPr lang="en-IN" b="1" i="0" u="sng" dirty="0">
                <a:solidFill>
                  <a:srgbClr val="000000"/>
                </a:solidFill>
                <a:effectLst/>
                <a:latin typeface="Times New Roman" panose="02020603050405020304" pitchFamily="18" charset="0"/>
              </a:rPr>
              <a:t>Single rotations</a:t>
            </a:r>
          </a:p>
          <a:p>
            <a:pPr indent="0" algn="just">
              <a:lnSpc>
                <a:spcPct val="150000"/>
              </a:lnSpc>
              <a:buNone/>
            </a:pPr>
            <a:r>
              <a:rPr lang="en-IN" b="0" i="0" dirty="0">
                <a:solidFill>
                  <a:srgbClr val="000000"/>
                </a:solidFill>
                <a:effectLst/>
                <a:latin typeface="Times New Roman" panose="02020603050405020304" pitchFamily="18" charset="0"/>
              </a:rPr>
              <a:t>After an insertion or deletion, the algorithm performs </a:t>
            </a:r>
            <a:r>
              <a:rPr lang="en-IN" b="0" i="1" dirty="0">
                <a:solidFill>
                  <a:srgbClr val="0000FF"/>
                </a:solidFill>
                <a:effectLst/>
                <a:latin typeface="Times New Roman" panose="02020603050405020304" pitchFamily="18" charset="0"/>
              </a:rPr>
              <a:t>rotations</a:t>
            </a:r>
            <a:r>
              <a:rPr lang="en-IN" b="0" i="0" dirty="0">
                <a:solidFill>
                  <a:srgbClr val="000000"/>
                </a:solidFill>
                <a:effectLst/>
                <a:latin typeface="Times New Roman" panose="02020603050405020304" pitchFamily="18" charset="0"/>
              </a:rPr>
              <a:t> where necessary along the path that it followed to the point of a change, </a:t>
            </a:r>
            <a:r>
              <a:rPr lang="en-IN" b="1" i="1" dirty="0">
                <a:solidFill>
                  <a:srgbClr val="0000A0"/>
                </a:solidFill>
                <a:effectLst/>
                <a:latin typeface="Times New Roman" panose="02020603050405020304" pitchFamily="18" charset="0"/>
              </a:rPr>
              <a:t>from bottom to top</a:t>
            </a:r>
            <a:r>
              <a:rPr lang="en-IN" b="0" i="0" dirty="0">
                <a:solidFill>
                  <a:srgbClr val="000000"/>
                </a:solidFill>
                <a:effectLst/>
                <a:latin typeface="Times New Roman" panose="02020603050405020304" pitchFamily="18" charset="0"/>
              </a:rPr>
              <a:t>. If a node is already height-balanced, no rotation is called for.</a:t>
            </a:r>
          </a:p>
          <a:p>
            <a:pPr indent="0" algn="just">
              <a:lnSpc>
                <a:spcPct val="150000"/>
              </a:lnSpc>
              <a:buNone/>
            </a:pPr>
            <a:r>
              <a:rPr lang="en-IN" b="0" i="0" dirty="0">
                <a:solidFill>
                  <a:srgbClr val="000000"/>
                </a:solidFill>
                <a:effectLst/>
                <a:latin typeface="Times New Roman" panose="02020603050405020304" pitchFamily="18" charset="0"/>
              </a:rPr>
              <a:t>The only interesting case is a node </a:t>
            </a:r>
            <a:r>
              <a:rPr lang="en-IN" b="0" i="1" dirty="0">
                <a:solidFill>
                  <a:srgbClr val="000000"/>
                </a:solidFill>
                <a:effectLst/>
                <a:latin typeface="Times New Roman" panose="02020603050405020304" pitchFamily="18" charset="0"/>
              </a:rPr>
              <a:t>v</a:t>
            </a:r>
            <a:r>
              <a:rPr lang="en-IN" b="0" i="0" dirty="0">
                <a:solidFill>
                  <a:srgbClr val="000000"/>
                </a:solidFill>
                <a:effectLst/>
                <a:latin typeface="Times New Roman" panose="02020603050405020304" pitchFamily="18" charset="0"/>
              </a:rPr>
              <a:t> that is not height-balanced, but whose subtrees are height-balanced (made so on the way up). Because only one insertion or deletion has been done, the height of a node can only change by 1. So the heights of the two subtrees of </a:t>
            </a:r>
            <a:r>
              <a:rPr lang="en-IN" b="0" i="1" dirty="0">
                <a:solidFill>
                  <a:srgbClr val="000000"/>
                </a:solidFill>
                <a:effectLst/>
                <a:latin typeface="Times New Roman" panose="02020603050405020304" pitchFamily="18" charset="0"/>
              </a:rPr>
              <a:t>v</a:t>
            </a:r>
            <a:r>
              <a:rPr lang="en-IN" b="0" i="0" dirty="0">
                <a:solidFill>
                  <a:srgbClr val="000000"/>
                </a:solidFill>
                <a:effectLst/>
                <a:latin typeface="Times New Roman" panose="02020603050405020304" pitchFamily="18" charset="0"/>
              </a:rPr>
              <a:t> must differ by exactly 2. (If the height difference is less than 2, </a:t>
            </a:r>
            <a:r>
              <a:rPr lang="en-IN" b="0" i="1" dirty="0">
                <a:solidFill>
                  <a:srgbClr val="000000"/>
                </a:solidFill>
                <a:effectLst/>
                <a:latin typeface="Times New Roman" panose="02020603050405020304" pitchFamily="18" charset="0"/>
              </a:rPr>
              <a:t>v</a:t>
            </a:r>
            <a:r>
              <a:rPr lang="en-IN" b="0" i="0" dirty="0">
                <a:solidFill>
                  <a:srgbClr val="000000"/>
                </a:solidFill>
                <a:effectLst/>
                <a:latin typeface="Times New Roman" panose="02020603050405020304" pitchFamily="18" charset="0"/>
              </a:rPr>
              <a:t> is already height-balanced. More than 2 would require changing a node's height by more than 1.)</a:t>
            </a:r>
          </a:p>
          <a:p>
            <a:pPr indent="0" algn="just">
              <a:lnSpc>
                <a:spcPct val="150000"/>
              </a:lnSpc>
              <a:buNone/>
            </a:pPr>
            <a:r>
              <a:rPr lang="en-IN" b="0" i="0" dirty="0">
                <a:solidFill>
                  <a:srgbClr val="000000"/>
                </a:solidFill>
                <a:effectLst/>
                <a:latin typeface="Times New Roman" panose="02020603050405020304" pitchFamily="18" charset="0"/>
              </a:rPr>
              <a:t>Suppose that </a:t>
            </a:r>
            <a:r>
              <a:rPr lang="en-IN" b="0" i="1" dirty="0">
                <a:solidFill>
                  <a:srgbClr val="000000"/>
                </a:solidFill>
                <a:effectLst/>
                <a:latin typeface="Times New Roman" panose="02020603050405020304" pitchFamily="18" charset="0"/>
              </a:rPr>
              <a:t>v</a:t>
            </a:r>
            <a:r>
              <a:rPr lang="en-IN" b="0" i="0" dirty="0">
                <a:solidFill>
                  <a:srgbClr val="000000"/>
                </a:solidFill>
                <a:effectLst/>
                <a:latin typeface="Times New Roman" panose="02020603050405020304" pitchFamily="18" charset="0"/>
              </a:rPr>
              <a:t> is the root of a subtree </a:t>
            </a:r>
            <a:r>
              <a:rPr lang="en-IN" b="0" i="1" dirty="0">
                <a:solidFill>
                  <a:srgbClr val="000000"/>
                </a:solidFill>
                <a:effectLst/>
                <a:latin typeface="Times New Roman" panose="02020603050405020304" pitchFamily="18" charset="0"/>
              </a:rPr>
              <a:t>T</a:t>
            </a:r>
            <a:r>
              <a:rPr lang="en-IN" b="0" i="0" dirty="0">
                <a:solidFill>
                  <a:srgbClr val="000000"/>
                </a:solidFill>
                <a:effectLst/>
                <a:latin typeface="Times New Roman" panose="02020603050405020304" pitchFamily="18" charset="0"/>
              </a:rPr>
              <a:t> whose left subtree has height </a:t>
            </a:r>
            <a:r>
              <a:rPr lang="en-IN" b="0" i="1" dirty="0">
                <a:solidFill>
                  <a:srgbClr val="000000"/>
                </a:solidFill>
                <a:effectLst/>
                <a:latin typeface="Times New Roman" panose="02020603050405020304" pitchFamily="18" charset="0"/>
              </a:rPr>
              <a:t>h</a:t>
            </a:r>
            <a:r>
              <a:rPr lang="en-IN" b="0" i="0" dirty="0">
                <a:solidFill>
                  <a:srgbClr val="000000"/>
                </a:solidFill>
                <a:effectLst/>
                <a:latin typeface="Times New Roman" panose="02020603050405020304" pitchFamily="18" charset="0"/>
              </a:rPr>
              <a:t>+2 and whose right subtree of height </a:t>
            </a:r>
            <a:r>
              <a:rPr lang="en-IN" b="0" i="1" dirty="0">
                <a:solidFill>
                  <a:srgbClr val="000000"/>
                </a:solidFill>
                <a:effectLst/>
                <a:latin typeface="Times New Roman" panose="02020603050405020304" pitchFamily="18" charset="0"/>
              </a:rPr>
              <a:t>h</a:t>
            </a:r>
            <a:r>
              <a:rPr lang="en-IN" b="0" i="0" dirty="0">
                <a:solidFill>
                  <a:srgbClr val="000000"/>
                </a:solidFill>
                <a:effectLst/>
                <a:latin typeface="Times New Roman" panose="02020603050405020304" pitchFamily="18" charset="0"/>
              </a:rPr>
              <a:t>. One scheme for restoring balance is a </a:t>
            </a:r>
            <a:r>
              <a:rPr lang="en-IN" b="0" i="1" dirty="0">
                <a:solidFill>
                  <a:srgbClr val="0000FF"/>
                </a:solidFill>
                <a:effectLst/>
                <a:latin typeface="Times New Roman" panose="02020603050405020304" pitchFamily="18" charset="0"/>
              </a:rPr>
              <a:t>single rotation</a:t>
            </a:r>
            <a:r>
              <a:rPr lang="en-IN" b="0" i="0" dirty="0">
                <a:solidFill>
                  <a:srgbClr val="000000"/>
                </a:solidFill>
                <a:effectLst/>
                <a:latin typeface="Times New Roman" panose="02020603050405020304" pitchFamily="18" charset="0"/>
              </a:rPr>
              <a:t>, which works as follows. Here, </a:t>
            </a:r>
            <a:r>
              <a:rPr lang="en-IN" b="0" i="1" dirty="0">
                <a:solidFill>
                  <a:srgbClr val="000000"/>
                </a:solidFill>
                <a:effectLst/>
                <a:latin typeface="Times New Roman" panose="02020603050405020304" pitchFamily="18" charset="0"/>
              </a:rPr>
              <a:t>x</a:t>
            </a:r>
            <a:r>
              <a:rPr lang="en-IN" b="0" i="0" dirty="0">
                <a:solidFill>
                  <a:srgbClr val="000000"/>
                </a:solidFill>
                <a:effectLst/>
                <a:latin typeface="Times New Roman" panose="02020603050405020304" pitchFamily="18" charset="0"/>
              </a:rPr>
              <a:t> and </a:t>
            </a:r>
            <a:r>
              <a:rPr lang="en-IN" b="0" i="1" dirty="0">
                <a:solidFill>
                  <a:srgbClr val="000000"/>
                </a:solidFill>
                <a:effectLst/>
                <a:latin typeface="Times New Roman" panose="02020603050405020304" pitchFamily="18" charset="0"/>
              </a:rPr>
              <a:t>y</a:t>
            </a:r>
            <a:r>
              <a:rPr lang="en-IN" b="0" i="0" dirty="0">
                <a:solidFill>
                  <a:srgbClr val="000000"/>
                </a:solidFill>
                <a:effectLst/>
                <a:latin typeface="Times New Roman" panose="02020603050405020304" pitchFamily="18" charset="0"/>
              </a:rPr>
              <a:t> are integers representing nodes and </a:t>
            </a:r>
            <a:r>
              <a:rPr lang="en-IN" b="0" i="1" dirty="0">
                <a:solidFill>
                  <a:srgbClr val="000000"/>
                </a:solidFill>
                <a:effectLst/>
                <a:latin typeface="Times New Roman" panose="02020603050405020304" pitchFamily="18" charset="0"/>
              </a:rPr>
              <a:t>A</a:t>
            </a:r>
            <a:r>
              <a:rPr lang="en-IN" b="0" i="0" dirty="0">
                <a:solidFill>
                  <a:srgbClr val="000000"/>
                </a:solidFill>
                <a:effectLst/>
                <a:latin typeface="Times New Roman" panose="02020603050405020304" pitchFamily="18" charset="0"/>
              </a:rPr>
              <a:t>, </a:t>
            </a:r>
            <a:r>
              <a:rPr lang="en-IN" b="0" i="1" dirty="0">
                <a:solidFill>
                  <a:srgbClr val="000000"/>
                </a:solidFill>
                <a:effectLst/>
                <a:latin typeface="Times New Roman" panose="02020603050405020304" pitchFamily="18" charset="0"/>
              </a:rPr>
              <a:t>B</a:t>
            </a:r>
            <a:r>
              <a:rPr lang="en-IN" b="0" i="0" dirty="0">
                <a:solidFill>
                  <a:srgbClr val="000000"/>
                </a:solidFill>
                <a:effectLst/>
                <a:latin typeface="Times New Roman" panose="02020603050405020304" pitchFamily="18" charset="0"/>
              </a:rPr>
              <a:t> and </a:t>
            </a:r>
            <a:r>
              <a:rPr lang="en-IN" b="0" i="1" dirty="0">
                <a:solidFill>
                  <a:srgbClr val="000000"/>
                </a:solidFill>
                <a:effectLst/>
                <a:latin typeface="Times New Roman" panose="02020603050405020304" pitchFamily="18" charset="0"/>
              </a:rPr>
              <a:t>C</a:t>
            </a:r>
            <a:r>
              <a:rPr lang="en-IN" b="0" i="0" dirty="0">
                <a:solidFill>
                  <a:srgbClr val="000000"/>
                </a:solidFill>
                <a:effectLst/>
                <a:latin typeface="Times New Roman" panose="02020603050405020304" pitchFamily="18" charset="0"/>
              </a:rPr>
              <a:t> are subtrees.</a:t>
            </a:r>
          </a:p>
        </p:txBody>
      </p:sp>
      <p:pic>
        <p:nvPicPr>
          <p:cNvPr id="8" name="Picture 7">
            <a:extLst>
              <a:ext uri="{FF2B5EF4-FFF2-40B4-BE49-F238E27FC236}">
                <a16:creationId xmlns:a16="http://schemas.microsoft.com/office/drawing/2014/main" id="{55F74C0C-DE51-C15A-425A-DD8FE8494A24}"/>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445759" y="5027564"/>
            <a:ext cx="4154805" cy="1495155"/>
          </a:xfrm>
          <a:prstGeom prst="rect">
            <a:avLst/>
          </a:prstGeom>
        </p:spPr>
      </p:pic>
    </p:spTree>
    <p:extLst>
      <p:ext uri="{BB962C8B-B14F-4D97-AF65-F5344CB8AC3E}">
        <p14:creationId xmlns:p14="http://schemas.microsoft.com/office/powerpoint/2010/main" val="2222384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D16A98-C305-2A75-B818-B413635AB1A0}"/>
              </a:ext>
            </a:extLst>
          </p:cNvPr>
          <p:cNvSpPr txBox="1"/>
          <p:nvPr/>
        </p:nvSpPr>
        <p:spPr>
          <a:xfrm>
            <a:off x="1559560" y="335281"/>
            <a:ext cx="9072880" cy="584775"/>
          </a:xfrm>
          <a:prstGeom prst="rect">
            <a:avLst/>
          </a:prstGeom>
          <a:noFill/>
        </p:spPr>
        <p:txBody>
          <a:bodyPr wrap="square">
            <a:spAutoFit/>
          </a:bodyPr>
          <a:lstStyle/>
          <a:p>
            <a:pPr indent="0" algn="ctr">
              <a:buNone/>
            </a:pPr>
            <a:r>
              <a:rPr lang="en-IN" sz="3200" b="1" i="0" dirty="0">
                <a:solidFill>
                  <a:srgbClr val="000000"/>
                </a:solidFill>
                <a:effectLst/>
                <a:latin typeface="Times New Roman" panose="02020603050405020304" pitchFamily="18" charset="0"/>
              </a:rPr>
              <a:t>Rotations</a:t>
            </a:r>
            <a:endParaRPr lang="en-IN" sz="3200" dirty="0"/>
          </a:p>
        </p:txBody>
      </p:sp>
      <p:sp>
        <p:nvSpPr>
          <p:cNvPr id="5" name="TextBox 4">
            <a:extLst>
              <a:ext uri="{FF2B5EF4-FFF2-40B4-BE49-F238E27FC236}">
                <a16:creationId xmlns:a16="http://schemas.microsoft.com/office/drawing/2014/main" id="{32E6228B-D14F-A2BA-B373-7B476B11E2A0}"/>
              </a:ext>
            </a:extLst>
          </p:cNvPr>
          <p:cNvSpPr txBox="1"/>
          <p:nvPr/>
        </p:nvSpPr>
        <p:spPr>
          <a:xfrm>
            <a:off x="990600" y="1148140"/>
            <a:ext cx="10210800" cy="2951064"/>
          </a:xfrm>
          <a:prstGeom prst="rect">
            <a:avLst/>
          </a:prstGeom>
          <a:noFill/>
        </p:spPr>
        <p:txBody>
          <a:bodyPr wrap="square">
            <a:spAutoFit/>
          </a:bodyPr>
          <a:lstStyle/>
          <a:p>
            <a:pPr indent="0" algn="just">
              <a:lnSpc>
                <a:spcPct val="150000"/>
              </a:lnSpc>
              <a:buNone/>
            </a:pPr>
            <a:r>
              <a:rPr lang="en-IN" sz="1800" b="0" i="0" dirty="0">
                <a:solidFill>
                  <a:srgbClr val="000000"/>
                </a:solidFill>
                <a:effectLst/>
                <a:latin typeface="Times New Roman" panose="02020603050405020304" pitchFamily="18" charset="0"/>
              </a:rPr>
              <a:t>It is easy to check that a single rotation preserves the ordering requirement for a binary search tree. For example, based on the position of subtree </a:t>
            </a:r>
            <a:r>
              <a:rPr lang="en-IN" sz="1800" b="0" i="1" dirty="0">
                <a:solidFill>
                  <a:srgbClr val="000000"/>
                </a:solidFill>
                <a:effectLst/>
                <a:latin typeface="Times New Roman" panose="02020603050405020304" pitchFamily="18" charset="0"/>
              </a:rPr>
              <a:t>B</a:t>
            </a:r>
            <a:r>
              <a:rPr lang="en-IN" sz="1800" b="0" i="0" dirty="0">
                <a:solidFill>
                  <a:srgbClr val="000000"/>
                </a:solidFill>
                <a:effectLst/>
                <a:latin typeface="Times New Roman" panose="02020603050405020304" pitchFamily="18" charset="0"/>
              </a:rPr>
              <a:t> in the left-hand tree, all values in </a:t>
            </a:r>
            <a:r>
              <a:rPr lang="en-IN" sz="1800" b="0" i="1" dirty="0">
                <a:solidFill>
                  <a:srgbClr val="000000"/>
                </a:solidFill>
                <a:effectLst/>
                <a:latin typeface="Times New Roman" panose="02020603050405020304" pitchFamily="18" charset="0"/>
              </a:rPr>
              <a:t>B</a:t>
            </a:r>
            <a:r>
              <a:rPr lang="en-IN" sz="1800" b="0" i="0" dirty="0">
                <a:solidFill>
                  <a:srgbClr val="000000"/>
                </a:solidFill>
                <a:effectLst/>
                <a:latin typeface="Times New Roman" panose="02020603050405020304" pitchFamily="18" charset="0"/>
              </a:rPr>
              <a:t> must be &lt;</a:t>
            </a:r>
            <a:r>
              <a:rPr lang="en-IN" sz="1800" b="0" i="1" dirty="0">
                <a:solidFill>
                  <a:srgbClr val="000000"/>
                </a:solidFill>
                <a:effectLst/>
                <a:latin typeface="Times New Roman" panose="02020603050405020304" pitchFamily="18" charset="0"/>
              </a:rPr>
              <a:t>x</a:t>
            </a:r>
            <a:r>
              <a:rPr lang="en-IN" sz="1800" b="0" i="0" dirty="0">
                <a:solidFill>
                  <a:srgbClr val="000000"/>
                </a:solidFill>
                <a:effectLst/>
                <a:latin typeface="Times New Roman" panose="02020603050405020304" pitchFamily="18" charset="0"/>
              </a:rPr>
              <a:t> and &gt;</a:t>
            </a:r>
            <a:r>
              <a:rPr lang="en-IN" sz="1800" b="0" i="1" dirty="0">
                <a:solidFill>
                  <a:srgbClr val="000000"/>
                </a:solidFill>
                <a:effectLst/>
                <a:latin typeface="Times New Roman" panose="02020603050405020304" pitchFamily="18" charset="0"/>
              </a:rPr>
              <a:t>y</a:t>
            </a:r>
            <a:r>
              <a:rPr lang="en-IN" sz="1800" b="0" i="0" dirty="0">
                <a:solidFill>
                  <a:srgbClr val="000000"/>
                </a:solidFill>
                <a:effectLst/>
                <a:latin typeface="Times New Roman" panose="02020603050405020304" pitchFamily="18" charset="0"/>
              </a:rPr>
              <a:t>. That is just what is required of </a:t>
            </a:r>
            <a:r>
              <a:rPr lang="en-IN" sz="1800" b="0" i="1" dirty="0">
                <a:solidFill>
                  <a:srgbClr val="000000"/>
                </a:solidFill>
                <a:effectLst/>
                <a:latin typeface="Times New Roman" panose="02020603050405020304" pitchFamily="18" charset="0"/>
              </a:rPr>
              <a:t>B</a:t>
            </a:r>
            <a:r>
              <a:rPr lang="en-IN" sz="1800" b="0" i="0" dirty="0">
                <a:solidFill>
                  <a:srgbClr val="000000"/>
                </a:solidFill>
                <a:effectLst/>
                <a:latin typeface="Times New Roman" panose="02020603050405020304" pitchFamily="18" charset="0"/>
              </a:rPr>
              <a:t> in the right-hand tree.</a:t>
            </a:r>
          </a:p>
          <a:p>
            <a:pPr indent="0" algn="just">
              <a:lnSpc>
                <a:spcPct val="150000"/>
              </a:lnSpc>
              <a:buNone/>
            </a:pPr>
            <a:r>
              <a:rPr lang="en-IN" sz="1800" b="0" i="0" dirty="0">
                <a:solidFill>
                  <a:srgbClr val="000000"/>
                </a:solidFill>
                <a:effectLst/>
                <a:latin typeface="Times New Roman" panose="02020603050405020304" pitchFamily="18" charset="0"/>
              </a:rPr>
              <a:t>There is a similar single rotation to use when the left subtree has height </a:t>
            </a:r>
            <a:r>
              <a:rPr lang="en-IN" sz="1800" b="0" i="1" dirty="0">
                <a:solidFill>
                  <a:srgbClr val="000000"/>
                </a:solidFill>
                <a:effectLst/>
                <a:latin typeface="Times New Roman" panose="02020603050405020304" pitchFamily="18" charset="0"/>
              </a:rPr>
              <a:t>h</a:t>
            </a:r>
            <a:r>
              <a:rPr lang="en-IN" sz="1800" b="0" i="0" dirty="0">
                <a:solidFill>
                  <a:srgbClr val="000000"/>
                </a:solidFill>
                <a:effectLst/>
                <a:latin typeface="Times New Roman" panose="02020603050405020304" pitchFamily="18" charset="0"/>
              </a:rPr>
              <a:t> and the right subtree has height </a:t>
            </a:r>
            <a:r>
              <a:rPr lang="en-IN" sz="1800" b="0" i="1" dirty="0">
                <a:solidFill>
                  <a:srgbClr val="000000"/>
                </a:solidFill>
                <a:effectLst/>
                <a:latin typeface="Times New Roman" panose="02020603050405020304" pitchFamily="18" charset="0"/>
              </a:rPr>
              <a:t>h</a:t>
            </a:r>
            <a:r>
              <a:rPr lang="en-IN" sz="1800" b="0" i="0" dirty="0">
                <a:solidFill>
                  <a:srgbClr val="000000"/>
                </a:solidFill>
                <a:effectLst/>
                <a:latin typeface="Times New Roman" panose="02020603050405020304" pitchFamily="18" charset="0"/>
              </a:rPr>
              <a:t>+2. It just does the rotation above backwards, from right to left.</a:t>
            </a:r>
          </a:p>
          <a:p>
            <a:pPr indent="0" algn="just">
              <a:lnSpc>
                <a:spcPct val="150000"/>
              </a:lnSpc>
              <a:buNone/>
            </a:pPr>
            <a:r>
              <a:rPr lang="en-IN" sz="1800" b="0" i="0" dirty="0">
                <a:solidFill>
                  <a:srgbClr val="000000"/>
                </a:solidFill>
                <a:effectLst/>
                <a:latin typeface="Times New Roman" panose="02020603050405020304" pitchFamily="18" charset="0"/>
              </a:rPr>
              <a:t>The big question is whether performing a single rotation does any good. Is the tree surely height-balanced after doing it? We start with the following tree </a:t>
            </a:r>
            <a:r>
              <a:rPr lang="en-IN" sz="1800" b="0" i="1" dirty="0">
                <a:solidFill>
                  <a:srgbClr val="000000"/>
                </a:solidFill>
                <a:effectLst/>
                <a:latin typeface="Times New Roman" panose="02020603050405020304" pitchFamily="18" charset="0"/>
              </a:rPr>
              <a:t>T</a:t>
            </a:r>
            <a:r>
              <a:rPr lang="en-IN" sz="1800" b="0" i="0" dirty="0">
                <a:solidFill>
                  <a:srgbClr val="000000"/>
                </a:solidFill>
                <a:effectLst/>
                <a:latin typeface="Times New Roman" panose="02020603050405020304" pitchFamily="18" charset="0"/>
              </a:rPr>
              <a:t>.</a:t>
            </a:r>
          </a:p>
        </p:txBody>
      </p:sp>
      <p:pic>
        <p:nvPicPr>
          <p:cNvPr id="6" name="Picture 5">
            <a:extLst>
              <a:ext uri="{FF2B5EF4-FFF2-40B4-BE49-F238E27FC236}">
                <a16:creationId xmlns:a16="http://schemas.microsoft.com/office/drawing/2014/main" id="{EFD72AD7-E077-28D7-A62A-59F1273CE4D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586480" y="4327288"/>
            <a:ext cx="3345010" cy="1687432"/>
          </a:xfrm>
          <a:prstGeom prst="rect">
            <a:avLst/>
          </a:prstGeom>
        </p:spPr>
      </p:pic>
    </p:spTree>
    <p:extLst>
      <p:ext uri="{BB962C8B-B14F-4D97-AF65-F5344CB8AC3E}">
        <p14:creationId xmlns:p14="http://schemas.microsoft.com/office/powerpoint/2010/main" val="630635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466FB-03E0-7755-749B-57AD9267D8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7AF8D5-7BD2-1F72-2D3A-1F45337BFD79}"/>
              </a:ext>
            </a:extLst>
          </p:cNvPr>
          <p:cNvSpPr txBox="1"/>
          <p:nvPr/>
        </p:nvSpPr>
        <p:spPr>
          <a:xfrm>
            <a:off x="1559560" y="335281"/>
            <a:ext cx="9072880" cy="584775"/>
          </a:xfrm>
          <a:prstGeom prst="rect">
            <a:avLst/>
          </a:prstGeom>
          <a:noFill/>
        </p:spPr>
        <p:txBody>
          <a:bodyPr wrap="square">
            <a:spAutoFit/>
          </a:bodyPr>
          <a:lstStyle/>
          <a:p>
            <a:pPr indent="0" algn="ctr">
              <a:buNone/>
            </a:pPr>
            <a:r>
              <a:rPr lang="en-IN" sz="3200" b="1" i="0" dirty="0">
                <a:solidFill>
                  <a:srgbClr val="000000"/>
                </a:solidFill>
                <a:effectLst/>
                <a:latin typeface="Times New Roman" panose="02020603050405020304" pitchFamily="18" charset="0"/>
              </a:rPr>
              <a:t>Rotations</a:t>
            </a:r>
            <a:endParaRPr lang="en-IN" sz="3200" dirty="0"/>
          </a:p>
        </p:txBody>
      </p:sp>
      <p:sp>
        <p:nvSpPr>
          <p:cNvPr id="4" name="TextBox 3">
            <a:extLst>
              <a:ext uri="{FF2B5EF4-FFF2-40B4-BE49-F238E27FC236}">
                <a16:creationId xmlns:a16="http://schemas.microsoft.com/office/drawing/2014/main" id="{23802759-10B2-34C6-0ECE-C783A46B2269}"/>
              </a:ext>
            </a:extLst>
          </p:cNvPr>
          <p:cNvSpPr txBox="1"/>
          <p:nvPr/>
        </p:nvSpPr>
        <p:spPr>
          <a:xfrm>
            <a:off x="599440" y="920056"/>
            <a:ext cx="10789920" cy="5444054"/>
          </a:xfrm>
          <a:prstGeom prst="rect">
            <a:avLst/>
          </a:prstGeom>
          <a:noFill/>
        </p:spPr>
        <p:txBody>
          <a:bodyPr wrap="square">
            <a:spAutoFit/>
          </a:bodyPr>
          <a:lstStyle/>
          <a:p>
            <a:pPr indent="0" algn="l">
              <a:lnSpc>
                <a:spcPct val="150000"/>
              </a:lnSpc>
              <a:buNone/>
            </a:pPr>
            <a:r>
              <a:rPr lang="en-IN" sz="1800" b="0" i="0" dirty="0">
                <a:solidFill>
                  <a:srgbClr val="000000"/>
                </a:solidFill>
                <a:effectLst/>
                <a:latin typeface="Times New Roman" panose="02020603050405020304" pitchFamily="18" charset="0"/>
              </a:rPr>
              <a:t>At least one of trees </a:t>
            </a:r>
            <a:r>
              <a:rPr lang="en-IN" sz="1800" b="0" i="1" dirty="0">
                <a:solidFill>
                  <a:srgbClr val="000000"/>
                </a:solidFill>
                <a:effectLst/>
                <a:latin typeface="Times New Roman" panose="02020603050405020304" pitchFamily="18" charset="0"/>
              </a:rPr>
              <a:t>B</a:t>
            </a:r>
            <a:r>
              <a:rPr lang="en-IN" sz="1800" b="0" i="0" dirty="0">
                <a:solidFill>
                  <a:srgbClr val="000000"/>
                </a:solidFill>
                <a:effectLst/>
                <a:latin typeface="Times New Roman" panose="02020603050405020304" pitchFamily="18" charset="0"/>
              </a:rPr>
              <a:t> and </a:t>
            </a:r>
            <a:r>
              <a:rPr lang="en-IN" sz="1800" b="0" i="1" dirty="0">
                <a:solidFill>
                  <a:srgbClr val="000000"/>
                </a:solidFill>
                <a:effectLst/>
                <a:latin typeface="Times New Roman" panose="02020603050405020304" pitchFamily="18" charset="0"/>
              </a:rPr>
              <a:t>C</a:t>
            </a:r>
            <a:r>
              <a:rPr lang="en-IN" sz="1800" b="0" i="0" dirty="0">
                <a:solidFill>
                  <a:srgbClr val="000000"/>
                </a:solidFill>
                <a:effectLst/>
                <a:latin typeface="Times New Roman" panose="02020603050405020304" pitchFamily="18" charset="0"/>
              </a:rPr>
              <a:t> has height </a:t>
            </a:r>
            <a:r>
              <a:rPr lang="en-IN" sz="1800" b="0" i="1" dirty="0">
                <a:solidFill>
                  <a:srgbClr val="000000"/>
                </a:solidFill>
                <a:effectLst/>
                <a:latin typeface="Times New Roman" panose="02020603050405020304" pitchFamily="18" charset="0"/>
              </a:rPr>
              <a:t>h</a:t>
            </a:r>
            <a:r>
              <a:rPr lang="en-IN" sz="1800" b="0" i="0" dirty="0">
                <a:solidFill>
                  <a:srgbClr val="000000"/>
                </a:solidFill>
                <a:effectLst/>
                <a:latin typeface="Times New Roman" panose="02020603050405020304" pitchFamily="18" charset="0"/>
              </a:rPr>
              <a:t>+1, since otherwise node </a:t>
            </a:r>
            <a:r>
              <a:rPr lang="en-IN" sz="1800" b="0" i="1" dirty="0">
                <a:solidFill>
                  <a:srgbClr val="000000"/>
                </a:solidFill>
                <a:effectLst/>
                <a:latin typeface="Times New Roman" panose="02020603050405020304" pitchFamily="18" charset="0"/>
              </a:rPr>
              <a:t>y</a:t>
            </a:r>
            <a:r>
              <a:rPr lang="en-IN" sz="1800" b="0" i="0" dirty="0">
                <a:solidFill>
                  <a:srgbClr val="000000"/>
                </a:solidFill>
                <a:effectLst/>
                <a:latin typeface="Times New Roman" panose="02020603050405020304" pitchFamily="18" charset="0"/>
              </a:rPr>
              <a:t> could not have height </a:t>
            </a:r>
            <a:r>
              <a:rPr lang="en-IN" sz="1800" b="0" i="1" dirty="0">
                <a:solidFill>
                  <a:srgbClr val="000000"/>
                </a:solidFill>
                <a:effectLst/>
                <a:latin typeface="Times New Roman" panose="02020603050405020304" pitchFamily="18" charset="0"/>
              </a:rPr>
              <a:t>h</a:t>
            </a:r>
            <a:r>
              <a:rPr lang="en-IN" sz="1800" b="0" i="0" dirty="0">
                <a:solidFill>
                  <a:srgbClr val="000000"/>
                </a:solidFill>
                <a:effectLst/>
                <a:latin typeface="Times New Roman" panose="02020603050405020304" pitchFamily="18" charset="0"/>
              </a:rPr>
              <a:t>+2. The other one must have height </a:t>
            </a:r>
            <a:r>
              <a:rPr lang="en-IN" sz="1800" b="0" i="1" dirty="0">
                <a:solidFill>
                  <a:srgbClr val="000000"/>
                </a:solidFill>
                <a:effectLst/>
                <a:latin typeface="Times New Roman" panose="02020603050405020304" pitchFamily="18" charset="0"/>
              </a:rPr>
              <a:t>h</a:t>
            </a:r>
            <a:r>
              <a:rPr lang="en-IN" sz="1800" b="0" i="0" dirty="0">
                <a:solidFill>
                  <a:srgbClr val="000000"/>
                </a:solidFill>
                <a:effectLst/>
                <a:latin typeface="Times New Roman" panose="02020603050405020304" pitchFamily="18" charset="0"/>
              </a:rPr>
              <a:t> or </a:t>
            </a:r>
            <a:r>
              <a:rPr lang="en-IN" sz="1800" b="0" i="1" dirty="0">
                <a:solidFill>
                  <a:srgbClr val="000000"/>
                </a:solidFill>
                <a:effectLst/>
                <a:latin typeface="Times New Roman" panose="02020603050405020304" pitchFamily="18" charset="0"/>
              </a:rPr>
              <a:t>h</a:t>
            </a:r>
            <a:r>
              <a:rPr lang="en-IN" sz="1800" b="0" i="0" dirty="0">
                <a:solidFill>
                  <a:srgbClr val="000000"/>
                </a:solidFill>
                <a:effectLst/>
                <a:latin typeface="Times New Roman" panose="02020603050405020304" pitchFamily="18" charset="0"/>
              </a:rPr>
              <a:t>+1, since the tree rooted at </a:t>
            </a:r>
            <a:r>
              <a:rPr lang="en-IN" sz="1800" b="0" i="1" dirty="0">
                <a:solidFill>
                  <a:srgbClr val="000000"/>
                </a:solidFill>
                <a:effectLst/>
                <a:latin typeface="Times New Roman" panose="02020603050405020304" pitchFamily="18" charset="0"/>
              </a:rPr>
              <a:t>y</a:t>
            </a:r>
            <a:r>
              <a:rPr lang="en-IN" sz="1800" b="0" i="0" dirty="0">
                <a:solidFill>
                  <a:srgbClr val="000000"/>
                </a:solidFill>
                <a:effectLst/>
                <a:latin typeface="Times New Roman" panose="02020603050405020304" pitchFamily="18" charset="0"/>
              </a:rPr>
              <a:t> is height-balanced. So we know that each of trees </a:t>
            </a:r>
            <a:r>
              <a:rPr lang="en-IN" sz="1800" b="0" i="1" dirty="0">
                <a:solidFill>
                  <a:srgbClr val="000000"/>
                </a:solidFill>
                <a:effectLst/>
                <a:latin typeface="Times New Roman" panose="02020603050405020304" pitchFamily="18" charset="0"/>
              </a:rPr>
              <a:t>B</a:t>
            </a:r>
            <a:r>
              <a:rPr lang="en-IN" sz="1800" b="0" i="0" dirty="0">
                <a:solidFill>
                  <a:srgbClr val="000000"/>
                </a:solidFill>
                <a:effectLst/>
                <a:latin typeface="Times New Roman" panose="02020603050405020304" pitchFamily="18" charset="0"/>
              </a:rPr>
              <a:t> and </a:t>
            </a:r>
            <a:r>
              <a:rPr lang="en-IN" sz="1800" b="0" i="1" dirty="0">
                <a:solidFill>
                  <a:srgbClr val="000000"/>
                </a:solidFill>
                <a:effectLst/>
                <a:latin typeface="Times New Roman" panose="02020603050405020304" pitchFamily="18" charset="0"/>
              </a:rPr>
              <a:t>C</a:t>
            </a:r>
            <a:r>
              <a:rPr lang="en-IN" sz="1800" b="0" i="0" dirty="0">
                <a:solidFill>
                  <a:srgbClr val="000000"/>
                </a:solidFill>
                <a:effectLst/>
                <a:latin typeface="Times New Roman" panose="02020603050405020304" pitchFamily="18" charset="0"/>
              </a:rPr>
              <a:t> has height </a:t>
            </a:r>
            <a:r>
              <a:rPr lang="en-IN" sz="1800" b="0" i="1" dirty="0">
                <a:solidFill>
                  <a:srgbClr val="000000"/>
                </a:solidFill>
                <a:effectLst/>
                <a:latin typeface="Times New Roman" panose="02020603050405020304" pitchFamily="18" charset="0"/>
              </a:rPr>
              <a:t>h</a:t>
            </a:r>
            <a:r>
              <a:rPr lang="en-IN" sz="1800" b="0" i="0" dirty="0">
                <a:solidFill>
                  <a:srgbClr val="000000"/>
                </a:solidFill>
                <a:effectLst/>
                <a:latin typeface="Times New Roman" panose="02020603050405020304" pitchFamily="18" charset="0"/>
              </a:rPr>
              <a:t> or </a:t>
            </a:r>
            <a:r>
              <a:rPr lang="en-IN" sz="1800" b="0" i="1" dirty="0">
                <a:solidFill>
                  <a:srgbClr val="000000"/>
                </a:solidFill>
                <a:effectLst/>
                <a:latin typeface="Times New Roman" panose="02020603050405020304" pitchFamily="18" charset="0"/>
              </a:rPr>
              <a:t>h</a:t>
            </a:r>
            <a:r>
              <a:rPr lang="en-IN" sz="1800" b="0" i="0" dirty="0">
                <a:solidFill>
                  <a:srgbClr val="000000"/>
                </a:solidFill>
                <a:effectLst/>
                <a:latin typeface="Times New Roman" panose="02020603050405020304" pitchFamily="18" charset="0"/>
              </a:rPr>
              <a:t>+1. After performing the single rotation we get the following.</a:t>
            </a:r>
          </a:p>
          <a:p>
            <a:pPr indent="0" algn="l">
              <a:lnSpc>
                <a:spcPct val="150000"/>
              </a:lnSpc>
              <a:buNone/>
            </a:pPr>
            <a:endParaRPr lang="en-IN" dirty="0">
              <a:solidFill>
                <a:srgbClr val="000000"/>
              </a:solidFill>
              <a:latin typeface="Times New Roman" panose="02020603050405020304" pitchFamily="18" charset="0"/>
            </a:endParaRPr>
          </a:p>
          <a:p>
            <a:pPr indent="0" algn="l">
              <a:lnSpc>
                <a:spcPct val="150000"/>
              </a:lnSpc>
              <a:buNone/>
            </a:pPr>
            <a:endParaRPr lang="en-IN" sz="1800" b="0" i="0" dirty="0">
              <a:solidFill>
                <a:srgbClr val="000000"/>
              </a:solidFill>
              <a:effectLst/>
              <a:latin typeface="Times New Roman" panose="02020603050405020304" pitchFamily="18" charset="0"/>
            </a:endParaRPr>
          </a:p>
          <a:p>
            <a:pPr indent="0" algn="l">
              <a:lnSpc>
                <a:spcPct val="150000"/>
              </a:lnSpc>
              <a:buNone/>
            </a:pPr>
            <a:endParaRPr lang="en-IN" dirty="0">
              <a:solidFill>
                <a:srgbClr val="000000"/>
              </a:solidFill>
              <a:latin typeface="Times New Roman" panose="02020603050405020304" pitchFamily="18" charset="0"/>
            </a:endParaRPr>
          </a:p>
          <a:p>
            <a:pPr indent="0" algn="l">
              <a:lnSpc>
                <a:spcPct val="150000"/>
              </a:lnSpc>
              <a:buNone/>
            </a:pPr>
            <a:endParaRPr lang="en-IN" sz="1800" b="0" i="0" dirty="0">
              <a:solidFill>
                <a:srgbClr val="000000"/>
              </a:solidFill>
              <a:effectLst/>
              <a:latin typeface="Times New Roman" panose="02020603050405020304" pitchFamily="18" charset="0"/>
            </a:endParaRPr>
          </a:p>
          <a:p>
            <a:pPr indent="0" algn="l">
              <a:lnSpc>
                <a:spcPct val="150000"/>
              </a:lnSpc>
              <a:buNone/>
            </a:pPr>
            <a:endParaRPr lang="en-IN" dirty="0">
              <a:solidFill>
                <a:srgbClr val="000000"/>
              </a:solidFill>
              <a:latin typeface="Times New Roman" panose="02020603050405020304" pitchFamily="18" charset="0"/>
            </a:endParaRPr>
          </a:p>
          <a:p>
            <a:pPr indent="0" algn="l">
              <a:lnSpc>
                <a:spcPct val="150000"/>
              </a:lnSpc>
              <a:buNone/>
            </a:pPr>
            <a:endParaRPr lang="en-IN" sz="1800" b="0" i="0" dirty="0">
              <a:solidFill>
                <a:srgbClr val="000000"/>
              </a:solidFill>
              <a:effectLst/>
              <a:latin typeface="Times New Roman" panose="02020603050405020304" pitchFamily="18" charset="0"/>
            </a:endParaRPr>
          </a:p>
          <a:p>
            <a:pPr indent="0" algn="l">
              <a:lnSpc>
                <a:spcPct val="150000"/>
              </a:lnSpc>
              <a:buNone/>
            </a:pPr>
            <a:r>
              <a:rPr lang="en-IN" sz="1800" b="0" i="0" dirty="0">
                <a:solidFill>
                  <a:srgbClr val="000000"/>
                </a:solidFill>
                <a:effectLst/>
                <a:latin typeface="Times New Roman" panose="02020603050405020304" pitchFamily="18" charset="0"/>
              </a:rPr>
              <a:t>Suppose that tree </a:t>
            </a:r>
            <a:r>
              <a:rPr lang="en-IN" sz="1800" b="0" i="1" dirty="0">
                <a:solidFill>
                  <a:srgbClr val="000000"/>
                </a:solidFill>
                <a:effectLst/>
                <a:latin typeface="Times New Roman" panose="02020603050405020304" pitchFamily="18" charset="0"/>
              </a:rPr>
              <a:t>B</a:t>
            </a:r>
            <a:r>
              <a:rPr lang="en-IN" sz="1800" b="0" i="0" dirty="0">
                <a:solidFill>
                  <a:srgbClr val="000000"/>
                </a:solidFill>
                <a:effectLst/>
                <a:latin typeface="Times New Roman" panose="02020603050405020304" pitchFamily="18" charset="0"/>
              </a:rPr>
              <a:t> has height </a:t>
            </a:r>
            <a:r>
              <a:rPr lang="en-IN" sz="1800" b="0" i="1" dirty="0">
                <a:solidFill>
                  <a:srgbClr val="000000"/>
                </a:solidFill>
                <a:effectLst/>
                <a:latin typeface="Times New Roman" panose="02020603050405020304" pitchFamily="18" charset="0"/>
              </a:rPr>
              <a:t>h</a:t>
            </a:r>
            <a:r>
              <a:rPr lang="en-IN" sz="1800" b="0" i="0" dirty="0">
                <a:solidFill>
                  <a:srgbClr val="000000"/>
                </a:solidFill>
                <a:effectLst/>
                <a:latin typeface="Times New Roman" panose="02020603050405020304" pitchFamily="18" charset="0"/>
              </a:rPr>
              <a:t>. Then the tree rooted at node </a:t>
            </a:r>
            <a:r>
              <a:rPr lang="en-IN" sz="1800" b="0" i="1" dirty="0">
                <a:solidFill>
                  <a:srgbClr val="000000"/>
                </a:solidFill>
                <a:effectLst/>
                <a:latin typeface="Times New Roman" panose="02020603050405020304" pitchFamily="18" charset="0"/>
              </a:rPr>
              <a:t>x</a:t>
            </a:r>
            <a:r>
              <a:rPr lang="en-IN" sz="1800" b="0" i="0" dirty="0">
                <a:solidFill>
                  <a:srgbClr val="000000"/>
                </a:solidFill>
                <a:effectLst/>
                <a:latin typeface="Times New Roman" panose="02020603050405020304" pitchFamily="18" charset="0"/>
              </a:rPr>
              <a:t> has height </a:t>
            </a:r>
            <a:r>
              <a:rPr lang="en-IN" sz="1800" b="0" i="1" dirty="0">
                <a:solidFill>
                  <a:srgbClr val="000000"/>
                </a:solidFill>
                <a:effectLst/>
                <a:latin typeface="Times New Roman" panose="02020603050405020304" pitchFamily="18" charset="0"/>
              </a:rPr>
              <a:t>h</a:t>
            </a:r>
            <a:r>
              <a:rPr lang="en-IN" sz="1800" b="0" i="0" dirty="0">
                <a:solidFill>
                  <a:srgbClr val="000000"/>
                </a:solidFill>
                <a:effectLst/>
                <a:latin typeface="Times New Roman" panose="02020603050405020304" pitchFamily="18" charset="0"/>
              </a:rPr>
              <a:t>+1, and the entire tree is height-balanced.</a:t>
            </a:r>
          </a:p>
          <a:p>
            <a:pPr indent="0" algn="l">
              <a:lnSpc>
                <a:spcPct val="150000"/>
              </a:lnSpc>
              <a:buNone/>
            </a:pPr>
            <a:r>
              <a:rPr lang="en-IN" sz="1800" b="0" i="0" dirty="0">
                <a:solidFill>
                  <a:srgbClr val="000000"/>
                </a:solidFill>
                <a:effectLst/>
                <a:latin typeface="Times New Roman" panose="02020603050405020304" pitchFamily="18" charset="0"/>
              </a:rPr>
              <a:t>But suppose that tree </a:t>
            </a:r>
            <a:r>
              <a:rPr lang="en-IN" sz="1800" b="0" i="1" dirty="0">
                <a:solidFill>
                  <a:srgbClr val="000000"/>
                </a:solidFill>
                <a:effectLst/>
                <a:latin typeface="Times New Roman" panose="02020603050405020304" pitchFamily="18" charset="0"/>
              </a:rPr>
              <a:t>B</a:t>
            </a:r>
            <a:r>
              <a:rPr lang="en-IN" sz="1800" b="0" i="0" dirty="0">
                <a:solidFill>
                  <a:srgbClr val="000000"/>
                </a:solidFill>
                <a:effectLst/>
                <a:latin typeface="Times New Roman" panose="02020603050405020304" pitchFamily="18" charset="0"/>
              </a:rPr>
              <a:t> has height </a:t>
            </a:r>
            <a:r>
              <a:rPr lang="en-IN" sz="1800" b="0" i="1" dirty="0">
                <a:solidFill>
                  <a:srgbClr val="000000"/>
                </a:solidFill>
                <a:effectLst/>
                <a:latin typeface="Times New Roman" panose="02020603050405020304" pitchFamily="18" charset="0"/>
              </a:rPr>
              <a:t>h</a:t>
            </a:r>
            <a:r>
              <a:rPr lang="en-IN" sz="1800" b="0" i="0" dirty="0">
                <a:solidFill>
                  <a:srgbClr val="000000"/>
                </a:solidFill>
                <a:effectLst/>
                <a:latin typeface="Times New Roman" panose="02020603050405020304" pitchFamily="18" charset="0"/>
              </a:rPr>
              <a:t>+1. Then the subtree rooted as </a:t>
            </a:r>
            <a:r>
              <a:rPr lang="en-IN" sz="1800" b="0" i="1" dirty="0">
                <a:solidFill>
                  <a:srgbClr val="000000"/>
                </a:solidFill>
                <a:effectLst/>
                <a:latin typeface="Times New Roman" panose="02020603050405020304" pitchFamily="18" charset="0"/>
              </a:rPr>
              <a:t>x</a:t>
            </a:r>
            <a:r>
              <a:rPr lang="en-IN" sz="1800" b="0" i="0" dirty="0">
                <a:solidFill>
                  <a:srgbClr val="000000"/>
                </a:solidFill>
                <a:effectLst/>
                <a:latin typeface="Times New Roman" panose="02020603050405020304" pitchFamily="18" charset="0"/>
              </a:rPr>
              <a:t> has height </a:t>
            </a:r>
            <a:r>
              <a:rPr lang="en-IN" sz="1800" b="0" i="1" dirty="0">
                <a:solidFill>
                  <a:srgbClr val="000000"/>
                </a:solidFill>
                <a:effectLst/>
                <a:latin typeface="Times New Roman" panose="02020603050405020304" pitchFamily="18" charset="0"/>
              </a:rPr>
              <a:t>h</a:t>
            </a:r>
            <a:r>
              <a:rPr lang="en-IN" sz="1800" b="0" i="0" dirty="0">
                <a:solidFill>
                  <a:srgbClr val="000000"/>
                </a:solidFill>
                <a:effectLst/>
                <a:latin typeface="Times New Roman" panose="02020603050405020304" pitchFamily="18" charset="0"/>
              </a:rPr>
              <a:t>+2. If tree </a:t>
            </a:r>
            <a:r>
              <a:rPr lang="en-IN" sz="1800" b="0" i="1" dirty="0">
                <a:solidFill>
                  <a:srgbClr val="000000"/>
                </a:solidFill>
                <a:effectLst/>
                <a:latin typeface="Times New Roman" panose="02020603050405020304" pitchFamily="18" charset="0"/>
              </a:rPr>
              <a:t>C</a:t>
            </a:r>
            <a:r>
              <a:rPr lang="en-IN" sz="1800" b="0" i="0" dirty="0">
                <a:solidFill>
                  <a:srgbClr val="000000"/>
                </a:solidFill>
                <a:effectLst/>
                <a:latin typeface="Times New Roman" panose="02020603050405020304" pitchFamily="18" charset="0"/>
              </a:rPr>
              <a:t> has height </a:t>
            </a:r>
            <a:r>
              <a:rPr lang="en-IN" sz="1800" b="0" i="1" dirty="0">
                <a:solidFill>
                  <a:srgbClr val="000000"/>
                </a:solidFill>
                <a:effectLst/>
                <a:latin typeface="Times New Roman" panose="02020603050405020304" pitchFamily="18" charset="0"/>
              </a:rPr>
              <a:t>h</a:t>
            </a:r>
            <a:r>
              <a:rPr lang="en-IN" sz="1800" b="0" i="0" dirty="0">
                <a:solidFill>
                  <a:srgbClr val="000000"/>
                </a:solidFill>
                <a:effectLst/>
                <a:latin typeface="Times New Roman" panose="02020603050405020304" pitchFamily="18" charset="0"/>
              </a:rPr>
              <a:t>, the tree is not height-balanced. We need to do something else.</a:t>
            </a:r>
          </a:p>
        </p:txBody>
      </p:sp>
      <p:pic>
        <p:nvPicPr>
          <p:cNvPr id="7" name="Picture 6">
            <a:extLst>
              <a:ext uri="{FF2B5EF4-FFF2-40B4-BE49-F238E27FC236}">
                <a16:creationId xmlns:a16="http://schemas.microsoft.com/office/drawing/2014/main" id="{D9A5C37A-E34D-4168-CB26-236DBAF9C04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438842" y="2308919"/>
            <a:ext cx="5476875" cy="1952625"/>
          </a:xfrm>
          <a:prstGeom prst="rect">
            <a:avLst/>
          </a:prstGeom>
        </p:spPr>
      </p:pic>
    </p:spTree>
    <p:extLst>
      <p:ext uri="{BB962C8B-B14F-4D97-AF65-F5344CB8AC3E}">
        <p14:creationId xmlns:p14="http://schemas.microsoft.com/office/powerpoint/2010/main" val="2198038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B781C1-361B-1C5C-40A8-129C2135041E}"/>
              </a:ext>
            </a:extLst>
          </p:cNvPr>
          <p:cNvSpPr txBox="1"/>
          <p:nvPr/>
        </p:nvSpPr>
        <p:spPr>
          <a:xfrm>
            <a:off x="2804160" y="433964"/>
            <a:ext cx="6096000" cy="584775"/>
          </a:xfrm>
          <a:prstGeom prst="rect">
            <a:avLst/>
          </a:prstGeom>
          <a:noFill/>
        </p:spPr>
        <p:txBody>
          <a:bodyPr wrap="square">
            <a:spAutoFit/>
          </a:bodyPr>
          <a:lstStyle/>
          <a:p>
            <a:pPr marL="0" marR="0" indent="0" algn="ctr">
              <a:buNone/>
            </a:pPr>
            <a:r>
              <a:rPr lang="en-IN" sz="3200" b="1" i="0" dirty="0">
                <a:solidFill>
                  <a:srgbClr val="0C3762"/>
                </a:solidFill>
                <a:effectLst/>
                <a:latin typeface="Times New Roman" panose="02020603050405020304" pitchFamily="18" charset="0"/>
                <a:cs typeface="Times New Roman" panose="02020603050405020304" pitchFamily="18" charset="0"/>
              </a:rPr>
              <a:t>2-3 Trees</a:t>
            </a:r>
          </a:p>
        </p:txBody>
      </p:sp>
      <p:sp>
        <p:nvSpPr>
          <p:cNvPr id="5" name="TextBox 4">
            <a:extLst>
              <a:ext uri="{FF2B5EF4-FFF2-40B4-BE49-F238E27FC236}">
                <a16:creationId xmlns:a16="http://schemas.microsoft.com/office/drawing/2014/main" id="{9D086779-8B71-AB22-6F27-73456DCD1B10}"/>
              </a:ext>
            </a:extLst>
          </p:cNvPr>
          <p:cNvSpPr txBox="1"/>
          <p:nvPr/>
        </p:nvSpPr>
        <p:spPr>
          <a:xfrm>
            <a:off x="899160" y="1018739"/>
            <a:ext cx="10393680" cy="2806987"/>
          </a:xfrm>
          <a:prstGeom prst="rect">
            <a:avLst/>
          </a:prstGeom>
          <a:noFill/>
        </p:spPr>
        <p:txBody>
          <a:bodyPr wrap="square">
            <a:spAutoFit/>
          </a:bodyPr>
          <a:lstStyle/>
          <a:p>
            <a:pPr indent="0" algn="just">
              <a:lnSpc>
                <a:spcPct val="150000"/>
              </a:lnSpc>
              <a:buNone/>
            </a:pPr>
            <a:r>
              <a:rPr lang="en-IN" sz="2000" b="0" i="0" dirty="0">
                <a:solidFill>
                  <a:srgbClr val="333333"/>
                </a:solidFill>
                <a:effectLst/>
                <a:latin typeface="Times New Roman" panose="02020603050405020304" pitchFamily="18" charset="0"/>
                <a:cs typeface="Times New Roman" panose="02020603050405020304" pitchFamily="18" charset="0"/>
              </a:rPr>
              <a:t>This section presents a data structure called the 2-3 tree. The 2-3 tree is not a binary tree, but instead its shape obeys the following definition:</a:t>
            </a:r>
          </a:p>
          <a:p>
            <a:pPr indent="0" algn="just">
              <a:lnSpc>
                <a:spcPct val="150000"/>
              </a:lnSpc>
              <a:buFont typeface="+mj-lt"/>
              <a:buAutoNum type="arabicPeriod"/>
            </a:pPr>
            <a:r>
              <a:rPr lang="en-IN" sz="2000" b="0" i="0" dirty="0">
                <a:solidFill>
                  <a:srgbClr val="333333"/>
                </a:solidFill>
                <a:effectLst/>
                <a:latin typeface="Times New Roman" panose="02020603050405020304" pitchFamily="18" charset="0"/>
                <a:cs typeface="Times New Roman" panose="02020603050405020304" pitchFamily="18" charset="0"/>
              </a:rPr>
              <a:t> A node contains one or two keys.</a:t>
            </a:r>
          </a:p>
          <a:p>
            <a:pPr indent="0" algn="just">
              <a:lnSpc>
                <a:spcPct val="150000"/>
              </a:lnSpc>
              <a:buFont typeface="+mj-lt"/>
              <a:buAutoNum type="arabicPeriod"/>
            </a:pPr>
            <a:r>
              <a:rPr lang="en-IN" sz="2000" b="0" i="0" dirty="0">
                <a:solidFill>
                  <a:srgbClr val="333333"/>
                </a:solidFill>
                <a:effectLst/>
                <a:latin typeface="Times New Roman" panose="02020603050405020304" pitchFamily="18" charset="0"/>
                <a:cs typeface="Times New Roman" panose="02020603050405020304" pitchFamily="18" charset="0"/>
              </a:rPr>
              <a:t> Every internal node has either two children (if it contains one key) or three children (if it contains two keys). Hence the name.</a:t>
            </a:r>
          </a:p>
          <a:p>
            <a:pPr indent="0" algn="just">
              <a:lnSpc>
                <a:spcPct val="150000"/>
              </a:lnSpc>
              <a:buFont typeface="+mj-lt"/>
              <a:buAutoNum type="arabicPeriod"/>
            </a:pPr>
            <a:r>
              <a:rPr lang="en-IN" sz="2000" b="0" i="0" dirty="0">
                <a:solidFill>
                  <a:srgbClr val="333333"/>
                </a:solidFill>
                <a:effectLst/>
                <a:latin typeface="Times New Roman" panose="02020603050405020304" pitchFamily="18" charset="0"/>
                <a:cs typeface="Times New Roman" panose="02020603050405020304" pitchFamily="18" charset="0"/>
              </a:rPr>
              <a:t> All leaves are at the same level in the tree, so the tree is always height balanced.</a:t>
            </a:r>
          </a:p>
        </p:txBody>
      </p:sp>
      <p:pic>
        <p:nvPicPr>
          <p:cNvPr id="7" name="Picture 6">
            <a:extLst>
              <a:ext uri="{FF2B5EF4-FFF2-40B4-BE49-F238E27FC236}">
                <a16:creationId xmlns:a16="http://schemas.microsoft.com/office/drawing/2014/main" id="{8B741999-1CD7-2D3B-33BC-DDBED2517700}"/>
              </a:ext>
            </a:extLst>
          </p:cNvPr>
          <p:cNvPicPr>
            <a:picLocks noChangeAspect="1"/>
          </p:cNvPicPr>
          <p:nvPr/>
        </p:nvPicPr>
        <p:blipFill>
          <a:blip r:embed="rId2"/>
          <a:stretch>
            <a:fillRect/>
          </a:stretch>
        </p:blipFill>
        <p:spPr>
          <a:xfrm>
            <a:off x="2521902" y="3825726"/>
            <a:ext cx="7331075" cy="2149026"/>
          </a:xfrm>
          <a:prstGeom prst="rect">
            <a:avLst/>
          </a:prstGeom>
        </p:spPr>
      </p:pic>
    </p:spTree>
    <p:extLst>
      <p:ext uri="{BB962C8B-B14F-4D97-AF65-F5344CB8AC3E}">
        <p14:creationId xmlns:p14="http://schemas.microsoft.com/office/powerpoint/2010/main" val="1466240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5E95E8C-B6D9-5B6C-2A51-14EA2DB9AACD}"/>
              </a:ext>
            </a:extLst>
          </p:cNvPr>
          <p:cNvSpPr txBox="1"/>
          <p:nvPr/>
        </p:nvSpPr>
        <p:spPr>
          <a:xfrm>
            <a:off x="1574800" y="311835"/>
            <a:ext cx="9042400" cy="584775"/>
          </a:xfrm>
          <a:prstGeom prst="rect">
            <a:avLst/>
          </a:prstGeom>
          <a:noFill/>
        </p:spPr>
        <p:txBody>
          <a:bodyPr wrap="square">
            <a:spAutoFit/>
          </a:bodyPr>
          <a:lstStyle/>
          <a:p>
            <a:pPr algn="ctr"/>
            <a:r>
              <a:rPr lang="en-IN" sz="3200" b="1" i="0" dirty="0">
                <a:solidFill>
                  <a:srgbClr val="333333"/>
                </a:solidFill>
                <a:effectLst/>
                <a:latin typeface="Times New Roman" panose="02020603050405020304" pitchFamily="18" charset="0"/>
                <a:cs typeface="Times New Roman" panose="02020603050405020304" pitchFamily="18" charset="0"/>
              </a:rPr>
              <a:t>Insertion into a 2-3 tree</a:t>
            </a:r>
            <a:endParaRPr lang="en-IN" sz="32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C1AD162-7B1C-6A92-C153-464ADD849D2C}"/>
              </a:ext>
            </a:extLst>
          </p:cNvPr>
          <p:cNvSpPr txBox="1"/>
          <p:nvPr/>
        </p:nvSpPr>
        <p:spPr>
          <a:xfrm>
            <a:off x="995680" y="1127820"/>
            <a:ext cx="10200640" cy="3903954"/>
          </a:xfrm>
          <a:prstGeom prst="rect">
            <a:avLst/>
          </a:prstGeom>
          <a:noFill/>
        </p:spPr>
        <p:txBody>
          <a:bodyPr wrap="square">
            <a:spAutoFit/>
          </a:bodyPr>
          <a:lstStyle/>
          <a:p>
            <a:pPr algn="just">
              <a:lnSpc>
                <a:spcPct val="150000"/>
              </a:lnSpc>
            </a:pPr>
            <a:r>
              <a:rPr lang="en-IN" sz="2400" b="0" i="0" dirty="0">
                <a:solidFill>
                  <a:srgbClr val="333333"/>
                </a:solidFill>
                <a:effectLst/>
                <a:latin typeface="Times New Roman" panose="02020603050405020304" pitchFamily="18" charset="0"/>
                <a:cs typeface="Times New Roman" panose="02020603050405020304" pitchFamily="18" charset="0"/>
              </a:rPr>
              <a:t>Insertion into a 2-3 tree is similar to insertion into a BST to the extent that the new record is placed in the appropriate leaf node. Unlike BST insertion, a new child is not created to hold the record being inserted, that is, the 2-3 tree does not grow downward. The first step is to find the leaf node that would contain the record if it were in the tree. If this leaf node contains only one value, then the new record can be added to that node with no further modification to the tree, as illustrated in the following visualization.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426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23530-7E1A-E740-3950-13D06BA315B4}"/>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1202976-E8A7-9C2E-B7E0-59B961B94414}"/>
              </a:ext>
            </a:extLst>
          </p:cNvPr>
          <p:cNvSpPr txBox="1"/>
          <p:nvPr/>
        </p:nvSpPr>
        <p:spPr>
          <a:xfrm>
            <a:off x="1717040" y="281355"/>
            <a:ext cx="9042400" cy="523220"/>
          </a:xfrm>
          <a:prstGeom prst="rect">
            <a:avLst/>
          </a:prstGeom>
          <a:noFill/>
        </p:spPr>
        <p:txBody>
          <a:bodyPr wrap="square">
            <a:spAutoFit/>
          </a:bodyPr>
          <a:lstStyle/>
          <a:p>
            <a:pPr algn="ctr"/>
            <a:r>
              <a:rPr lang="en-IN" sz="2800" b="1" i="0" dirty="0">
                <a:solidFill>
                  <a:srgbClr val="333333"/>
                </a:solidFill>
                <a:effectLst/>
                <a:latin typeface="Times New Roman" panose="02020603050405020304" pitchFamily="18" charset="0"/>
                <a:cs typeface="Times New Roman" panose="02020603050405020304" pitchFamily="18" charset="0"/>
              </a:rPr>
              <a:t>Insertion into a 2-3 tree</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4308D02-B0AD-18F4-9CE1-C6B01CE39C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925" y="1209675"/>
            <a:ext cx="10344150" cy="4438650"/>
          </a:xfrm>
          <a:prstGeom prst="rect">
            <a:avLst/>
          </a:prstGeom>
        </p:spPr>
      </p:pic>
    </p:spTree>
    <p:extLst>
      <p:ext uri="{BB962C8B-B14F-4D97-AF65-F5344CB8AC3E}">
        <p14:creationId xmlns:p14="http://schemas.microsoft.com/office/powerpoint/2010/main" val="827017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16845D-FE83-34FA-A9F8-0D8BE36F3B14}"/>
              </a:ext>
            </a:extLst>
          </p:cNvPr>
          <p:cNvSpPr txBox="1"/>
          <p:nvPr/>
        </p:nvSpPr>
        <p:spPr>
          <a:xfrm>
            <a:off x="2905760" y="167450"/>
            <a:ext cx="6096000" cy="369332"/>
          </a:xfrm>
          <a:prstGeom prst="rect">
            <a:avLst/>
          </a:prstGeom>
          <a:noFill/>
        </p:spPr>
        <p:txBody>
          <a:bodyPr wrap="square">
            <a:spAutoFit/>
          </a:bodyPr>
          <a:lstStyle/>
          <a:p>
            <a:pPr marL="0" marR="0" indent="0" algn="ctr">
              <a:buNone/>
            </a:pPr>
            <a:r>
              <a:rPr lang="en-IN" b="1" i="0" dirty="0">
                <a:solidFill>
                  <a:srgbClr val="0C3762"/>
                </a:solidFill>
                <a:effectLst/>
                <a:latin typeface="DejaVu Sans"/>
              </a:rPr>
              <a:t>B-Trees</a:t>
            </a:r>
          </a:p>
        </p:txBody>
      </p:sp>
      <p:sp>
        <p:nvSpPr>
          <p:cNvPr id="5" name="TextBox 4">
            <a:extLst>
              <a:ext uri="{FF2B5EF4-FFF2-40B4-BE49-F238E27FC236}">
                <a16:creationId xmlns:a16="http://schemas.microsoft.com/office/drawing/2014/main" id="{CD84BADC-20B8-BCF2-F8C2-D2089759DA48}"/>
              </a:ext>
            </a:extLst>
          </p:cNvPr>
          <p:cNvSpPr txBox="1"/>
          <p:nvPr/>
        </p:nvSpPr>
        <p:spPr>
          <a:xfrm>
            <a:off x="467360" y="536782"/>
            <a:ext cx="11399520" cy="5951886"/>
          </a:xfrm>
          <a:prstGeom prst="rect">
            <a:avLst/>
          </a:prstGeom>
          <a:noFill/>
        </p:spPr>
        <p:txBody>
          <a:bodyPr wrap="square">
            <a:spAutoFit/>
          </a:bodyPr>
          <a:lstStyle/>
          <a:p>
            <a:pPr indent="0" algn="just">
              <a:lnSpc>
                <a:spcPct val="150000"/>
              </a:lnSpc>
              <a:buNone/>
            </a:pPr>
            <a:r>
              <a:rPr lang="en-IN" sz="1600" b="0" i="0" dirty="0">
                <a:solidFill>
                  <a:srgbClr val="333333"/>
                </a:solidFill>
                <a:effectLst/>
                <a:latin typeface="DejaVu Sans"/>
              </a:rPr>
              <a:t>This module presents the B-tree. B-trees are usually attributed to R. Bayer and E. McCreight who described the B-tree in a 1972 paper. By 1979, B-trees had replaced virtually all large-file access methods other than hashing. B-trees, or some variant of B-trees, are </a:t>
            </a:r>
            <a:r>
              <a:rPr lang="en-IN" sz="1600" b="0" i="1" dirty="0">
                <a:solidFill>
                  <a:srgbClr val="333333"/>
                </a:solidFill>
                <a:effectLst/>
                <a:latin typeface="DejaVu Sans"/>
              </a:rPr>
              <a:t>the</a:t>
            </a:r>
            <a:r>
              <a:rPr lang="en-IN" sz="1600" b="0" i="0" dirty="0">
                <a:solidFill>
                  <a:srgbClr val="333333"/>
                </a:solidFill>
                <a:effectLst/>
                <a:latin typeface="DejaVu Sans"/>
              </a:rPr>
              <a:t> standard file organization for applications requiring insertion, deletion, and key range searches. They are used to implement most modern file systems. B-trees address effectively all of the major problems encountered when implementing disk-based search trees:</a:t>
            </a:r>
          </a:p>
          <a:p>
            <a:pPr indent="0" algn="just">
              <a:lnSpc>
                <a:spcPct val="150000"/>
              </a:lnSpc>
              <a:buFont typeface="+mj-lt"/>
              <a:buAutoNum type="arabicPeriod"/>
            </a:pPr>
            <a:r>
              <a:rPr lang="en-IN" sz="1600" b="0" i="0" dirty="0">
                <a:solidFill>
                  <a:srgbClr val="333333"/>
                </a:solidFill>
                <a:effectLst/>
                <a:latin typeface="DejaVu Sans"/>
              </a:rPr>
              <a:t>The B-tree is shallow, in part because the tree is always height balanced (all leaf nodes are at the same level), and in part because the branching factor is quite high. So only a small number of disk blocks are accessed to reach a given record.</a:t>
            </a:r>
          </a:p>
          <a:p>
            <a:pPr indent="0" algn="just">
              <a:lnSpc>
                <a:spcPct val="150000"/>
              </a:lnSpc>
              <a:buFont typeface="+mj-lt"/>
              <a:buAutoNum type="arabicPeriod"/>
            </a:pPr>
            <a:r>
              <a:rPr lang="en-IN" sz="1600" b="0" i="0" dirty="0">
                <a:solidFill>
                  <a:srgbClr val="333333"/>
                </a:solidFill>
                <a:effectLst/>
                <a:latin typeface="DejaVu Sans"/>
              </a:rPr>
              <a:t>Update and search operations affect only those disk blocks on the path from the root to the leaf node containing the query record. The fewer the number of disk blocks affected during an operation, the less disk I/O is required.</a:t>
            </a:r>
          </a:p>
          <a:p>
            <a:pPr indent="0" algn="just">
              <a:lnSpc>
                <a:spcPct val="150000"/>
              </a:lnSpc>
              <a:buFont typeface="+mj-lt"/>
              <a:buAutoNum type="arabicPeriod"/>
            </a:pPr>
            <a:r>
              <a:rPr lang="en-IN" sz="1600" b="0" i="0" dirty="0">
                <a:solidFill>
                  <a:srgbClr val="333333"/>
                </a:solidFill>
                <a:effectLst/>
                <a:latin typeface="DejaVu Sans"/>
              </a:rPr>
              <a:t>B-trees keep related records (that is, records with similar key values) on the same disk block, which helps to minimize disk I/O on range searches.</a:t>
            </a:r>
          </a:p>
          <a:p>
            <a:pPr indent="0" algn="just">
              <a:lnSpc>
                <a:spcPct val="150000"/>
              </a:lnSpc>
              <a:buFont typeface="+mj-lt"/>
              <a:buAutoNum type="arabicPeriod"/>
            </a:pPr>
            <a:r>
              <a:rPr lang="en-IN" sz="1600" b="0" i="0" dirty="0">
                <a:solidFill>
                  <a:srgbClr val="333333"/>
                </a:solidFill>
                <a:effectLst/>
                <a:latin typeface="DejaVu Sans"/>
              </a:rPr>
              <a:t>B-trees guarantee that every node in the tree will be full at least to a certain minimum percentage. This improves space efficiency while reducing the typical number of disk fetches necessary during a search or update operation.</a:t>
            </a:r>
          </a:p>
        </p:txBody>
      </p:sp>
    </p:spTree>
    <p:extLst>
      <p:ext uri="{BB962C8B-B14F-4D97-AF65-F5344CB8AC3E}">
        <p14:creationId xmlns:p14="http://schemas.microsoft.com/office/powerpoint/2010/main" val="2398713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F08E842-C83C-58FC-CCC3-337F5CE0D539}"/>
                  </a:ext>
                </a:extLst>
              </p:cNvPr>
              <p:cNvSpPr txBox="1"/>
              <p:nvPr/>
            </p:nvSpPr>
            <p:spPr>
              <a:xfrm>
                <a:off x="772160" y="561023"/>
                <a:ext cx="10962640" cy="3757503"/>
              </a:xfrm>
              <a:prstGeom prst="rect">
                <a:avLst/>
              </a:prstGeom>
              <a:noFill/>
            </p:spPr>
            <p:txBody>
              <a:bodyPr wrap="square">
                <a:spAutoFit/>
              </a:bodyPr>
              <a:lstStyle/>
              <a:p>
                <a:pPr indent="0" algn="just">
                  <a:lnSpc>
                    <a:spcPct val="150000"/>
                  </a:lnSpc>
                  <a:buNone/>
                </a:pPr>
                <a:r>
                  <a:rPr lang="en-IN" sz="1400" b="0" i="0" dirty="0">
                    <a:solidFill>
                      <a:srgbClr val="333333"/>
                    </a:solidFill>
                    <a:effectLst/>
                    <a:latin typeface="DejaVu Sans"/>
                  </a:rPr>
                  <a:t>A B-tree of order </a:t>
                </a:r>
                <a14:m>
                  <m:oMath xmlns:m="http://schemas.openxmlformats.org/officeDocument/2006/math">
                    <m:r>
                      <a:rPr lang="en-IN" sz="1400" i="1" smtClean="0">
                        <a:latin typeface="Cambria Math" panose="02040503050406030204" pitchFamily="18" charset="0"/>
                      </a:rPr>
                      <m:t>𝑚</m:t>
                    </m:r>
                  </m:oMath>
                </a14:m>
                <a:r>
                  <a:rPr lang="en-IN" sz="1400" b="0" i="0" dirty="0">
                    <a:solidFill>
                      <a:srgbClr val="333333"/>
                    </a:solidFill>
                    <a:effectLst/>
                    <a:latin typeface="DejaVu Sans"/>
                  </a:rPr>
                  <a:t> is defined to have the following shape properties:</a:t>
                </a:r>
              </a:p>
              <a:p>
                <a:pPr indent="0" algn="just">
                  <a:lnSpc>
                    <a:spcPct val="150000"/>
                  </a:lnSpc>
                  <a:spcBef>
                    <a:spcPts val="225"/>
                  </a:spcBef>
                  <a:spcAft>
                    <a:spcPts val="225"/>
                  </a:spcAft>
                  <a:buFont typeface="Arial" panose="020B0604020202020204" pitchFamily="34" charset="0"/>
                  <a:buChar char="•"/>
                </a:pPr>
                <a:r>
                  <a:rPr lang="en-IN" sz="1400" b="0" i="0" dirty="0">
                    <a:solidFill>
                      <a:srgbClr val="333333"/>
                    </a:solidFill>
                    <a:effectLst/>
                    <a:latin typeface="DejaVu Sans"/>
                  </a:rPr>
                  <a:t> The root is either a leaf or has at least two children.</a:t>
                </a:r>
              </a:p>
              <a:p>
                <a:pPr indent="0" algn="just">
                  <a:lnSpc>
                    <a:spcPct val="150000"/>
                  </a:lnSpc>
                  <a:spcBef>
                    <a:spcPts val="225"/>
                  </a:spcBef>
                  <a:spcAft>
                    <a:spcPts val="225"/>
                  </a:spcAft>
                  <a:buFont typeface="Arial" panose="020B0604020202020204" pitchFamily="34" charset="0"/>
                  <a:buChar char="•"/>
                </a:pPr>
                <a:r>
                  <a:rPr lang="en-IN" sz="1400" b="0" i="0" dirty="0">
                    <a:solidFill>
                      <a:srgbClr val="333333"/>
                    </a:solidFill>
                    <a:effectLst/>
                    <a:latin typeface="DejaVu Sans"/>
                  </a:rPr>
                  <a:t> Each internal node, except for the root, has between </a:t>
                </a:r>
                <a14:m>
                  <m:oMath xmlns:m="http://schemas.openxmlformats.org/officeDocument/2006/math">
                    <m:r>
                      <a:rPr lang="en-IN" sz="1400" smtClean="0">
                        <a:latin typeface="Cambria Math" panose="02040503050406030204" pitchFamily="18" charset="0"/>
                      </a:rPr>
                      <m:t>⌈</m:t>
                    </m:r>
                    <m:r>
                      <a:rPr lang="en-IN" sz="1400" i="1">
                        <a:latin typeface="Cambria Math" panose="02040503050406030204" pitchFamily="18" charset="0"/>
                      </a:rPr>
                      <m:t>𝑚</m:t>
                    </m:r>
                    <m:r>
                      <a:rPr lang="en-IN" sz="1400" i="0">
                        <a:latin typeface="Cambria Math" panose="02040503050406030204" pitchFamily="18" charset="0"/>
                      </a:rPr>
                      <m:t>/2⌉</m:t>
                    </m:r>
                  </m:oMath>
                </a14:m>
                <a:r>
                  <a:rPr lang="en-IN" sz="1400" b="0" i="0" dirty="0">
                    <a:solidFill>
                      <a:srgbClr val="333333"/>
                    </a:solidFill>
                    <a:effectLst/>
                    <a:latin typeface="DejaVu Sans"/>
                  </a:rPr>
                  <a:t> and </a:t>
                </a:r>
                <a14:m>
                  <m:oMath xmlns:m="http://schemas.openxmlformats.org/officeDocument/2006/math">
                    <m:r>
                      <a:rPr lang="en-IN" sz="1400" i="1" smtClean="0">
                        <a:latin typeface="Cambria Math" panose="02040503050406030204" pitchFamily="18" charset="0"/>
                      </a:rPr>
                      <m:t>𝑚</m:t>
                    </m:r>
                  </m:oMath>
                </a14:m>
                <a:r>
                  <a:rPr lang="en-IN" sz="1400" b="0" i="0" dirty="0">
                    <a:solidFill>
                      <a:srgbClr val="333333"/>
                    </a:solidFill>
                    <a:effectLst/>
                    <a:latin typeface="DejaVu Sans"/>
                  </a:rPr>
                  <a:t> children.</a:t>
                </a:r>
              </a:p>
              <a:p>
                <a:pPr indent="0" algn="just">
                  <a:lnSpc>
                    <a:spcPct val="150000"/>
                  </a:lnSpc>
                  <a:spcBef>
                    <a:spcPts val="225"/>
                  </a:spcBef>
                  <a:spcAft>
                    <a:spcPts val="225"/>
                  </a:spcAft>
                  <a:buFont typeface="Arial" panose="020B0604020202020204" pitchFamily="34" charset="0"/>
                  <a:buChar char="•"/>
                </a:pPr>
                <a:r>
                  <a:rPr lang="en-IN" sz="1400" b="0" i="0" dirty="0">
                    <a:solidFill>
                      <a:srgbClr val="333333"/>
                    </a:solidFill>
                    <a:effectLst/>
                    <a:latin typeface="DejaVu Sans"/>
                  </a:rPr>
                  <a:t> All leaves are at the same level in the tree, so the tree is always height balanced.</a:t>
                </a:r>
              </a:p>
              <a:p>
                <a:pPr indent="0" algn="just">
                  <a:lnSpc>
                    <a:spcPct val="150000"/>
                  </a:lnSpc>
                  <a:buNone/>
                </a:pPr>
                <a:r>
                  <a:rPr lang="en-IN" sz="1400" b="0" i="0" dirty="0">
                    <a:solidFill>
                      <a:srgbClr val="333333"/>
                    </a:solidFill>
                    <a:effectLst/>
                    <a:latin typeface="DejaVu Sans"/>
                  </a:rPr>
                  <a:t>The B-tree is a generalization of the 2-3 tree. Put another way, a 2-3 tree is a B-tree of order three. Normally, the size of a node in the B-tree is chosen to fill a disk block. A B-tree node implementation typically allows 100 or more children. Thus, a B-tree node is equivalent to a disk block, and a “pointer” value stored in the tree is actually the number of the block containing the child node (usually interpreted as an offset from the beginning of the corresponding disk file). In a typical application, the B-tree’s access to the disk file will be managed using a </a:t>
                </a:r>
                <a:r>
                  <a:rPr lang="en-IN" sz="1400" b="1" i="0" u="none" strike="noStrike" dirty="0">
                    <a:solidFill>
                      <a:srgbClr val="D93900"/>
                    </a:solidFill>
                    <a:effectLst/>
                    <a:latin typeface="DejaVu Sans"/>
                  </a:rPr>
                  <a:t>buffer pool</a:t>
                </a:r>
                <a:r>
                  <a:rPr lang="en-IN" sz="1400" b="0" i="0" dirty="0">
                    <a:solidFill>
                      <a:srgbClr val="333333"/>
                    </a:solidFill>
                    <a:effectLst/>
                    <a:latin typeface="DejaVu Sans"/>
                  </a:rPr>
                  <a:t> and a block-replacement scheme such as </a:t>
                </a:r>
                <a:r>
                  <a:rPr lang="en-IN" sz="1400" b="1" i="0" u="none" strike="noStrike" dirty="0">
                    <a:solidFill>
                      <a:srgbClr val="D93900"/>
                    </a:solidFill>
                    <a:effectLst/>
                    <a:latin typeface="DejaVu Sans"/>
                  </a:rPr>
                  <a:t>LRU</a:t>
                </a:r>
                <a:r>
                  <a:rPr lang="en-IN" sz="1400" b="0" i="0" dirty="0">
                    <a:solidFill>
                      <a:srgbClr val="333333"/>
                    </a:solidFill>
                    <a:effectLst/>
                    <a:latin typeface="DejaVu Sans"/>
                  </a:rPr>
                  <a:t>.</a:t>
                </a:r>
              </a:p>
              <a:p>
                <a:pPr indent="0" algn="just">
                  <a:lnSpc>
                    <a:spcPct val="150000"/>
                  </a:lnSpc>
                  <a:buNone/>
                </a:pPr>
                <a:r>
                  <a:rPr lang="en-IN" sz="1400" b="0" i="0" dirty="0">
                    <a:solidFill>
                      <a:srgbClr val="333333"/>
                    </a:solidFill>
                    <a:effectLst/>
                    <a:latin typeface="DejaVu Sans"/>
                  </a:rPr>
                  <a:t>Figure shows a B-tree of order four. Each node contains up to three keys, and internal nodes have up to four children.</a:t>
                </a:r>
              </a:p>
            </p:txBody>
          </p:sp>
        </mc:Choice>
        <mc:Fallback>
          <p:sp>
            <p:nvSpPr>
              <p:cNvPr id="3" name="TextBox 2">
                <a:extLst>
                  <a:ext uri="{FF2B5EF4-FFF2-40B4-BE49-F238E27FC236}">
                    <a16:creationId xmlns:a16="http://schemas.microsoft.com/office/drawing/2014/main" id="{CF08E842-C83C-58FC-CCC3-337F5CE0D539}"/>
                  </a:ext>
                </a:extLst>
              </p:cNvPr>
              <p:cNvSpPr txBox="1">
                <a:spLocks noRot="1" noChangeAspect="1" noMove="1" noResize="1" noEditPoints="1" noAdjustHandles="1" noChangeArrowheads="1" noChangeShapeType="1" noTextEdit="1"/>
              </p:cNvSpPr>
              <p:nvPr/>
            </p:nvSpPr>
            <p:spPr>
              <a:xfrm>
                <a:off x="772160" y="561023"/>
                <a:ext cx="10962640" cy="3757503"/>
              </a:xfrm>
              <a:prstGeom prst="rect">
                <a:avLst/>
              </a:prstGeom>
              <a:blipFill>
                <a:blip r:embed="rId2"/>
                <a:stretch>
                  <a:fillRect l="-167" r="-167" b="-812"/>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B482C38A-E176-1FE8-B457-4381A2D87BAC}"/>
              </a:ext>
            </a:extLst>
          </p:cNvPr>
          <p:cNvSpPr txBox="1"/>
          <p:nvPr/>
        </p:nvSpPr>
        <p:spPr>
          <a:xfrm>
            <a:off x="2905760" y="167450"/>
            <a:ext cx="6096000" cy="369332"/>
          </a:xfrm>
          <a:prstGeom prst="rect">
            <a:avLst/>
          </a:prstGeom>
          <a:noFill/>
        </p:spPr>
        <p:txBody>
          <a:bodyPr wrap="square">
            <a:spAutoFit/>
          </a:bodyPr>
          <a:lstStyle/>
          <a:p>
            <a:pPr marL="0" marR="0" indent="0" algn="ctr">
              <a:buNone/>
            </a:pPr>
            <a:r>
              <a:rPr lang="en-IN" b="1" i="0" dirty="0">
                <a:solidFill>
                  <a:srgbClr val="0C3762"/>
                </a:solidFill>
                <a:effectLst/>
                <a:latin typeface="DejaVu Sans"/>
              </a:rPr>
              <a:t>B-Trees</a:t>
            </a:r>
          </a:p>
        </p:txBody>
      </p:sp>
      <p:pic>
        <p:nvPicPr>
          <p:cNvPr id="7" name="Picture 6">
            <a:extLst>
              <a:ext uri="{FF2B5EF4-FFF2-40B4-BE49-F238E27FC236}">
                <a16:creationId xmlns:a16="http://schemas.microsoft.com/office/drawing/2014/main" id="{0DA5ADFB-E3F0-3720-FDB9-5B47BF1B2463}"/>
              </a:ext>
            </a:extLst>
          </p:cNvPr>
          <p:cNvPicPr>
            <a:picLocks noChangeAspect="1"/>
          </p:cNvPicPr>
          <p:nvPr/>
        </p:nvPicPr>
        <p:blipFill>
          <a:blip r:embed="rId3"/>
          <a:stretch>
            <a:fillRect/>
          </a:stretch>
        </p:blipFill>
        <p:spPr>
          <a:xfrm>
            <a:off x="2178980" y="4480471"/>
            <a:ext cx="7834039" cy="2042337"/>
          </a:xfrm>
          <a:prstGeom prst="rect">
            <a:avLst/>
          </a:prstGeom>
        </p:spPr>
      </p:pic>
    </p:spTree>
    <p:extLst>
      <p:ext uri="{BB962C8B-B14F-4D97-AF65-F5344CB8AC3E}">
        <p14:creationId xmlns:p14="http://schemas.microsoft.com/office/powerpoint/2010/main" val="2163257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B5597D-B675-FEDD-8281-1BE20A2E0A91}"/>
              </a:ext>
            </a:extLst>
          </p:cNvPr>
          <p:cNvSpPr txBox="1"/>
          <p:nvPr/>
        </p:nvSpPr>
        <p:spPr>
          <a:xfrm>
            <a:off x="944880" y="311835"/>
            <a:ext cx="10576560" cy="584775"/>
          </a:xfrm>
          <a:prstGeom prst="rect">
            <a:avLst/>
          </a:prstGeom>
          <a:noFill/>
        </p:spPr>
        <p:txBody>
          <a:bodyPr wrap="square">
            <a:spAutoFit/>
          </a:bodyPr>
          <a:lstStyle/>
          <a:p>
            <a:pPr algn="ctr"/>
            <a:r>
              <a:rPr lang="en-IN" sz="3200" dirty="0"/>
              <a:t>Basic search and traversal techniques for trees and graphs</a:t>
            </a:r>
          </a:p>
        </p:txBody>
      </p:sp>
      <p:sp>
        <p:nvSpPr>
          <p:cNvPr id="5" name="TextBox 4">
            <a:extLst>
              <a:ext uri="{FF2B5EF4-FFF2-40B4-BE49-F238E27FC236}">
                <a16:creationId xmlns:a16="http://schemas.microsoft.com/office/drawing/2014/main" id="{D2521BAE-A017-9387-DD56-604E26CA9E57}"/>
              </a:ext>
            </a:extLst>
          </p:cNvPr>
          <p:cNvSpPr txBox="1"/>
          <p:nvPr/>
        </p:nvSpPr>
        <p:spPr>
          <a:xfrm>
            <a:off x="746760" y="1328200"/>
            <a:ext cx="10698480" cy="4201599"/>
          </a:xfrm>
          <a:prstGeom prst="rect">
            <a:avLst/>
          </a:prstGeom>
          <a:noFill/>
        </p:spPr>
        <p:txBody>
          <a:bodyPr wrap="square">
            <a:spAutoFit/>
          </a:bodyPr>
          <a:lstStyle/>
          <a:p>
            <a:pPr algn="just">
              <a:lnSpc>
                <a:spcPct val="150000"/>
              </a:lnSpc>
            </a:pPr>
            <a:r>
              <a:rPr lang="en-IN" sz="1800" b="0" i="0" dirty="0">
                <a:solidFill>
                  <a:srgbClr val="333333"/>
                </a:solidFill>
                <a:effectLst/>
                <a:latin typeface="DejaVu Sans"/>
              </a:rPr>
              <a:t>There are three traditional </a:t>
            </a:r>
            <a:r>
              <a:rPr lang="en-IN" sz="1800" b="1" i="0" u="none" strike="noStrike" dirty="0">
                <a:solidFill>
                  <a:srgbClr val="D93900"/>
                </a:solidFill>
                <a:effectLst/>
                <a:latin typeface="DejaVu Sans"/>
              </a:rPr>
              <a:t>tree traversals</a:t>
            </a:r>
            <a:r>
              <a:rPr lang="en-IN" sz="1800" b="0" i="0" dirty="0">
                <a:solidFill>
                  <a:srgbClr val="333333"/>
                </a:solidFill>
                <a:effectLst/>
                <a:latin typeface="DejaVu Sans"/>
              </a:rPr>
              <a:t> for </a:t>
            </a:r>
            <a:r>
              <a:rPr lang="en-IN" sz="1800" b="1" i="0" u="none" strike="noStrike" dirty="0">
                <a:solidFill>
                  <a:srgbClr val="D93900"/>
                </a:solidFill>
                <a:effectLst/>
                <a:latin typeface="DejaVu Sans"/>
              </a:rPr>
              <a:t>binary trees</a:t>
            </a:r>
            <a:r>
              <a:rPr lang="en-IN" sz="1800" b="0" i="0" dirty="0">
                <a:solidFill>
                  <a:srgbClr val="333333"/>
                </a:solidFill>
                <a:effectLst/>
                <a:latin typeface="DejaVu Sans"/>
              </a:rPr>
              <a:t>: </a:t>
            </a:r>
            <a:r>
              <a:rPr lang="en-IN" sz="1800" b="1" i="0" u="none" strike="noStrike" dirty="0">
                <a:solidFill>
                  <a:srgbClr val="D93900"/>
                </a:solidFill>
                <a:effectLst/>
                <a:latin typeface="DejaVu Sans"/>
              </a:rPr>
              <a:t>preorder</a:t>
            </a:r>
            <a:r>
              <a:rPr lang="en-IN" sz="1800" b="0" i="0" dirty="0">
                <a:solidFill>
                  <a:srgbClr val="333333"/>
                </a:solidFill>
                <a:effectLst/>
                <a:latin typeface="DejaVu Sans"/>
              </a:rPr>
              <a:t>, </a:t>
            </a:r>
            <a:r>
              <a:rPr lang="en-IN" sz="1800" b="1" i="0" u="none" strike="noStrike" dirty="0">
                <a:solidFill>
                  <a:srgbClr val="D93900"/>
                </a:solidFill>
                <a:effectLst/>
                <a:latin typeface="DejaVu Sans"/>
              </a:rPr>
              <a:t>postorder</a:t>
            </a:r>
            <a:r>
              <a:rPr lang="en-IN" sz="1800" b="0" i="0" dirty="0">
                <a:solidFill>
                  <a:srgbClr val="333333"/>
                </a:solidFill>
                <a:effectLst/>
                <a:latin typeface="DejaVu Sans"/>
              </a:rPr>
              <a:t>, and </a:t>
            </a:r>
            <a:r>
              <a:rPr lang="en-IN" sz="1800" b="1" i="0" u="none" strike="noStrike" dirty="0">
                <a:solidFill>
                  <a:srgbClr val="D93900"/>
                </a:solidFill>
                <a:effectLst/>
                <a:latin typeface="DejaVu Sans"/>
              </a:rPr>
              <a:t>inorder</a:t>
            </a:r>
            <a:r>
              <a:rPr lang="en-IN" sz="1800" b="0" i="0" dirty="0">
                <a:solidFill>
                  <a:srgbClr val="333333"/>
                </a:solidFill>
                <a:effectLst/>
                <a:latin typeface="DejaVu Sans"/>
              </a:rPr>
              <a:t>. For general trees, preorder and postorder traversals are defined with meanings similar to their binary tree counterparts. Preorder traversal of a general tree first visits the root of the tree, then performs a preorder traversal of each subtree from left to right. A postorder traversal of a general tree performs a postorder traversal of the root’s subtrees from left to right, then visits the root. Inorder traversal does not have a natural definition for the general tree, because there is no particular number of children for an internal node. An arbitrary definition—such as visit the leftmost subtree in inorder, then the root, then visit the remaining subtrees in inorder—can be invented. However, inorder traversals are generally not useful with general trees.</a:t>
            </a:r>
            <a:endParaRPr lang="en-IN" dirty="0"/>
          </a:p>
        </p:txBody>
      </p:sp>
    </p:spTree>
    <p:extLst>
      <p:ext uri="{BB962C8B-B14F-4D97-AF65-F5344CB8AC3E}">
        <p14:creationId xmlns:p14="http://schemas.microsoft.com/office/powerpoint/2010/main" val="2998681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D63AC-F150-5A3B-EF97-3D83B253DF3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7C015B6-9263-1D06-7F95-32231A994E25}"/>
              </a:ext>
            </a:extLst>
          </p:cNvPr>
          <p:cNvSpPr txBox="1"/>
          <p:nvPr/>
        </p:nvSpPr>
        <p:spPr>
          <a:xfrm>
            <a:off x="944880" y="311835"/>
            <a:ext cx="10576560" cy="584775"/>
          </a:xfrm>
          <a:prstGeom prst="rect">
            <a:avLst/>
          </a:prstGeom>
          <a:noFill/>
        </p:spPr>
        <p:txBody>
          <a:bodyPr wrap="square">
            <a:spAutoFit/>
          </a:bodyPr>
          <a:lstStyle/>
          <a:p>
            <a:pPr algn="ctr"/>
            <a:r>
              <a:rPr lang="en-IN" sz="3200" dirty="0"/>
              <a:t>Basic search and traversal techniques for trees and graphs</a:t>
            </a:r>
          </a:p>
        </p:txBody>
      </p:sp>
      <p:sp>
        <p:nvSpPr>
          <p:cNvPr id="5" name="TextBox 4">
            <a:extLst>
              <a:ext uri="{FF2B5EF4-FFF2-40B4-BE49-F238E27FC236}">
                <a16:creationId xmlns:a16="http://schemas.microsoft.com/office/drawing/2014/main" id="{B69A5396-093F-A733-8F67-85699F8F0140}"/>
              </a:ext>
            </a:extLst>
          </p:cNvPr>
          <p:cNvSpPr txBox="1"/>
          <p:nvPr/>
        </p:nvSpPr>
        <p:spPr>
          <a:xfrm>
            <a:off x="1046480" y="1110734"/>
            <a:ext cx="6096000" cy="461665"/>
          </a:xfrm>
          <a:prstGeom prst="rect">
            <a:avLst/>
          </a:prstGeom>
          <a:noFill/>
        </p:spPr>
        <p:txBody>
          <a:bodyPr wrap="square">
            <a:spAutoFit/>
          </a:bodyPr>
          <a:lstStyle/>
          <a:p>
            <a:r>
              <a:rPr lang="en-IN" sz="2400" b="1" i="0" dirty="0">
                <a:solidFill>
                  <a:schemeClr val="accent1"/>
                </a:solidFill>
                <a:effectLst/>
                <a:latin typeface="DejaVu Sans"/>
              </a:rPr>
              <a:t> </a:t>
            </a:r>
            <a:r>
              <a:rPr lang="en-IN" sz="2400" b="1" u="sng" dirty="0">
                <a:solidFill>
                  <a:schemeClr val="accent1"/>
                </a:solidFill>
                <a:latin typeface="DejaVu Sans"/>
              </a:rPr>
              <a:t>P</a:t>
            </a:r>
            <a:r>
              <a:rPr lang="en-IN" sz="2400" b="1" i="0" u="sng" dirty="0">
                <a:solidFill>
                  <a:schemeClr val="accent1"/>
                </a:solidFill>
                <a:effectLst/>
                <a:latin typeface="DejaVu Sans"/>
              </a:rPr>
              <a:t>reorder</a:t>
            </a:r>
            <a:r>
              <a:rPr lang="en-IN" sz="2400" b="1" u="sng" dirty="0">
                <a:solidFill>
                  <a:schemeClr val="accent1"/>
                </a:solidFill>
                <a:latin typeface="DejaVu Sans"/>
              </a:rPr>
              <a:t> traversal</a:t>
            </a:r>
            <a:endParaRPr lang="en-IN" sz="2400" b="1" dirty="0">
              <a:solidFill>
                <a:schemeClr val="accent1"/>
              </a:solidFill>
            </a:endParaRPr>
          </a:p>
        </p:txBody>
      </p:sp>
      <p:pic>
        <p:nvPicPr>
          <p:cNvPr id="7" name="Picture 6">
            <a:extLst>
              <a:ext uri="{FF2B5EF4-FFF2-40B4-BE49-F238E27FC236}">
                <a16:creationId xmlns:a16="http://schemas.microsoft.com/office/drawing/2014/main" id="{85741FCB-3AAA-A1E3-BC2F-E3781FEC8F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920" y="1698932"/>
            <a:ext cx="9916160" cy="4792607"/>
          </a:xfrm>
          <a:prstGeom prst="rect">
            <a:avLst/>
          </a:prstGeom>
        </p:spPr>
      </p:pic>
    </p:spTree>
    <p:extLst>
      <p:ext uri="{BB962C8B-B14F-4D97-AF65-F5344CB8AC3E}">
        <p14:creationId xmlns:p14="http://schemas.microsoft.com/office/powerpoint/2010/main" val="1310858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199F97-C173-0CF6-763D-1EA13B9076A1}"/>
              </a:ext>
            </a:extLst>
          </p:cNvPr>
          <p:cNvSpPr txBox="1"/>
          <p:nvPr/>
        </p:nvSpPr>
        <p:spPr>
          <a:xfrm>
            <a:off x="944880" y="311835"/>
            <a:ext cx="10576560" cy="584775"/>
          </a:xfrm>
          <a:prstGeom prst="rect">
            <a:avLst/>
          </a:prstGeom>
          <a:noFill/>
        </p:spPr>
        <p:txBody>
          <a:bodyPr wrap="square">
            <a:spAutoFit/>
          </a:bodyPr>
          <a:lstStyle/>
          <a:p>
            <a:pPr algn="ctr"/>
            <a:r>
              <a:rPr lang="en-IN" sz="3200" dirty="0"/>
              <a:t>Basic search and traversal techniques for trees and graphs</a:t>
            </a:r>
          </a:p>
        </p:txBody>
      </p:sp>
      <p:sp>
        <p:nvSpPr>
          <p:cNvPr id="5" name="TextBox 4">
            <a:extLst>
              <a:ext uri="{FF2B5EF4-FFF2-40B4-BE49-F238E27FC236}">
                <a16:creationId xmlns:a16="http://schemas.microsoft.com/office/drawing/2014/main" id="{EEFAF964-AA2C-FAC8-82E4-7D40C041665A}"/>
              </a:ext>
            </a:extLst>
          </p:cNvPr>
          <p:cNvSpPr txBox="1"/>
          <p:nvPr/>
        </p:nvSpPr>
        <p:spPr>
          <a:xfrm>
            <a:off x="1046480" y="1110734"/>
            <a:ext cx="6096000" cy="461665"/>
          </a:xfrm>
          <a:prstGeom prst="rect">
            <a:avLst/>
          </a:prstGeom>
          <a:noFill/>
        </p:spPr>
        <p:txBody>
          <a:bodyPr wrap="square">
            <a:spAutoFit/>
          </a:bodyPr>
          <a:lstStyle/>
          <a:p>
            <a:r>
              <a:rPr lang="en-IN" sz="2400" b="1" i="0" dirty="0">
                <a:solidFill>
                  <a:schemeClr val="accent1"/>
                </a:solidFill>
                <a:effectLst/>
                <a:latin typeface="DejaVu Sans"/>
              </a:rPr>
              <a:t> </a:t>
            </a:r>
            <a:r>
              <a:rPr lang="en-IN" sz="2400" b="1" i="0" u="sng" dirty="0">
                <a:solidFill>
                  <a:schemeClr val="accent1"/>
                </a:solidFill>
                <a:effectLst/>
                <a:latin typeface="DejaVu Sans"/>
              </a:rPr>
              <a:t>Inorder</a:t>
            </a:r>
            <a:r>
              <a:rPr lang="en-IN" sz="2400" b="1" u="sng" dirty="0">
                <a:solidFill>
                  <a:schemeClr val="accent1"/>
                </a:solidFill>
                <a:latin typeface="DejaVu Sans"/>
              </a:rPr>
              <a:t> traversal</a:t>
            </a:r>
            <a:endParaRPr lang="en-IN" sz="2400" b="1" dirty="0">
              <a:solidFill>
                <a:schemeClr val="accent1"/>
              </a:solidFill>
            </a:endParaRPr>
          </a:p>
        </p:txBody>
      </p:sp>
      <p:pic>
        <p:nvPicPr>
          <p:cNvPr id="10" name="Picture 9">
            <a:extLst>
              <a:ext uri="{FF2B5EF4-FFF2-40B4-BE49-F238E27FC236}">
                <a16:creationId xmlns:a16="http://schemas.microsoft.com/office/drawing/2014/main" id="{A166C302-BCF2-E014-1F2A-356E78024E87}"/>
              </a:ext>
            </a:extLst>
          </p:cNvPr>
          <p:cNvPicPr>
            <a:picLocks noChangeAspect="1"/>
          </p:cNvPicPr>
          <p:nvPr/>
        </p:nvPicPr>
        <p:blipFill>
          <a:blip r:embed="rId2">
            <a:duotone>
              <a:schemeClr val="accent1">
                <a:shade val="45000"/>
                <a:satMod val="135000"/>
              </a:schemeClr>
              <a:prstClr val="white"/>
            </a:duotone>
            <a:alphaModFix/>
            <a:extLst>
              <a:ext uri="{28A0092B-C50C-407E-A947-70E740481C1C}">
                <a14:useLocalDpi xmlns:a14="http://schemas.microsoft.com/office/drawing/2010/main" val="0"/>
              </a:ext>
            </a:extLst>
          </a:blip>
          <a:srcRect b="6579"/>
          <a:stretch>
            <a:fillRect/>
          </a:stretch>
        </p:blipFill>
        <p:spPr>
          <a:xfrm>
            <a:off x="4809490" y="1000462"/>
            <a:ext cx="3771900" cy="5766098"/>
          </a:xfrm>
          <a:prstGeom prst="rect">
            <a:avLst/>
          </a:prstGeom>
        </p:spPr>
      </p:pic>
    </p:spTree>
    <p:extLst>
      <p:ext uri="{BB962C8B-B14F-4D97-AF65-F5344CB8AC3E}">
        <p14:creationId xmlns:p14="http://schemas.microsoft.com/office/powerpoint/2010/main" val="1488690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86E15-E106-391C-90BD-A4DAAB1001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7FF983-5655-5039-58D7-9A600BE82B4C}"/>
              </a:ext>
            </a:extLst>
          </p:cNvPr>
          <p:cNvSpPr txBox="1"/>
          <p:nvPr/>
        </p:nvSpPr>
        <p:spPr>
          <a:xfrm>
            <a:off x="944880" y="311835"/>
            <a:ext cx="10576560" cy="584775"/>
          </a:xfrm>
          <a:prstGeom prst="rect">
            <a:avLst/>
          </a:prstGeom>
          <a:noFill/>
        </p:spPr>
        <p:txBody>
          <a:bodyPr wrap="square">
            <a:spAutoFit/>
          </a:bodyPr>
          <a:lstStyle/>
          <a:p>
            <a:pPr algn="ctr"/>
            <a:r>
              <a:rPr lang="en-IN" sz="3200" dirty="0"/>
              <a:t>Basic search and traversal techniques for trees and graphs</a:t>
            </a:r>
          </a:p>
        </p:txBody>
      </p:sp>
      <p:sp>
        <p:nvSpPr>
          <p:cNvPr id="5" name="TextBox 4">
            <a:extLst>
              <a:ext uri="{FF2B5EF4-FFF2-40B4-BE49-F238E27FC236}">
                <a16:creationId xmlns:a16="http://schemas.microsoft.com/office/drawing/2014/main" id="{A06F7B2B-95A2-4E88-C1B3-0281DBB702ED}"/>
              </a:ext>
            </a:extLst>
          </p:cNvPr>
          <p:cNvSpPr txBox="1"/>
          <p:nvPr/>
        </p:nvSpPr>
        <p:spPr>
          <a:xfrm>
            <a:off x="1046480" y="1110734"/>
            <a:ext cx="6096000" cy="461665"/>
          </a:xfrm>
          <a:prstGeom prst="rect">
            <a:avLst/>
          </a:prstGeom>
          <a:noFill/>
        </p:spPr>
        <p:txBody>
          <a:bodyPr wrap="square">
            <a:spAutoFit/>
          </a:bodyPr>
          <a:lstStyle/>
          <a:p>
            <a:r>
              <a:rPr lang="en-IN" sz="2400" b="1" i="0" dirty="0">
                <a:solidFill>
                  <a:schemeClr val="accent1"/>
                </a:solidFill>
                <a:effectLst/>
                <a:latin typeface="DejaVu Sans"/>
              </a:rPr>
              <a:t> </a:t>
            </a:r>
            <a:r>
              <a:rPr lang="en-IN" sz="2400" b="1" i="0" u="sng" dirty="0">
                <a:solidFill>
                  <a:schemeClr val="accent1"/>
                </a:solidFill>
                <a:effectLst/>
                <a:latin typeface="DejaVu Sans"/>
              </a:rPr>
              <a:t>Postorder</a:t>
            </a:r>
            <a:r>
              <a:rPr lang="en-IN" sz="2400" b="1" u="sng" dirty="0">
                <a:solidFill>
                  <a:schemeClr val="accent1"/>
                </a:solidFill>
                <a:latin typeface="DejaVu Sans"/>
              </a:rPr>
              <a:t> traversal</a:t>
            </a:r>
            <a:endParaRPr lang="en-IN" sz="2400" b="1" dirty="0">
              <a:solidFill>
                <a:schemeClr val="accent1"/>
              </a:solidFill>
            </a:endParaRPr>
          </a:p>
        </p:txBody>
      </p:sp>
      <p:pic>
        <p:nvPicPr>
          <p:cNvPr id="4" name="Picture 3">
            <a:extLst>
              <a:ext uri="{FF2B5EF4-FFF2-40B4-BE49-F238E27FC236}">
                <a16:creationId xmlns:a16="http://schemas.microsoft.com/office/drawing/2014/main" id="{1D89E19D-8FBF-83F8-8391-CB78844387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880" y="1786523"/>
            <a:ext cx="10306050" cy="4191000"/>
          </a:xfrm>
          <a:prstGeom prst="rect">
            <a:avLst/>
          </a:prstGeom>
        </p:spPr>
      </p:pic>
    </p:spTree>
    <p:extLst>
      <p:ext uri="{BB962C8B-B14F-4D97-AF65-F5344CB8AC3E}">
        <p14:creationId xmlns:p14="http://schemas.microsoft.com/office/powerpoint/2010/main" val="3937269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E7C801-D2D4-A9A4-9E90-B5D24930974F}"/>
              </a:ext>
            </a:extLst>
          </p:cNvPr>
          <p:cNvSpPr txBox="1"/>
          <p:nvPr/>
        </p:nvSpPr>
        <p:spPr>
          <a:xfrm>
            <a:off x="833120" y="729596"/>
            <a:ext cx="10525760" cy="1429622"/>
          </a:xfrm>
          <a:prstGeom prst="rect">
            <a:avLst/>
          </a:prstGeom>
          <a:noFill/>
        </p:spPr>
        <p:txBody>
          <a:bodyPr wrap="square">
            <a:spAutoFit/>
          </a:bodyPr>
          <a:lstStyle/>
          <a:p>
            <a:pPr marL="0" marR="0" indent="0" algn="just">
              <a:lnSpc>
                <a:spcPct val="150000"/>
              </a:lnSpc>
              <a:spcAft>
                <a:spcPts val="1500"/>
              </a:spcAft>
              <a:buNone/>
            </a:pPr>
            <a:r>
              <a:rPr lang="en-IN" sz="2000" b="0" i="0" dirty="0">
                <a:solidFill>
                  <a:srgbClr val="37352F"/>
                </a:solidFill>
                <a:effectLst/>
                <a:latin typeface="-apple-system"/>
              </a:rPr>
              <a:t>In BFS, we traverse a tree from </a:t>
            </a:r>
            <a:r>
              <a:rPr lang="en-IN" sz="2000" b="0" i="1" dirty="0">
                <a:solidFill>
                  <a:srgbClr val="37352F"/>
                </a:solidFill>
                <a:effectLst/>
                <a:latin typeface="-apple-system"/>
              </a:rPr>
              <a:t>top to bottom, left to right</a:t>
            </a:r>
            <a:r>
              <a:rPr lang="en-IN" sz="2000" b="0" i="0" dirty="0">
                <a:solidFill>
                  <a:srgbClr val="37352F"/>
                </a:solidFill>
                <a:effectLst/>
                <a:latin typeface="-apple-system"/>
              </a:rPr>
              <a:t>, so when we're processing the node values, we're doing so across levels. After we've exhausted all the nodes in a level, we proceed down to the next level.</a:t>
            </a:r>
          </a:p>
        </p:txBody>
      </p:sp>
      <p:sp>
        <p:nvSpPr>
          <p:cNvPr id="5" name="TextBox 4">
            <a:extLst>
              <a:ext uri="{FF2B5EF4-FFF2-40B4-BE49-F238E27FC236}">
                <a16:creationId xmlns:a16="http://schemas.microsoft.com/office/drawing/2014/main" id="{86FBC343-6436-8119-A806-0F8890211B8E}"/>
              </a:ext>
            </a:extLst>
          </p:cNvPr>
          <p:cNvSpPr txBox="1"/>
          <p:nvPr/>
        </p:nvSpPr>
        <p:spPr>
          <a:xfrm>
            <a:off x="3048000" y="144821"/>
            <a:ext cx="6096000" cy="584775"/>
          </a:xfrm>
          <a:prstGeom prst="rect">
            <a:avLst/>
          </a:prstGeom>
          <a:noFill/>
        </p:spPr>
        <p:txBody>
          <a:bodyPr wrap="square">
            <a:spAutoFit/>
          </a:bodyPr>
          <a:lstStyle/>
          <a:p>
            <a:pPr marL="0" marR="0" indent="0" algn="ctr">
              <a:spcBef>
                <a:spcPts val="750"/>
              </a:spcBef>
              <a:spcAft>
                <a:spcPts val="750"/>
              </a:spcAft>
              <a:buNone/>
            </a:pPr>
            <a:r>
              <a:rPr lang="en-IN" sz="3200" b="1" i="0" dirty="0">
                <a:solidFill>
                  <a:srgbClr val="37352F"/>
                </a:solidFill>
                <a:effectLst/>
                <a:latin typeface="-apple-system"/>
              </a:rPr>
              <a:t>Breadth-First Search</a:t>
            </a:r>
          </a:p>
        </p:txBody>
      </p:sp>
      <p:sp>
        <p:nvSpPr>
          <p:cNvPr id="7" name="TextBox 6">
            <a:extLst>
              <a:ext uri="{FF2B5EF4-FFF2-40B4-BE49-F238E27FC236}">
                <a16:creationId xmlns:a16="http://schemas.microsoft.com/office/drawing/2014/main" id="{F55A28B4-4535-B86E-483C-C3BB6D24B3F9}"/>
              </a:ext>
            </a:extLst>
          </p:cNvPr>
          <p:cNvSpPr txBox="1"/>
          <p:nvPr/>
        </p:nvSpPr>
        <p:spPr>
          <a:xfrm>
            <a:off x="833120" y="2209382"/>
            <a:ext cx="9235440" cy="4503797"/>
          </a:xfrm>
          <a:prstGeom prst="rect">
            <a:avLst/>
          </a:prstGeom>
          <a:noFill/>
        </p:spPr>
        <p:txBody>
          <a:bodyPr wrap="square">
            <a:spAutoFit/>
          </a:bodyPr>
          <a:lstStyle/>
          <a:p>
            <a:pPr marL="0" marR="0" indent="0" algn="l">
              <a:spcBef>
                <a:spcPts val="750"/>
              </a:spcBef>
              <a:spcAft>
                <a:spcPts val="750"/>
              </a:spcAft>
              <a:buNone/>
            </a:pPr>
            <a:r>
              <a:rPr lang="en-IN" b="1" i="0" dirty="0">
                <a:solidFill>
                  <a:srgbClr val="37352F"/>
                </a:solidFill>
                <a:effectLst/>
                <a:latin typeface="-apple-system"/>
              </a:rPr>
              <a:t>Steps to Breadth-First Search:</a:t>
            </a:r>
          </a:p>
          <a:p>
            <a:pPr marL="0" marR="0" indent="0" algn="l">
              <a:spcAft>
                <a:spcPts val="1500"/>
              </a:spcAft>
              <a:buNone/>
            </a:pPr>
            <a:r>
              <a:rPr lang="en-IN" b="0" i="0" dirty="0">
                <a:solidFill>
                  <a:srgbClr val="37352F"/>
                </a:solidFill>
                <a:effectLst/>
                <a:latin typeface="-apple-system"/>
              </a:rPr>
              <a:t>Before beginning the search, create the following:</a:t>
            </a:r>
          </a:p>
          <a:p>
            <a:pPr lvl="1">
              <a:spcAft>
                <a:spcPts val="1500"/>
              </a:spcAft>
              <a:buFont typeface="Arial" panose="020B0604020202020204" pitchFamily="34" charset="0"/>
              <a:buChar char="•"/>
            </a:pPr>
            <a:r>
              <a:rPr lang="en-IN" b="0" i="0" dirty="0">
                <a:solidFill>
                  <a:srgbClr val="37352F"/>
                </a:solidFill>
                <a:effectLst/>
                <a:latin typeface="-apple-system"/>
              </a:rPr>
              <a:t> </a:t>
            </a:r>
            <a:r>
              <a:rPr lang="en-IN" dirty="0">
                <a:solidFill>
                  <a:srgbClr val="37352F"/>
                </a:solidFill>
                <a:latin typeface="-apple-system"/>
              </a:rPr>
              <a:t>A</a:t>
            </a:r>
            <a:r>
              <a:rPr lang="en-IN" b="0" i="0" dirty="0">
                <a:solidFill>
                  <a:srgbClr val="37352F"/>
                </a:solidFill>
                <a:effectLst/>
                <a:latin typeface="-apple-system"/>
              </a:rPr>
              <a:t> queue to keep track of all the nodes and their children that we'll need to process and</a:t>
            </a:r>
          </a:p>
          <a:p>
            <a:pPr lvl="1">
              <a:spcAft>
                <a:spcPts val="1500"/>
              </a:spcAft>
              <a:buFont typeface="Arial" panose="020B0604020202020204" pitchFamily="34" charset="0"/>
              <a:buChar char="•"/>
            </a:pPr>
            <a:r>
              <a:rPr lang="en-IN" b="0" i="0" dirty="0">
                <a:solidFill>
                  <a:srgbClr val="37352F"/>
                </a:solidFill>
                <a:effectLst/>
                <a:latin typeface="-apple-system"/>
              </a:rPr>
              <a:t> </a:t>
            </a:r>
            <a:r>
              <a:rPr lang="en-IN" dirty="0">
                <a:solidFill>
                  <a:srgbClr val="37352F"/>
                </a:solidFill>
                <a:latin typeface="-apple-system"/>
              </a:rPr>
              <a:t>A</a:t>
            </a:r>
            <a:r>
              <a:rPr lang="en-IN" b="0" i="0" dirty="0">
                <a:solidFill>
                  <a:srgbClr val="37352F"/>
                </a:solidFill>
                <a:effectLst/>
                <a:latin typeface="-apple-system"/>
              </a:rPr>
              <a:t> result array to print the nodes in order.</a:t>
            </a:r>
          </a:p>
          <a:p>
            <a:pPr marL="0" marR="0" indent="0" algn="l">
              <a:spcAft>
                <a:spcPts val="1500"/>
              </a:spcAft>
              <a:buNone/>
            </a:pPr>
            <a:r>
              <a:rPr lang="en-IN" b="0" i="0" dirty="0">
                <a:solidFill>
                  <a:srgbClr val="37352F"/>
                </a:solidFill>
                <a:effectLst/>
                <a:latin typeface="-apple-system"/>
              </a:rPr>
              <a:t>To begin the traversal, first push the root node into the queue. Then,</a:t>
            </a:r>
          </a:p>
          <a:p>
            <a:pPr marL="0" marR="0" indent="0" algn="l">
              <a:spcAft>
                <a:spcPts val="1500"/>
              </a:spcAft>
              <a:buFont typeface="+mj-lt"/>
              <a:buAutoNum type="arabicPeriod"/>
            </a:pPr>
            <a:r>
              <a:rPr lang="en-IN" b="0" i="0" dirty="0">
                <a:solidFill>
                  <a:srgbClr val="37352F"/>
                </a:solidFill>
                <a:effectLst/>
                <a:latin typeface="-apple-system"/>
              </a:rPr>
              <a:t>Assign the first node in the queue to be the </a:t>
            </a:r>
            <a:r>
              <a:rPr lang="en-IN" b="0" i="1" dirty="0">
                <a:solidFill>
                  <a:srgbClr val="37352F"/>
                </a:solidFill>
                <a:effectLst/>
                <a:latin typeface="-apple-system"/>
              </a:rPr>
              <a:t>current node</a:t>
            </a:r>
            <a:r>
              <a:rPr lang="en-IN" b="0" i="0" dirty="0">
                <a:solidFill>
                  <a:srgbClr val="37352F"/>
                </a:solidFill>
                <a:effectLst/>
                <a:latin typeface="-apple-system"/>
              </a:rPr>
              <a:t>,</a:t>
            </a:r>
          </a:p>
          <a:p>
            <a:pPr marL="0" marR="0" indent="0" algn="l">
              <a:spcAft>
                <a:spcPts val="1500"/>
              </a:spcAft>
              <a:buFont typeface="+mj-lt"/>
              <a:buAutoNum type="arabicPeriod"/>
            </a:pPr>
            <a:r>
              <a:rPr lang="en-IN" b="0" i="0" dirty="0">
                <a:solidFill>
                  <a:srgbClr val="37352F"/>
                </a:solidFill>
                <a:effectLst/>
                <a:latin typeface="-apple-system"/>
              </a:rPr>
              <a:t>Process/Print the current node,</a:t>
            </a:r>
          </a:p>
          <a:p>
            <a:pPr marL="0" marR="0" indent="0" algn="l">
              <a:spcAft>
                <a:spcPts val="1500"/>
              </a:spcAft>
              <a:buFont typeface="+mj-lt"/>
              <a:buAutoNum type="arabicPeriod"/>
            </a:pPr>
            <a:r>
              <a:rPr lang="en-IN" b="0" i="0" dirty="0">
                <a:solidFill>
                  <a:srgbClr val="37352F"/>
                </a:solidFill>
                <a:effectLst/>
                <a:latin typeface="-apple-system"/>
              </a:rPr>
              <a:t>If the current node has a left child, push the left child node into the queue,</a:t>
            </a:r>
          </a:p>
          <a:p>
            <a:pPr marL="0" marR="0" indent="0" algn="l">
              <a:spcAft>
                <a:spcPts val="1500"/>
              </a:spcAft>
              <a:buFont typeface="+mj-lt"/>
              <a:buAutoNum type="arabicPeriod"/>
            </a:pPr>
            <a:r>
              <a:rPr lang="en-IN" b="0" i="0" dirty="0">
                <a:solidFill>
                  <a:srgbClr val="37352F"/>
                </a:solidFill>
                <a:effectLst/>
                <a:latin typeface="-apple-system"/>
              </a:rPr>
              <a:t>If the current node has a right child, push the right child node into the queue, and</a:t>
            </a:r>
          </a:p>
          <a:p>
            <a:pPr marL="0" marR="0" indent="0" algn="l">
              <a:spcAft>
                <a:spcPts val="1500"/>
              </a:spcAft>
              <a:buFont typeface="+mj-lt"/>
              <a:buAutoNum type="arabicPeriod"/>
            </a:pPr>
            <a:r>
              <a:rPr lang="en-IN" b="0" i="0" dirty="0">
                <a:solidFill>
                  <a:srgbClr val="37352F"/>
                </a:solidFill>
                <a:effectLst/>
                <a:latin typeface="-apple-system"/>
              </a:rPr>
              <a:t>Shift or remove the first node from the queue.</a:t>
            </a:r>
          </a:p>
        </p:txBody>
      </p:sp>
      <p:pic>
        <p:nvPicPr>
          <p:cNvPr id="11" name="Picture 10">
            <a:extLst>
              <a:ext uri="{FF2B5EF4-FFF2-40B4-BE49-F238E27FC236}">
                <a16:creationId xmlns:a16="http://schemas.microsoft.com/office/drawing/2014/main" id="{869A3730-C23E-A3B3-D444-44FEF0C7B0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6853" y="3963900"/>
            <a:ext cx="3344027" cy="2508020"/>
          </a:xfrm>
          <a:prstGeom prst="rect">
            <a:avLst/>
          </a:prstGeom>
        </p:spPr>
      </p:pic>
    </p:spTree>
    <p:extLst>
      <p:ext uri="{BB962C8B-B14F-4D97-AF65-F5344CB8AC3E}">
        <p14:creationId xmlns:p14="http://schemas.microsoft.com/office/powerpoint/2010/main" val="4188894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4AF66-22CA-FF44-6CAC-1264067E1D2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5D3373F-2E96-5493-42AE-065AC044F747}"/>
              </a:ext>
            </a:extLst>
          </p:cNvPr>
          <p:cNvSpPr txBox="1"/>
          <p:nvPr/>
        </p:nvSpPr>
        <p:spPr>
          <a:xfrm>
            <a:off x="3048000" y="144821"/>
            <a:ext cx="6096000" cy="584775"/>
          </a:xfrm>
          <a:prstGeom prst="rect">
            <a:avLst/>
          </a:prstGeom>
          <a:noFill/>
        </p:spPr>
        <p:txBody>
          <a:bodyPr wrap="square">
            <a:spAutoFit/>
          </a:bodyPr>
          <a:lstStyle/>
          <a:p>
            <a:pPr marL="0" marR="0" indent="0" algn="ctr">
              <a:spcBef>
                <a:spcPts val="750"/>
              </a:spcBef>
              <a:spcAft>
                <a:spcPts val="750"/>
              </a:spcAft>
              <a:buNone/>
            </a:pPr>
            <a:r>
              <a:rPr lang="en-IN" sz="3200" b="1" i="0" dirty="0">
                <a:solidFill>
                  <a:srgbClr val="37352F"/>
                </a:solidFill>
                <a:effectLst/>
                <a:latin typeface="-apple-system"/>
              </a:rPr>
              <a:t>Depth-First Search</a:t>
            </a:r>
          </a:p>
        </p:txBody>
      </p:sp>
      <p:sp>
        <p:nvSpPr>
          <p:cNvPr id="4" name="TextBox 3">
            <a:extLst>
              <a:ext uri="{FF2B5EF4-FFF2-40B4-BE49-F238E27FC236}">
                <a16:creationId xmlns:a16="http://schemas.microsoft.com/office/drawing/2014/main" id="{CFED1349-744A-DF97-403C-B625891E83E8}"/>
              </a:ext>
            </a:extLst>
          </p:cNvPr>
          <p:cNvSpPr txBox="1"/>
          <p:nvPr/>
        </p:nvSpPr>
        <p:spPr>
          <a:xfrm>
            <a:off x="685800" y="861676"/>
            <a:ext cx="10820400" cy="2352952"/>
          </a:xfrm>
          <a:prstGeom prst="rect">
            <a:avLst/>
          </a:prstGeom>
          <a:noFill/>
        </p:spPr>
        <p:txBody>
          <a:bodyPr wrap="square">
            <a:spAutoFit/>
          </a:bodyPr>
          <a:lstStyle/>
          <a:p>
            <a:pPr algn="just">
              <a:lnSpc>
                <a:spcPct val="150000"/>
              </a:lnSpc>
            </a:pPr>
            <a:r>
              <a:rPr lang="en-IN" sz="2000" b="1" i="0" dirty="0">
                <a:solidFill>
                  <a:srgbClr val="37352F"/>
                </a:solidFill>
                <a:effectLst/>
                <a:latin typeface="-apple-system"/>
              </a:rPr>
              <a:t>Depth-First Search</a:t>
            </a:r>
            <a:r>
              <a:rPr lang="en-IN" sz="2000" b="0" i="0" dirty="0">
                <a:solidFill>
                  <a:srgbClr val="37352F"/>
                </a:solidFill>
                <a:effectLst/>
                <a:latin typeface="-apple-system"/>
              </a:rPr>
              <a:t> focuses on recursively processing nodes along a path between the root node and the leaf nodes. So imagine we're traversing straight down a path -- when a leaf node is finally reached, we </a:t>
            </a:r>
            <a:r>
              <a:rPr lang="en-IN" sz="2000" b="0" i="1" dirty="0">
                <a:solidFill>
                  <a:srgbClr val="37352F"/>
                </a:solidFill>
                <a:effectLst/>
                <a:latin typeface="-apple-system"/>
              </a:rPr>
              <a:t>backtrack</a:t>
            </a:r>
            <a:r>
              <a:rPr lang="en-IN" sz="2000" b="0" i="0" dirty="0">
                <a:solidFill>
                  <a:srgbClr val="37352F"/>
                </a:solidFill>
                <a:effectLst/>
                <a:latin typeface="-apple-system"/>
              </a:rPr>
              <a:t> from there and return back up our previously traversed path until we reach the first un-explored branch, and then we traverse that branch. This cycle of exhaustively exploring then backtracking repeats until all of the nodes of the tree have been visited.</a:t>
            </a:r>
            <a:endParaRPr lang="en-IN" sz="2000" dirty="0"/>
          </a:p>
        </p:txBody>
      </p:sp>
      <p:pic>
        <p:nvPicPr>
          <p:cNvPr id="6" name="Picture 5" descr="Depth-First Search through a binary tree">
            <a:extLst>
              <a:ext uri="{FF2B5EF4-FFF2-40B4-BE49-F238E27FC236}">
                <a16:creationId xmlns:a16="http://schemas.microsoft.com/office/drawing/2014/main" id="{9D98655E-4BBA-31E2-3542-44150DCB0BE9}"/>
              </a:ext>
            </a:extLst>
          </p:cNvPr>
          <p:cNvPicPr>
            <a:picLocks noChangeAspect="1"/>
          </p:cNvPicPr>
          <p:nvPr/>
        </p:nvPicPr>
        <p:blipFill>
          <a:blip r:embed="rId2"/>
          <a:stretch>
            <a:fillRect/>
          </a:stretch>
        </p:blipFill>
        <p:spPr>
          <a:xfrm>
            <a:off x="4013200" y="3214628"/>
            <a:ext cx="4572000" cy="3429000"/>
          </a:xfrm>
          <a:prstGeom prst="rect">
            <a:avLst/>
          </a:prstGeom>
        </p:spPr>
      </p:pic>
    </p:spTree>
    <p:extLst>
      <p:ext uri="{BB962C8B-B14F-4D97-AF65-F5344CB8AC3E}">
        <p14:creationId xmlns:p14="http://schemas.microsoft.com/office/powerpoint/2010/main" val="1196549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A9C026-95F6-6ED6-54CD-E06471CECD88}"/>
              </a:ext>
            </a:extLst>
          </p:cNvPr>
          <p:cNvSpPr txBox="1"/>
          <p:nvPr/>
        </p:nvSpPr>
        <p:spPr>
          <a:xfrm>
            <a:off x="3373120" y="294759"/>
            <a:ext cx="6096000" cy="584775"/>
          </a:xfrm>
          <a:prstGeom prst="rect">
            <a:avLst/>
          </a:prstGeom>
          <a:noFill/>
        </p:spPr>
        <p:txBody>
          <a:bodyPr wrap="square">
            <a:spAutoFit/>
          </a:bodyPr>
          <a:lstStyle/>
          <a:p>
            <a:pPr marL="0" marR="0" indent="0" algn="ctr">
              <a:spcBef>
                <a:spcPts val="750"/>
              </a:spcBef>
              <a:spcAft>
                <a:spcPts val="750"/>
              </a:spcAft>
              <a:buNone/>
            </a:pPr>
            <a:r>
              <a:rPr lang="en-IN" sz="3200" b="1" i="0" dirty="0">
                <a:solidFill>
                  <a:srgbClr val="37352F"/>
                </a:solidFill>
                <a:effectLst/>
                <a:latin typeface="-apple-system"/>
              </a:rPr>
              <a:t>Depth-First Traversals</a:t>
            </a:r>
          </a:p>
        </p:txBody>
      </p:sp>
      <p:sp>
        <p:nvSpPr>
          <p:cNvPr id="5" name="TextBox 4">
            <a:extLst>
              <a:ext uri="{FF2B5EF4-FFF2-40B4-BE49-F238E27FC236}">
                <a16:creationId xmlns:a16="http://schemas.microsoft.com/office/drawing/2014/main" id="{38261492-B274-242C-6464-1B74A098262E}"/>
              </a:ext>
            </a:extLst>
          </p:cNvPr>
          <p:cNvSpPr txBox="1"/>
          <p:nvPr/>
        </p:nvSpPr>
        <p:spPr>
          <a:xfrm>
            <a:off x="1097280" y="1134537"/>
            <a:ext cx="9997440" cy="3077766"/>
          </a:xfrm>
          <a:prstGeom prst="rect">
            <a:avLst/>
          </a:prstGeom>
          <a:noFill/>
        </p:spPr>
        <p:txBody>
          <a:bodyPr wrap="square">
            <a:spAutoFit/>
          </a:bodyPr>
          <a:lstStyle/>
          <a:p>
            <a:pPr marL="0" marR="0" indent="0" algn="l">
              <a:spcAft>
                <a:spcPts val="1500"/>
              </a:spcAft>
              <a:buNone/>
            </a:pPr>
            <a:r>
              <a:rPr lang="en-IN" sz="2400" b="0" i="0" dirty="0">
                <a:solidFill>
                  <a:srgbClr val="37352F"/>
                </a:solidFill>
                <a:effectLst/>
                <a:latin typeface="-apple-system"/>
              </a:rPr>
              <a:t>Here, we'll focus on these three Depth-First Searches.</a:t>
            </a:r>
          </a:p>
          <a:p>
            <a:pPr marL="0" marR="0" indent="0" algn="l">
              <a:spcAft>
                <a:spcPts val="1500"/>
              </a:spcAft>
              <a:buFont typeface="+mj-lt"/>
              <a:buAutoNum type="arabicPeriod"/>
            </a:pPr>
            <a:r>
              <a:rPr lang="en-IN" sz="2400" b="1" i="0" dirty="0">
                <a:solidFill>
                  <a:srgbClr val="37352F"/>
                </a:solidFill>
                <a:effectLst/>
                <a:latin typeface="-apple-system"/>
              </a:rPr>
              <a:t>Pre-Order</a:t>
            </a:r>
            <a:endParaRPr lang="en-IN" sz="2400" b="0" i="0" dirty="0">
              <a:solidFill>
                <a:srgbClr val="37352F"/>
              </a:solidFill>
              <a:effectLst/>
              <a:latin typeface="-apple-system"/>
            </a:endParaRPr>
          </a:p>
          <a:p>
            <a:pPr marL="0" marR="0" indent="0" algn="l">
              <a:spcAft>
                <a:spcPts val="1500"/>
              </a:spcAft>
              <a:buFont typeface="+mj-lt"/>
              <a:buAutoNum type="arabicPeriod"/>
            </a:pPr>
            <a:r>
              <a:rPr lang="en-IN" sz="2400" b="1" i="0" dirty="0">
                <a:solidFill>
                  <a:srgbClr val="37352F"/>
                </a:solidFill>
                <a:effectLst/>
                <a:latin typeface="-apple-system"/>
              </a:rPr>
              <a:t>In-Order</a:t>
            </a:r>
            <a:endParaRPr lang="en-IN" sz="2400" b="0" i="0" dirty="0">
              <a:solidFill>
                <a:srgbClr val="37352F"/>
              </a:solidFill>
              <a:effectLst/>
              <a:latin typeface="-apple-system"/>
            </a:endParaRPr>
          </a:p>
          <a:p>
            <a:pPr marL="0" marR="0" indent="0" algn="l">
              <a:spcAft>
                <a:spcPts val="1500"/>
              </a:spcAft>
              <a:buFont typeface="+mj-lt"/>
              <a:buAutoNum type="arabicPeriod"/>
            </a:pPr>
            <a:r>
              <a:rPr lang="en-IN" sz="2400" b="1" i="0" dirty="0">
                <a:solidFill>
                  <a:srgbClr val="37352F"/>
                </a:solidFill>
                <a:effectLst/>
                <a:latin typeface="-apple-system"/>
              </a:rPr>
              <a:t>Post-Order</a:t>
            </a:r>
            <a:endParaRPr lang="en-IN" sz="2400" b="0" i="0" dirty="0">
              <a:solidFill>
                <a:srgbClr val="37352F"/>
              </a:solidFill>
              <a:effectLst/>
              <a:latin typeface="-apple-system"/>
            </a:endParaRPr>
          </a:p>
          <a:p>
            <a:pPr marL="0" marR="0" indent="0" algn="l">
              <a:spcAft>
                <a:spcPts val="1500"/>
              </a:spcAft>
              <a:buNone/>
            </a:pPr>
            <a:r>
              <a:rPr lang="en-IN" sz="2400" b="0" i="0" dirty="0">
                <a:solidFill>
                  <a:srgbClr val="37352F"/>
                </a:solidFill>
                <a:effectLst/>
                <a:latin typeface="-apple-system"/>
              </a:rPr>
              <a:t>Each of these traversal methods is an algorithm or set of directions that dictates the order that we visit nodes and their subtrees.</a:t>
            </a:r>
          </a:p>
        </p:txBody>
      </p:sp>
      <p:graphicFrame>
        <p:nvGraphicFramePr>
          <p:cNvPr id="6" name="Table 5">
            <a:extLst>
              <a:ext uri="{FF2B5EF4-FFF2-40B4-BE49-F238E27FC236}">
                <a16:creationId xmlns:a16="http://schemas.microsoft.com/office/drawing/2014/main" id="{BD58EADD-4F6E-0666-8A3F-BC3A9E6665E9}"/>
              </a:ext>
            </a:extLst>
          </p:cNvPr>
          <p:cNvGraphicFramePr>
            <a:graphicFrameLocks noGrp="1"/>
          </p:cNvGraphicFramePr>
          <p:nvPr>
            <p:extLst>
              <p:ext uri="{D42A27DB-BD31-4B8C-83A1-F6EECF244321}">
                <p14:modId xmlns:p14="http://schemas.microsoft.com/office/powerpoint/2010/main" val="2974602870"/>
              </p:ext>
            </p:extLst>
          </p:nvPr>
        </p:nvGraphicFramePr>
        <p:xfrm>
          <a:off x="4081780" y="4369503"/>
          <a:ext cx="4028440" cy="2065160"/>
        </p:xfrm>
        <a:graphic>
          <a:graphicData uri="http://schemas.openxmlformats.org/drawingml/2006/table">
            <a:tbl>
              <a:tblPr/>
              <a:tblGrid>
                <a:gridCol w="1007110">
                  <a:extLst>
                    <a:ext uri="{9D8B030D-6E8A-4147-A177-3AD203B41FA5}">
                      <a16:colId xmlns:a16="http://schemas.microsoft.com/office/drawing/2014/main" val="4268369562"/>
                    </a:ext>
                  </a:extLst>
                </a:gridCol>
                <a:gridCol w="1007110">
                  <a:extLst>
                    <a:ext uri="{9D8B030D-6E8A-4147-A177-3AD203B41FA5}">
                      <a16:colId xmlns:a16="http://schemas.microsoft.com/office/drawing/2014/main" val="1055533793"/>
                    </a:ext>
                  </a:extLst>
                </a:gridCol>
                <a:gridCol w="1007110">
                  <a:extLst>
                    <a:ext uri="{9D8B030D-6E8A-4147-A177-3AD203B41FA5}">
                      <a16:colId xmlns:a16="http://schemas.microsoft.com/office/drawing/2014/main" val="890101716"/>
                    </a:ext>
                  </a:extLst>
                </a:gridCol>
                <a:gridCol w="1007110">
                  <a:extLst>
                    <a:ext uri="{9D8B030D-6E8A-4147-A177-3AD203B41FA5}">
                      <a16:colId xmlns:a16="http://schemas.microsoft.com/office/drawing/2014/main" val="4283993404"/>
                    </a:ext>
                  </a:extLst>
                </a:gridCol>
              </a:tblGrid>
              <a:tr h="516290">
                <a:tc>
                  <a:txBody>
                    <a:bodyPr/>
                    <a:lstStyle/>
                    <a:p>
                      <a:pPr marL="0" marR="0" algn="l">
                        <a:buNone/>
                      </a:pPr>
                      <a:r>
                        <a:rPr lang="en-IN" sz="2400" b="0" i="0">
                          <a:solidFill>
                            <a:srgbClr val="37352F"/>
                          </a:solidFill>
                          <a:effectLst/>
                          <a:latin typeface="-apple-system"/>
                        </a:rPr>
                        <a:t>Search</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a:buNone/>
                      </a:pPr>
                      <a:r>
                        <a:rPr lang="en-IN" sz="2400" b="0" i="0">
                          <a:solidFill>
                            <a:srgbClr val="37352F"/>
                          </a:solidFill>
                          <a:effectLst/>
                          <a:latin typeface="-apple-system"/>
                        </a:rPr>
                        <a:t>Order</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a:buNone/>
                      </a:pPr>
                      <a:endParaRPr lang="en-IN" sz="2400" b="0" i="0">
                        <a:solidFill>
                          <a:srgbClr val="37352F"/>
                        </a:solidFill>
                        <a:effectLst/>
                        <a:latin typeface="-apple-system"/>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a:buNone/>
                      </a:pPr>
                      <a:endParaRPr lang="en-IN" sz="2400" b="0" i="0">
                        <a:solidFill>
                          <a:srgbClr val="37352F"/>
                        </a:solidFill>
                        <a:effectLst/>
                        <a:latin typeface="-apple-system"/>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18146850"/>
                  </a:ext>
                </a:extLst>
              </a:tr>
              <a:tr h="516290">
                <a:tc>
                  <a:txBody>
                    <a:bodyPr/>
                    <a:lstStyle/>
                    <a:p>
                      <a:pPr marL="0" marR="0" algn="l">
                        <a:buNone/>
                      </a:pPr>
                      <a:r>
                        <a:rPr lang="en-IN" sz="2400" b="1" i="0">
                          <a:solidFill>
                            <a:srgbClr val="37352F"/>
                          </a:solidFill>
                          <a:effectLst/>
                          <a:latin typeface="-apple-system"/>
                        </a:rPr>
                        <a:t>pre-</a:t>
                      </a:r>
                      <a:endParaRPr lang="en-IN" sz="2400" b="0" i="0">
                        <a:solidFill>
                          <a:srgbClr val="37352F"/>
                        </a:solidFill>
                        <a:effectLst/>
                        <a:latin typeface="-apple-system"/>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a:buNone/>
                      </a:pPr>
                      <a:r>
                        <a:rPr lang="en-IN" sz="2400" b="1" i="0">
                          <a:solidFill>
                            <a:srgbClr val="37352F"/>
                          </a:solidFill>
                          <a:effectLst/>
                          <a:latin typeface="-apple-system"/>
                        </a:rPr>
                        <a:t>ROOT</a:t>
                      </a:r>
                      <a:endParaRPr lang="en-IN" sz="2400" b="0" i="0">
                        <a:solidFill>
                          <a:srgbClr val="37352F"/>
                        </a:solidFill>
                        <a:effectLst/>
                        <a:latin typeface="-apple-system"/>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a:buNone/>
                      </a:pPr>
                      <a:r>
                        <a:rPr lang="en-IN" sz="2400" b="0" i="0">
                          <a:solidFill>
                            <a:srgbClr val="37352F"/>
                          </a:solidFill>
                          <a:effectLst/>
                          <a:latin typeface="-apple-system"/>
                        </a:rPr>
                        <a:t>left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a:buNone/>
                      </a:pPr>
                      <a:r>
                        <a:rPr lang="en-IN" sz="2400" b="0" i="0">
                          <a:solidFill>
                            <a:srgbClr val="37352F"/>
                          </a:solidFill>
                          <a:effectLst/>
                          <a:latin typeface="-apple-system"/>
                        </a:rPr>
                        <a:t>right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60818386"/>
                  </a:ext>
                </a:extLst>
              </a:tr>
              <a:tr h="516290">
                <a:tc>
                  <a:txBody>
                    <a:bodyPr/>
                    <a:lstStyle/>
                    <a:p>
                      <a:pPr marL="0" marR="0" algn="l">
                        <a:buNone/>
                      </a:pPr>
                      <a:r>
                        <a:rPr lang="en-IN" sz="2400" b="1" i="0">
                          <a:solidFill>
                            <a:srgbClr val="37352F"/>
                          </a:solidFill>
                          <a:effectLst/>
                          <a:latin typeface="-apple-system"/>
                        </a:rPr>
                        <a:t>in-</a:t>
                      </a:r>
                      <a:endParaRPr lang="en-IN" sz="2400" b="0" i="0">
                        <a:solidFill>
                          <a:srgbClr val="37352F"/>
                        </a:solidFill>
                        <a:effectLst/>
                        <a:latin typeface="-apple-system"/>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a:buNone/>
                      </a:pPr>
                      <a:r>
                        <a:rPr lang="en-IN" sz="2400" b="0" i="0">
                          <a:solidFill>
                            <a:srgbClr val="37352F"/>
                          </a:solidFill>
                          <a:effectLst/>
                          <a:latin typeface="-apple-system"/>
                        </a:rPr>
                        <a:t>left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a:buNone/>
                      </a:pPr>
                      <a:r>
                        <a:rPr lang="en-IN" sz="2400" b="1" i="0">
                          <a:solidFill>
                            <a:srgbClr val="37352F"/>
                          </a:solidFill>
                          <a:effectLst/>
                          <a:latin typeface="-apple-system"/>
                        </a:rPr>
                        <a:t>ROOT</a:t>
                      </a:r>
                      <a:endParaRPr lang="en-IN" sz="2400" b="0" i="0">
                        <a:solidFill>
                          <a:srgbClr val="37352F"/>
                        </a:solidFill>
                        <a:effectLst/>
                        <a:latin typeface="-apple-system"/>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a:buNone/>
                      </a:pPr>
                      <a:r>
                        <a:rPr lang="en-IN" sz="2400" b="0" i="0">
                          <a:solidFill>
                            <a:srgbClr val="37352F"/>
                          </a:solidFill>
                          <a:effectLst/>
                          <a:latin typeface="-apple-system"/>
                        </a:rPr>
                        <a:t>right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18131361"/>
                  </a:ext>
                </a:extLst>
              </a:tr>
              <a:tr h="516290">
                <a:tc>
                  <a:txBody>
                    <a:bodyPr/>
                    <a:lstStyle/>
                    <a:p>
                      <a:pPr marL="0" marR="0" algn="l">
                        <a:buNone/>
                      </a:pPr>
                      <a:r>
                        <a:rPr lang="en-IN" sz="2400" b="1" i="0">
                          <a:solidFill>
                            <a:srgbClr val="37352F"/>
                          </a:solidFill>
                          <a:effectLst/>
                          <a:latin typeface="-apple-system"/>
                        </a:rPr>
                        <a:t>post-</a:t>
                      </a:r>
                      <a:endParaRPr lang="en-IN" sz="2400" b="0" i="0">
                        <a:solidFill>
                          <a:srgbClr val="37352F"/>
                        </a:solidFill>
                        <a:effectLst/>
                        <a:latin typeface="-apple-system"/>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a:buNone/>
                      </a:pPr>
                      <a:r>
                        <a:rPr lang="en-IN" sz="2400" b="0" i="0">
                          <a:solidFill>
                            <a:srgbClr val="37352F"/>
                          </a:solidFill>
                          <a:effectLst/>
                          <a:latin typeface="-apple-system"/>
                        </a:rPr>
                        <a:t>left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a:buNone/>
                      </a:pPr>
                      <a:r>
                        <a:rPr lang="en-IN" sz="2400" b="0" i="0">
                          <a:solidFill>
                            <a:srgbClr val="37352F"/>
                          </a:solidFill>
                          <a:effectLst/>
                          <a:latin typeface="-apple-system"/>
                        </a:rPr>
                        <a:t>right</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a:buNone/>
                      </a:pPr>
                      <a:r>
                        <a:rPr lang="en-IN" sz="2400" b="1" i="0" dirty="0">
                          <a:solidFill>
                            <a:srgbClr val="37352F"/>
                          </a:solidFill>
                          <a:effectLst/>
                          <a:latin typeface="-apple-system"/>
                        </a:rPr>
                        <a:t>ROOT</a:t>
                      </a:r>
                      <a:endParaRPr lang="en-IN" sz="2400" b="0" i="0" dirty="0">
                        <a:solidFill>
                          <a:srgbClr val="37352F"/>
                        </a:solidFill>
                        <a:effectLst/>
                        <a:latin typeface="-apple-system"/>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92570986"/>
                  </a:ext>
                </a:extLst>
              </a:tr>
            </a:tbl>
          </a:graphicData>
        </a:graphic>
      </p:graphicFrame>
    </p:spTree>
    <p:extLst>
      <p:ext uri="{BB962C8B-B14F-4D97-AF65-F5344CB8AC3E}">
        <p14:creationId xmlns:p14="http://schemas.microsoft.com/office/powerpoint/2010/main" val="2944459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84588F-A6F8-9EFB-BADC-E199C479F4CD}"/>
              </a:ext>
            </a:extLst>
          </p:cNvPr>
          <p:cNvSpPr txBox="1"/>
          <p:nvPr/>
        </p:nvSpPr>
        <p:spPr>
          <a:xfrm>
            <a:off x="3149600" y="277614"/>
            <a:ext cx="6096000" cy="707886"/>
          </a:xfrm>
          <a:prstGeom prst="rect">
            <a:avLst/>
          </a:prstGeom>
          <a:noFill/>
        </p:spPr>
        <p:txBody>
          <a:bodyPr wrap="square">
            <a:spAutoFit/>
          </a:bodyPr>
          <a:lstStyle/>
          <a:p>
            <a:pPr algn="ctr"/>
            <a:r>
              <a:rPr lang="en-IN" sz="4000" b="1" dirty="0"/>
              <a:t>NP-completeness</a:t>
            </a:r>
          </a:p>
        </p:txBody>
      </p:sp>
      <p:sp>
        <p:nvSpPr>
          <p:cNvPr id="5" name="TextBox 4">
            <a:extLst>
              <a:ext uri="{FF2B5EF4-FFF2-40B4-BE49-F238E27FC236}">
                <a16:creationId xmlns:a16="http://schemas.microsoft.com/office/drawing/2014/main" id="{E2DBC223-D5FE-B63F-E184-C11D59D443EC}"/>
              </a:ext>
            </a:extLst>
          </p:cNvPr>
          <p:cNvSpPr txBox="1"/>
          <p:nvPr/>
        </p:nvSpPr>
        <p:spPr>
          <a:xfrm>
            <a:off x="1102360" y="983982"/>
            <a:ext cx="10190480" cy="5596404"/>
          </a:xfrm>
          <a:prstGeom prst="rect">
            <a:avLst/>
          </a:prstGeom>
          <a:noFill/>
        </p:spPr>
        <p:txBody>
          <a:bodyPr wrap="square">
            <a:spAutoFit/>
          </a:bodyPr>
          <a:lstStyle/>
          <a:p>
            <a:pPr marL="0" marR="0" indent="0" algn="just" rtl="0" fontAlgn="base">
              <a:lnSpc>
                <a:spcPct val="150000"/>
              </a:lnSpc>
              <a:spcAft>
                <a:spcPts val="750"/>
              </a:spcAft>
              <a:buNone/>
            </a:pPr>
            <a:r>
              <a:rPr lang="en-IN" sz="2400" b="0" i="0" spc="12" dirty="0">
                <a:solidFill>
                  <a:srgbClr val="273239"/>
                </a:solidFill>
                <a:effectLst/>
                <a:latin typeface="Nunito" pitchFamily="2" charset="0"/>
              </a:rPr>
              <a:t>In computer science, problems are divided into classes known as </a:t>
            </a:r>
            <a:r>
              <a:rPr lang="en-IN" sz="2400" b="1" i="0" spc="10" dirty="0">
                <a:solidFill>
                  <a:srgbClr val="273239"/>
                </a:solidFill>
                <a:effectLst/>
                <a:latin typeface="Nunito" pitchFamily="2" charset="0"/>
              </a:rPr>
              <a:t>Complexity Classes</a:t>
            </a:r>
            <a:r>
              <a:rPr lang="en-IN" sz="2400" b="0" i="0" spc="12" dirty="0">
                <a:solidFill>
                  <a:srgbClr val="273239"/>
                </a:solidFill>
                <a:effectLst/>
                <a:latin typeface="Nunito" pitchFamily="2" charset="0"/>
              </a:rPr>
              <a:t>. In complexity theory, a Complexity Class is a set of problems with related complexity. With the help of complexity theory, we try to cover the following.</a:t>
            </a:r>
            <a:endParaRPr lang="en-IN" sz="2400" b="0" i="0" spc="10" dirty="0">
              <a:solidFill>
                <a:srgbClr val="273239"/>
              </a:solidFill>
              <a:effectLst/>
              <a:latin typeface="Nunito" pitchFamily="2" charset="0"/>
            </a:endParaRPr>
          </a:p>
          <a:p>
            <a:pPr marL="228600" marR="0" indent="0" algn="just" fontAlgn="base">
              <a:lnSpc>
                <a:spcPct val="150000"/>
              </a:lnSpc>
              <a:spcAft>
                <a:spcPts val="1800"/>
              </a:spcAft>
              <a:buFont typeface="Arial" panose="020B0604020202020204" pitchFamily="34" charset="0"/>
              <a:buChar char="•"/>
            </a:pPr>
            <a:r>
              <a:rPr lang="en-IN" sz="2400" b="0" i="0" spc="12" dirty="0">
                <a:solidFill>
                  <a:srgbClr val="273239"/>
                </a:solidFill>
                <a:effectLst/>
                <a:latin typeface="Nunito" pitchFamily="2" charset="0"/>
              </a:rPr>
              <a:t> Problems that cannot be solved by computers.</a:t>
            </a:r>
            <a:endParaRPr lang="en-IN" sz="2400" b="0" i="0" spc="10" dirty="0">
              <a:solidFill>
                <a:srgbClr val="273239"/>
              </a:solidFill>
              <a:effectLst/>
              <a:latin typeface="Nunito" pitchFamily="2" charset="0"/>
            </a:endParaRPr>
          </a:p>
          <a:p>
            <a:pPr marL="228600" marR="0" indent="0" algn="just" fontAlgn="base">
              <a:lnSpc>
                <a:spcPct val="150000"/>
              </a:lnSpc>
              <a:spcAft>
                <a:spcPts val="1800"/>
              </a:spcAft>
              <a:buFont typeface="Arial" panose="020B0604020202020204" pitchFamily="34" charset="0"/>
              <a:buChar char="•"/>
            </a:pPr>
            <a:r>
              <a:rPr lang="en-IN" sz="2400" b="0" i="0" spc="12" dirty="0">
                <a:solidFill>
                  <a:srgbClr val="273239"/>
                </a:solidFill>
                <a:effectLst/>
                <a:latin typeface="Nunito" pitchFamily="2" charset="0"/>
              </a:rPr>
              <a:t> Problems that can be efficiently solved (solved in Polynomial time) by computers.</a:t>
            </a:r>
            <a:endParaRPr lang="en-IN" sz="2400" b="0" i="0" spc="10" dirty="0">
              <a:solidFill>
                <a:srgbClr val="273239"/>
              </a:solidFill>
              <a:effectLst/>
              <a:latin typeface="Nunito" pitchFamily="2" charset="0"/>
            </a:endParaRPr>
          </a:p>
          <a:p>
            <a:pPr marL="228600" marR="0" indent="0" algn="just" fontAlgn="base">
              <a:lnSpc>
                <a:spcPct val="150000"/>
              </a:lnSpc>
              <a:spcAft>
                <a:spcPts val="1800"/>
              </a:spcAft>
              <a:buFont typeface="Arial" panose="020B0604020202020204" pitchFamily="34" charset="0"/>
              <a:buChar char="•"/>
            </a:pPr>
            <a:r>
              <a:rPr lang="en-IN" sz="2400" b="0" i="0" spc="12" dirty="0">
                <a:solidFill>
                  <a:srgbClr val="273239"/>
                </a:solidFill>
                <a:effectLst/>
                <a:latin typeface="Nunito" pitchFamily="2" charset="0"/>
              </a:rPr>
              <a:t> Problems for which no efficient solution (only exponential time algorithms) exist.</a:t>
            </a:r>
            <a:endParaRPr lang="en-IN" sz="2400" b="0" i="0" spc="10" dirty="0">
              <a:solidFill>
                <a:srgbClr val="273239"/>
              </a:solidFill>
              <a:effectLst/>
              <a:latin typeface="Nunito" pitchFamily="2" charset="0"/>
            </a:endParaRPr>
          </a:p>
        </p:txBody>
      </p:sp>
    </p:spTree>
    <p:extLst>
      <p:ext uri="{BB962C8B-B14F-4D97-AF65-F5344CB8AC3E}">
        <p14:creationId xmlns:p14="http://schemas.microsoft.com/office/powerpoint/2010/main" val="18591145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1A41F-7069-1765-74A3-DD729A25C6F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44FB5D2-417D-4D6F-799D-041A7D4F933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282988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2DA5378-802F-1362-5AF5-F6686FCD6AC0}"/>
              </a:ext>
            </a:extLst>
          </p:cNvPr>
          <p:cNvSpPr txBox="1"/>
          <p:nvPr/>
        </p:nvSpPr>
        <p:spPr>
          <a:xfrm>
            <a:off x="1330960" y="399245"/>
            <a:ext cx="9834880" cy="450764"/>
          </a:xfrm>
          <a:prstGeom prst="rect">
            <a:avLst/>
          </a:prstGeom>
          <a:noFill/>
        </p:spPr>
        <p:txBody>
          <a:bodyPr wrap="square">
            <a:spAutoFit/>
          </a:bodyPr>
          <a:lstStyle/>
          <a:p>
            <a:pPr marL="0" marR="0" indent="0" algn="ctr">
              <a:lnSpc>
                <a:spcPts val="2625"/>
              </a:lnSpc>
              <a:spcBef>
                <a:spcPts val="1650"/>
              </a:spcBef>
              <a:buNone/>
            </a:pPr>
            <a:r>
              <a:rPr lang="en-IN" sz="3200" b="1" i="0" spc="0" dirty="0">
                <a:solidFill>
                  <a:srgbClr val="273239"/>
                </a:solidFill>
                <a:effectLst/>
                <a:latin typeface="Source Sans 3"/>
              </a:rPr>
              <a:t>Introduction to NP-Complete Complexity Classes</a:t>
            </a:r>
          </a:p>
        </p:txBody>
      </p:sp>
      <p:sp>
        <p:nvSpPr>
          <p:cNvPr id="11" name="TextBox 10">
            <a:extLst>
              <a:ext uri="{FF2B5EF4-FFF2-40B4-BE49-F238E27FC236}">
                <a16:creationId xmlns:a16="http://schemas.microsoft.com/office/drawing/2014/main" id="{DF6E891C-DDA7-1D06-5EB4-AF19AE278959}"/>
              </a:ext>
            </a:extLst>
          </p:cNvPr>
          <p:cNvSpPr txBox="1"/>
          <p:nvPr/>
        </p:nvSpPr>
        <p:spPr>
          <a:xfrm>
            <a:off x="1178560" y="1042449"/>
            <a:ext cx="9834880" cy="2872581"/>
          </a:xfrm>
          <a:prstGeom prst="rect">
            <a:avLst/>
          </a:prstGeom>
          <a:noFill/>
        </p:spPr>
        <p:txBody>
          <a:bodyPr wrap="square">
            <a:spAutoFit/>
          </a:bodyPr>
          <a:lstStyle/>
          <a:p>
            <a:pPr marL="0" marR="0" indent="0" algn="just" rtl="0" fontAlgn="base">
              <a:spcAft>
                <a:spcPts val="750"/>
              </a:spcAft>
              <a:buNone/>
            </a:pPr>
            <a:r>
              <a:rPr lang="en-IN" b="0" i="0" spc="12" dirty="0">
                <a:solidFill>
                  <a:srgbClr val="273239"/>
                </a:solidFill>
                <a:effectLst/>
                <a:latin typeface="Nunito" pitchFamily="2" charset="0"/>
              </a:rPr>
              <a:t>NP-complete problems are a subset of the larger class of NP problems. NP problems are a class of computational problems that can be solved in polynomial time by a non-deterministic machine and can be verified in polynomial time by a deterministic Machine.</a:t>
            </a:r>
            <a:endParaRPr lang="en-IN" b="0" i="0" spc="10" dirty="0">
              <a:solidFill>
                <a:srgbClr val="273239"/>
              </a:solidFill>
              <a:effectLst/>
              <a:latin typeface="Nunito" pitchFamily="2" charset="0"/>
            </a:endParaRPr>
          </a:p>
          <a:p>
            <a:pPr marL="228600" marR="0" indent="0" algn="just" fontAlgn="base">
              <a:spcAft>
                <a:spcPts val="1800"/>
              </a:spcAft>
              <a:buFont typeface="Arial" panose="020B0604020202020204" pitchFamily="34" charset="0"/>
              <a:buChar char="•"/>
            </a:pPr>
            <a:r>
              <a:rPr lang="en-IN" b="0" i="0" spc="12" dirty="0">
                <a:solidFill>
                  <a:srgbClr val="273239"/>
                </a:solidFill>
                <a:effectLst/>
                <a:latin typeface="Nunito" pitchFamily="2" charset="0"/>
              </a:rPr>
              <a:t> A problem L in NP is NP-complete if all other problems in NP can be reduced to L in polynomial time.</a:t>
            </a:r>
            <a:endParaRPr lang="en-IN" b="0" i="0" spc="10" dirty="0">
              <a:solidFill>
                <a:srgbClr val="273239"/>
              </a:solidFill>
              <a:effectLst/>
              <a:latin typeface="Nunito" pitchFamily="2" charset="0"/>
            </a:endParaRPr>
          </a:p>
          <a:p>
            <a:pPr marL="228600" marR="0" indent="0" algn="just" fontAlgn="base">
              <a:spcAft>
                <a:spcPts val="1800"/>
              </a:spcAft>
              <a:buFont typeface="Arial" panose="020B0604020202020204" pitchFamily="34" charset="0"/>
              <a:buChar char="•"/>
            </a:pPr>
            <a:r>
              <a:rPr lang="en-IN" b="0" i="0" spc="12" dirty="0">
                <a:solidFill>
                  <a:srgbClr val="273239"/>
                </a:solidFill>
                <a:effectLst/>
                <a:latin typeface="Nunito" pitchFamily="2" charset="0"/>
              </a:rPr>
              <a:t> If any NP-complete problem can be solved in polynomial time, then every problem in NP can be solved in polynomial time.</a:t>
            </a:r>
            <a:endParaRPr lang="en-IN" b="0" i="0" spc="10" dirty="0">
              <a:solidFill>
                <a:srgbClr val="273239"/>
              </a:solidFill>
              <a:effectLst/>
              <a:latin typeface="Nunito" pitchFamily="2" charset="0"/>
            </a:endParaRPr>
          </a:p>
          <a:p>
            <a:pPr marL="228600" marR="0" indent="0" algn="just" fontAlgn="base">
              <a:spcAft>
                <a:spcPts val="1800"/>
              </a:spcAft>
              <a:buFont typeface="Arial" panose="020B0604020202020204" pitchFamily="34" charset="0"/>
              <a:buChar char="•"/>
            </a:pPr>
            <a:r>
              <a:rPr lang="en-IN" b="0" i="0" spc="12" dirty="0">
                <a:solidFill>
                  <a:srgbClr val="273239"/>
                </a:solidFill>
                <a:effectLst/>
                <a:latin typeface="Nunito" pitchFamily="2" charset="0"/>
              </a:rPr>
              <a:t> NP-complete problems are the hardest problems in the NP set.</a:t>
            </a:r>
            <a:endParaRPr lang="en-IN" b="0" i="0" spc="10" dirty="0">
              <a:solidFill>
                <a:srgbClr val="273239"/>
              </a:solidFill>
              <a:effectLst/>
              <a:latin typeface="Nunito" pitchFamily="2" charset="0"/>
            </a:endParaRPr>
          </a:p>
        </p:txBody>
      </p:sp>
      <p:sp>
        <p:nvSpPr>
          <p:cNvPr id="13" name="TextBox 12">
            <a:extLst>
              <a:ext uri="{FF2B5EF4-FFF2-40B4-BE49-F238E27FC236}">
                <a16:creationId xmlns:a16="http://schemas.microsoft.com/office/drawing/2014/main" id="{00F1B812-687C-9EE6-56D0-6F173C6C926A}"/>
              </a:ext>
            </a:extLst>
          </p:cNvPr>
          <p:cNvSpPr txBox="1"/>
          <p:nvPr/>
        </p:nvSpPr>
        <p:spPr>
          <a:xfrm>
            <a:off x="1178560" y="4107470"/>
            <a:ext cx="9834880" cy="2318583"/>
          </a:xfrm>
          <a:prstGeom prst="rect">
            <a:avLst/>
          </a:prstGeom>
          <a:noFill/>
        </p:spPr>
        <p:txBody>
          <a:bodyPr wrap="square">
            <a:spAutoFit/>
          </a:bodyPr>
          <a:lstStyle/>
          <a:p>
            <a:pPr marL="0" marR="0" indent="0" algn="just" rtl="0" fontAlgn="base">
              <a:spcAft>
                <a:spcPts val="750"/>
              </a:spcAft>
              <a:buNone/>
            </a:pPr>
            <a:r>
              <a:rPr lang="en-IN" sz="1800" b="1" i="0" spc="12" dirty="0">
                <a:solidFill>
                  <a:srgbClr val="273239"/>
                </a:solidFill>
                <a:effectLst/>
                <a:latin typeface="Nunito" pitchFamily="2" charset="0"/>
              </a:rPr>
              <a:t>A decision problem L is NP-complete if it follow the below two properties:</a:t>
            </a:r>
            <a:endParaRPr lang="en-IN" sz="1800" b="1" i="0" spc="10" dirty="0">
              <a:solidFill>
                <a:srgbClr val="273239"/>
              </a:solidFill>
              <a:effectLst/>
              <a:latin typeface="Nunito" pitchFamily="2" charset="0"/>
            </a:endParaRPr>
          </a:p>
          <a:p>
            <a:pPr marL="228600" marR="0" indent="0" algn="just" fontAlgn="base">
              <a:spcAft>
                <a:spcPts val="1800"/>
              </a:spcAft>
              <a:buFont typeface="+mj-lt"/>
              <a:buAutoNum type="arabicPeriod"/>
            </a:pPr>
            <a:r>
              <a:rPr lang="en-IN" sz="1800" b="0" i="0" spc="12" dirty="0">
                <a:solidFill>
                  <a:srgbClr val="273239"/>
                </a:solidFill>
                <a:effectLst/>
                <a:latin typeface="Nunito" pitchFamily="2" charset="0"/>
              </a:rPr>
              <a:t> L is in NP (Any solution to NP-complete problems can be checked quickly, but no efficient solution is known).</a:t>
            </a:r>
            <a:endParaRPr lang="en-IN" sz="1800" b="0" i="0" spc="10" dirty="0">
              <a:solidFill>
                <a:srgbClr val="273239"/>
              </a:solidFill>
              <a:effectLst/>
              <a:latin typeface="Nunito" pitchFamily="2" charset="0"/>
            </a:endParaRPr>
          </a:p>
          <a:p>
            <a:pPr marL="228600" marR="0" indent="0" algn="just" fontAlgn="base">
              <a:spcAft>
                <a:spcPts val="1800"/>
              </a:spcAft>
              <a:buFont typeface="+mj-lt"/>
              <a:buAutoNum type="arabicPeriod" startAt="2"/>
            </a:pPr>
            <a:r>
              <a:rPr lang="en-IN" sz="1800" b="0" i="0" spc="12" dirty="0">
                <a:solidFill>
                  <a:srgbClr val="273239"/>
                </a:solidFill>
                <a:effectLst/>
                <a:latin typeface="Nunito" pitchFamily="2" charset="0"/>
              </a:rPr>
              <a:t> Every problem in NP is reducible to L in polynomial time (Reduction is defined below). </a:t>
            </a:r>
            <a:endParaRPr lang="en-IN" sz="1800" b="0" i="0" spc="10" dirty="0">
              <a:solidFill>
                <a:srgbClr val="273239"/>
              </a:solidFill>
              <a:effectLst/>
              <a:latin typeface="Nunito" pitchFamily="2" charset="0"/>
            </a:endParaRPr>
          </a:p>
          <a:p>
            <a:pPr marL="0" marR="0" indent="0" algn="just" rtl="0" fontAlgn="base">
              <a:spcAft>
                <a:spcPts val="750"/>
              </a:spcAft>
              <a:buNone/>
            </a:pPr>
            <a:r>
              <a:rPr lang="en-IN" sz="1800" b="0" i="0" spc="12" dirty="0">
                <a:solidFill>
                  <a:srgbClr val="273239"/>
                </a:solidFill>
                <a:effectLst/>
                <a:latin typeface="Nunito" pitchFamily="2" charset="0"/>
              </a:rPr>
              <a:t>A problem is NP-Hard if it obeys Property 2 above and need not obey Property 1. Therefore, a problem is NP-complete if it is both NP and NP-hard.</a:t>
            </a:r>
            <a:endParaRPr lang="en-IN" sz="1800" b="0" i="0" spc="10" dirty="0">
              <a:solidFill>
                <a:srgbClr val="273239"/>
              </a:solidFill>
              <a:effectLst/>
              <a:latin typeface="Nunito" pitchFamily="2" charset="0"/>
            </a:endParaRPr>
          </a:p>
        </p:txBody>
      </p:sp>
    </p:spTree>
    <p:extLst>
      <p:ext uri="{BB962C8B-B14F-4D97-AF65-F5344CB8AC3E}">
        <p14:creationId xmlns:p14="http://schemas.microsoft.com/office/powerpoint/2010/main" val="42742379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DAEB85-2B04-A920-1FCC-6AE7F1B2F018}"/>
              </a:ext>
            </a:extLst>
          </p:cNvPr>
          <p:cNvSpPr txBox="1"/>
          <p:nvPr/>
        </p:nvSpPr>
        <p:spPr>
          <a:xfrm>
            <a:off x="2458720" y="492143"/>
            <a:ext cx="7274560" cy="417422"/>
          </a:xfrm>
          <a:prstGeom prst="rect">
            <a:avLst/>
          </a:prstGeom>
          <a:noFill/>
        </p:spPr>
        <p:txBody>
          <a:bodyPr wrap="square">
            <a:spAutoFit/>
          </a:bodyPr>
          <a:lstStyle/>
          <a:p>
            <a:pPr marL="0" marR="0" indent="0" algn="ctr" fontAlgn="base">
              <a:lnSpc>
                <a:spcPts val="2100"/>
              </a:lnSpc>
              <a:buNone/>
            </a:pPr>
            <a:r>
              <a:rPr lang="en-IN" sz="3200" b="1" i="0" spc="12" dirty="0">
                <a:solidFill>
                  <a:srgbClr val="273239"/>
                </a:solidFill>
                <a:effectLst/>
                <a:latin typeface="Nunito" pitchFamily="2" charset="0"/>
              </a:rPr>
              <a:t>Decision vs Optimization Problems </a:t>
            </a:r>
            <a:endParaRPr lang="en-IN" sz="3200" b="1" i="0" spc="0" dirty="0">
              <a:solidFill>
                <a:srgbClr val="273239"/>
              </a:solidFill>
              <a:effectLst/>
              <a:latin typeface="Nunito" pitchFamily="2" charset="0"/>
            </a:endParaRPr>
          </a:p>
        </p:txBody>
      </p:sp>
      <p:sp>
        <p:nvSpPr>
          <p:cNvPr id="5" name="TextBox 4">
            <a:extLst>
              <a:ext uri="{FF2B5EF4-FFF2-40B4-BE49-F238E27FC236}">
                <a16:creationId xmlns:a16="http://schemas.microsoft.com/office/drawing/2014/main" id="{ABAA0F1F-ED43-D777-C2E4-9882D3EAA057}"/>
              </a:ext>
            </a:extLst>
          </p:cNvPr>
          <p:cNvSpPr txBox="1"/>
          <p:nvPr/>
        </p:nvSpPr>
        <p:spPr>
          <a:xfrm>
            <a:off x="1056640" y="1276320"/>
            <a:ext cx="10078720" cy="3611245"/>
          </a:xfrm>
          <a:prstGeom prst="rect">
            <a:avLst/>
          </a:prstGeom>
          <a:noFill/>
        </p:spPr>
        <p:txBody>
          <a:bodyPr wrap="square">
            <a:spAutoFit/>
          </a:bodyPr>
          <a:lstStyle/>
          <a:p>
            <a:pPr marL="0" marR="0" indent="0" algn="just" rtl="0" fontAlgn="base">
              <a:spcAft>
                <a:spcPts val="750"/>
              </a:spcAft>
              <a:buNone/>
            </a:pPr>
            <a:r>
              <a:rPr lang="en-IN" sz="1800" b="0" i="0" spc="12" dirty="0">
                <a:solidFill>
                  <a:srgbClr val="273239"/>
                </a:solidFill>
                <a:effectLst/>
                <a:latin typeface="Nunito" pitchFamily="2" charset="0"/>
              </a:rPr>
              <a:t>NP-Completeness is defined for decision problems because their difficulty is easier to compare. In many cases, solving the decision version efficiently also helps solve the corresponding optimization problem using a polynomial number of calls.</a:t>
            </a:r>
            <a:endParaRPr lang="en-IN" sz="1800" b="0" i="0" spc="10" dirty="0">
              <a:solidFill>
                <a:srgbClr val="273239"/>
              </a:solidFill>
              <a:effectLst/>
              <a:latin typeface="Nunito" pitchFamily="2" charset="0"/>
            </a:endParaRPr>
          </a:p>
          <a:p>
            <a:pPr marL="514350" marR="0" indent="-285750" algn="just" fontAlgn="base">
              <a:spcAft>
                <a:spcPts val="1800"/>
              </a:spcAft>
              <a:buFont typeface="Arial" panose="020B0604020202020204" pitchFamily="34" charset="0"/>
              <a:buChar char="•"/>
            </a:pPr>
            <a:r>
              <a:rPr lang="en-IN" sz="1800" b="0" i="0" spc="12" dirty="0">
                <a:solidFill>
                  <a:srgbClr val="273239"/>
                </a:solidFill>
                <a:effectLst/>
                <a:latin typeface="Nunito" pitchFamily="2" charset="0"/>
              </a:rPr>
              <a:t>NP-completeness is defined for decision problems.</a:t>
            </a:r>
            <a:endParaRPr lang="en-IN" sz="1800" b="0" i="0" spc="10" dirty="0">
              <a:solidFill>
                <a:srgbClr val="273239"/>
              </a:solidFill>
              <a:effectLst/>
              <a:latin typeface="Nunito" pitchFamily="2" charset="0"/>
            </a:endParaRPr>
          </a:p>
          <a:p>
            <a:pPr marL="514350" marR="0" indent="-285750" algn="just" fontAlgn="base">
              <a:spcAft>
                <a:spcPts val="1800"/>
              </a:spcAft>
              <a:buFont typeface="Arial" panose="020B0604020202020204" pitchFamily="34" charset="0"/>
              <a:buChar char="•"/>
            </a:pPr>
            <a:r>
              <a:rPr lang="en-IN" sz="1800" b="0" i="0" spc="12" dirty="0">
                <a:solidFill>
                  <a:srgbClr val="273239"/>
                </a:solidFill>
                <a:effectLst/>
                <a:latin typeface="Nunito" pitchFamily="2" charset="0"/>
              </a:rPr>
              <a:t>Decision problems are easier to compare than optimization problems.</a:t>
            </a:r>
            <a:endParaRPr lang="en-IN" sz="1800" b="0" i="0" spc="10" dirty="0">
              <a:solidFill>
                <a:srgbClr val="273239"/>
              </a:solidFill>
              <a:effectLst/>
              <a:latin typeface="Nunito" pitchFamily="2" charset="0"/>
            </a:endParaRPr>
          </a:p>
          <a:p>
            <a:pPr marL="514350" marR="0" indent="-285750" algn="just" fontAlgn="base">
              <a:spcAft>
                <a:spcPts val="1800"/>
              </a:spcAft>
              <a:buFont typeface="Arial" panose="020B0604020202020204" pitchFamily="34" charset="0"/>
              <a:buChar char="•"/>
            </a:pPr>
            <a:r>
              <a:rPr lang="en-IN" sz="1800" b="0" i="0" spc="12" dirty="0">
                <a:solidFill>
                  <a:srgbClr val="273239"/>
                </a:solidFill>
                <a:effectLst/>
                <a:latin typeface="Nunito" pitchFamily="2" charset="0"/>
              </a:rPr>
              <a:t>Polynomial-time solutions to decision problems can help solve optimization problems.</a:t>
            </a:r>
            <a:endParaRPr lang="en-IN" sz="1800" b="0" i="0" spc="10" dirty="0">
              <a:solidFill>
                <a:srgbClr val="273239"/>
              </a:solidFill>
              <a:effectLst/>
              <a:latin typeface="Nunito" pitchFamily="2" charset="0"/>
            </a:endParaRPr>
          </a:p>
          <a:p>
            <a:pPr marL="514350" marR="0" indent="-285750" algn="just" fontAlgn="base">
              <a:spcAft>
                <a:spcPts val="1800"/>
              </a:spcAft>
              <a:buFont typeface="Arial" panose="020B0604020202020204" pitchFamily="34" charset="0"/>
              <a:buChar char="•"/>
            </a:pPr>
            <a:r>
              <a:rPr lang="en-IN" sz="1800" b="0" i="0" spc="12" dirty="0">
                <a:solidFill>
                  <a:srgbClr val="273239"/>
                </a:solidFill>
                <a:effectLst/>
                <a:latin typeface="Nunito" pitchFamily="2" charset="0"/>
              </a:rPr>
              <a:t>Optimization problems can be reduced to decision problems using multiple queries.</a:t>
            </a:r>
            <a:endParaRPr lang="en-IN" sz="1800" b="0" i="0" spc="10" dirty="0">
              <a:solidFill>
                <a:srgbClr val="273239"/>
              </a:solidFill>
              <a:effectLst/>
              <a:latin typeface="Nunito" pitchFamily="2" charset="0"/>
            </a:endParaRPr>
          </a:p>
          <a:p>
            <a:pPr marL="514350" marR="0" indent="-285750" algn="just" fontAlgn="base">
              <a:spcAft>
                <a:spcPts val="1800"/>
              </a:spcAft>
              <a:buFont typeface="Arial" panose="020B0604020202020204" pitchFamily="34" charset="0"/>
              <a:buChar char="•"/>
            </a:pPr>
            <a:r>
              <a:rPr lang="en-IN" sz="1800" b="0" i="0" spc="12" dirty="0">
                <a:solidFill>
                  <a:srgbClr val="273239"/>
                </a:solidFill>
                <a:effectLst/>
                <a:latin typeface="Nunito" pitchFamily="2" charset="0"/>
              </a:rPr>
              <a:t>Hence, the complexity of decision problems reflects the complexity of optimization problems.</a:t>
            </a:r>
            <a:endParaRPr lang="en-IN" sz="1800" b="0" i="0" spc="10" dirty="0">
              <a:solidFill>
                <a:srgbClr val="273239"/>
              </a:solidFill>
              <a:effectLst/>
              <a:latin typeface="Nunito" pitchFamily="2" charset="0"/>
            </a:endParaRPr>
          </a:p>
        </p:txBody>
      </p:sp>
    </p:spTree>
    <p:extLst>
      <p:ext uri="{BB962C8B-B14F-4D97-AF65-F5344CB8AC3E}">
        <p14:creationId xmlns:p14="http://schemas.microsoft.com/office/powerpoint/2010/main" val="23350662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01BFE2-DED4-4911-A192-021245087805}"/>
              </a:ext>
            </a:extLst>
          </p:cNvPr>
          <p:cNvSpPr txBox="1"/>
          <p:nvPr/>
        </p:nvSpPr>
        <p:spPr>
          <a:xfrm>
            <a:off x="3454400" y="508806"/>
            <a:ext cx="6096000" cy="417037"/>
          </a:xfrm>
          <a:prstGeom prst="rect">
            <a:avLst/>
          </a:prstGeom>
          <a:noFill/>
        </p:spPr>
        <p:txBody>
          <a:bodyPr wrap="square">
            <a:spAutoFit/>
          </a:bodyPr>
          <a:lstStyle/>
          <a:p>
            <a:pPr marL="0" marR="0" indent="0" algn="ctr" fontAlgn="base">
              <a:lnSpc>
                <a:spcPts val="2100"/>
              </a:lnSpc>
              <a:spcBef>
                <a:spcPts val="1800"/>
              </a:spcBef>
              <a:spcAft>
                <a:spcPts val="1800"/>
              </a:spcAft>
              <a:buNone/>
            </a:pPr>
            <a:r>
              <a:rPr lang="en-IN" sz="3200" b="1" i="0" spc="12" dirty="0">
                <a:solidFill>
                  <a:srgbClr val="273239"/>
                </a:solidFill>
                <a:effectLst/>
                <a:latin typeface="Nunito" pitchFamily="2" charset="0"/>
              </a:rPr>
              <a:t>What is Reduction? </a:t>
            </a:r>
            <a:endParaRPr lang="en-IN" sz="3200" dirty="0"/>
          </a:p>
        </p:txBody>
      </p:sp>
      <p:sp>
        <p:nvSpPr>
          <p:cNvPr id="5" name="TextBox 4">
            <a:extLst>
              <a:ext uri="{FF2B5EF4-FFF2-40B4-BE49-F238E27FC236}">
                <a16:creationId xmlns:a16="http://schemas.microsoft.com/office/drawing/2014/main" id="{63B0EBD5-5BED-E8D6-98D0-2C3195086D84}"/>
              </a:ext>
            </a:extLst>
          </p:cNvPr>
          <p:cNvSpPr txBox="1"/>
          <p:nvPr/>
        </p:nvSpPr>
        <p:spPr>
          <a:xfrm>
            <a:off x="894080" y="1091914"/>
            <a:ext cx="10698480" cy="5406608"/>
          </a:xfrm>
          <a:prstGeom prst="rect">
            <a:avLst/>
          </a:prstGeom>
          <a:noFill/>
        </p:spPr>
        <p:txBody>
          <a:bodyPr wrap="square">
            <a:spAutoFit/>
          </a:bodyPr>
          <a:lstStyle/>
          <a:p>
            <a:pPr marR="0" rtl="0" fontAlgn="base">
              <a:spcAft>
                <a:spcPts val="750"/>
              </a:spcAft>
            </a:pPr>
            <a:r>
              <a:rPr lang="en-IN" sz="1800" b="0" i="0" spc="12" dirty="0">
                <a:solidFill>
                  <a:srgbClr val="273239"/>
                </a:solidFill>
                <a:effectLst/>
                <a:latin typeface="Nunito" pitchFamily="2" charset="0"/>
              </a:rPr>
              <a:t>Let L1 and L2 be two decision problems. Suppose algorithm A2 solves L2. That is, if y is an input for L2 then algorithm A2 will answer Yes or No depending upon whether y belongs to L2 or not.</a:t>
            </a:r>
            <a:br>
              <a:rPr lang="en-IN" sz="1800" b="0" i="0" spc="10" dirty="0">
                <a:solidFill>
                  <a:srgbClr val="273239"/>
                </a:solidFill>
                <a:effectLst/>
                <a:latin typeface="Nunito" pitchFamily="2" charset="0"/>
              </a:rPr>
            </a:br>
            <a:r>
              <a:rPr lang="en-IN" sz="1800" b="0" i="0" spc="12" dirty="0">
                <a:solidFill>
                  <a:srgbClr val="273239"/>
                </a:solidFill>
                <a:effectLst/>
                <a:latin typeface="Nunito" pitchFamily="2" charset="0"/>
              </a:rPr>
              <a:t>The idea is to find a transformation from L1 to L2 so that algorithm A2 can be part of algorithm A1 to solve L1.</a:t>
            </a:r>
            <a:br>
              <a:rPr lang="en-IN" sz="1800" b="0" i="0" spc="10" dirty="0">
                <a:solidFill>
                  <a:srgbClr val="273239"/>
                </a:solidFill>
                <a:effectLst/>
                <a:latin typeface="Nunito" pitchFamily="2" charset="0"/>
              </a:rPr>
            </a:br>
            <a:r>
              <a:rPr lang="en-IN" sz="1800" b="0" i="0" spc="12" dirty="0">
                <a:solidFill>
                  <a:srgbClr val="273239"/>
                </a:solidFill>
                <a:effectLst/>
                <a:latin typeface="Nunito" pitchFamily="2" charset="0"/>
              </a:rPr>
              <a:t> </a:t>
            </a:r>
          </a:p>
          <a:p>
            <a:pPr marR="0" rtl="0" fontAlgn="base">
              <a:spcAft>
                <a:spcPts val="750"/>
              </a:spcAft>
            </a:pPr>
            <a:endParaRPr lang="en-IN" spc="12" dirty="0">
              <a:solidFill>
                <a:srgbClr val="273239"/>
              </a:solidFill>
              <a:latin typeface="Nunito" pitchFamily="2" charset="0"/>
            </a:endParaRPr>
          </a:p>
          <a:p>
            <a:pPr marR="0" rtl="0" fontAlgn="base">
              <a:spcAft>
                <a:spcPts val="750"/>
              </a:spcAft>
            </a:pPr>
            <a:endParaRPr lang="en-IN" sz="1800" b="0" i="0" spc="12" dirty="0">
              <a:solidFill>
                <a:srgbClr val="273239"/>
              </a:solidFill>
              <a:effectLst/>
              <a:latin typeface="Nunito" pitchFamily="2" charset="0"/>
            </a:endParaRPr>
          </a:p>
          <a:p>
            <a:pPr marR="0" rtl="0" fontAlgn="base">
              <a:spcAft>
                <a:spcPts val="750"/>
              </a:spcAft>
            </a:pPr>
            <a:endParaRPr lang="en-IN" sz="1800" b="0" i="0" spc="10" dirty="0">
              <a:solidFill>
                <a:srgbClr val="273239"/>
              </a:solidFill>
              <a:effectLst/>
              <a:latin typeface="Nunito" pitchFamily="2" charset="0"/>
            </a:endParaRPr>
          </a:p>
          <a:p>
            <a:pPr marR="0" rtl="0" fontAlgn="base">
              <a:spcAft>
                <a:spcPts val="750"/>
              </a:spcAft>
            </a:pPr>
            <a:endParaRPr lang="en-IN" sz="1800" b="0" i="0" spc="10" dirty="0">
              <a:solidFill>
                <a:srgbClr val="273239"/>
              </a:solidFill>
              <a:effectLst/>
              <a:latin typeface="Nunito" pitchFamily="2" charset="0"/>
            </a:endParaRPr>
          </a:p>
          <a:p>
            <a:pPr marL="514350" marR="0" indent="-285750" fontAlgn="base">
              <a:spcAft>
                <a:spcPts val="1800"/>
              </a:spcAft>
              <a:buFont typeface="Arial" panose="020B0604020202020204" pitchFamily="34" charset="0"/>
              <a:buChar char="•"/>
            </a:pPr>
            <a:r>
              <a:rPr lang="en-IN" sz="1800" b="0" i="0" spc="12" dirty="0">
                <a:solidFill>
                  <a:srgbClr val="273239"/>
                </a:solidFill>
                <a:effectLst/>
                <a:latin typeface="Nunito" pitchFamily="2" charset="0"/>
              </a:rPr>
              <a:t>Learning reductions helps solve new problems using already solved ones.</a:t>
            </a:r>
            <a:endParaRPr lang="en-IN" sz="1800" b="0" i="0" spc="10" dirty="0">
              <a:solidFill>
                <a:srgbClr val="273239"/>
              </a:solidFill>
              <a:effectLst/>
              <a:latin typeface="Nunito" pitchFamily="2" charset="0"/>
            </a:endParaRPr>
          </a:p>
          <a:p>
            <a:pPr marL="514350" marR="0" indent="-285750" fontAlgn="base">
              <a:spcAft>
                <a:spcPts val="1800"/>
              </a:spcAft>
              <a:buFont typeface="Arial" panose="020B0604020202020204" pitchFamily="34" charset="0"/>
              <a:buChar char="•"/>
            </a:pPr>
            <a:r>
              <a:rPr lang="en-IN" sz="1800" b="0" i="0" spc="12" dirty="0">
                <a:solidFill>
                  <a:srgbClr val="273239"/>
                </a:solidFill>
                <a:effectLst/>
                <a:latin typeface="Nunito" pitchFamily="2" charset="0"/>
              </a:rPr>
              <a:t>Reductions save time and effort by reusing existing algorithms and library functions.</a:t>
            </a:r>
            <a:endParaRPr lang="en-IN" sz="1800" b="0" i="0" spc="10" dirty="0">
              <a:solidFill>
                <a:srgbClr val="273239"/>
              </a:solidFill>
              <a:effectLst/>
              <a:latin typeface="Nunito" pitchFamily="2" charset="0"/>
            </a:endParaRPr>
          </a:p>
          <a:p>
            <a:pPr marL="514350" marR="0" indent="-285750" fontAlgn="base">
              <a:spcAft>
                <a:spcPts val="1800"/>
              </a:spcAft>
              <a:buFont typeface="Arial" panose="020B0604020202020204" pitchFamily="34" charset="0"/>
              <a:buChar char="•"/>
            </a:pPr>
            <a:r>
              <a:rPr lang="en-IN" sz="1800" b="0" i="0" spc="12" dirty="0">
                <a:solidFill>
                  <a:srgbClr val="273239"/>
                </a:solidFill>
                <a:effectLst/>
                <a:latin typeface="Nunito" pitchFamily="2" charset="0"/>
              </a:rPr>
              <a:t>A new problem can be transformed into a known problem instead of writing new code.</a:t>
            </a:r>
            <a:endParaRPr lang="en-IN" sz="1800" b="0" i="0" spc="10" dirty="0">
              <a:solidFill>
                <a:srgbClr val="273239"/>
              </a:solidFill>
              <a:effectLst/>
              <a:latin typeface="Nunito" pitchFamily="2" charset="0"/>
            </a:endParaRPr>
          </a:p>
          <a:p>
            <a:pPr marL="514350" marR="0" indent="-285750" fontAlgn="base">
              <a:spcAft>
                <a:spcPts val="1800"/>
              </a:spcAft>
              <a:buFont typeface="Arial" panose="020B0604020202020204" pitchFamily="34" charset="0"/>
              <a:buChar char="•"/>
            </a:pPr>
            <a:r>
              <a:rPr lang="en-IN" sz="1800" b="0" i="0" spc="12" dirty="0">
                <a:solidFill>
                  <a:srgbClr val="273239"/>
                </a:solidFill>
                <a:effectLst/>
                <a:latin typeface="Nunito" pitchFamily="2" charset="0"/>
              </a:rPr>
              <a:t>Using taking the logarithm of edge weights the problem is reduced to a shortest path problem.</a:t>
            </a:r>
            <a:endParaRPr lang="en-IN" sz="1800" b="0" i="0" spc="10" dirty="0">
              <a:solidFill>
                <a:srgbClr val="273239"/>
              </a:solidFill>
              <a:effectLst/>
              <a:latin typeface="Nunito" pitchFamily="2" charset="0"/>
            </a:endParaRPr>
          </a:p>
          <a:p>
            <a:pPr marL="514350" marR="0" indent="-285750" fontAlgn="base">
              <a:spcAft>
                <a:spcPts val="1800"/>
              </a:spcAft>
              <a:buFont typeface="Arial" panose="020B0604020202020204" pitchFamily="34" charset="0"/>
              <a:buChar char="•"/>
            </a:pPr>
            <a:r>
              <a:rPr lang="en-IN" sz="1800" b="0" i="0" spc="12" dirty="0">
                <a:solidFill>
                  <a:srgbClr val="273239"/>
                </a:solidFill>
                <a:effectLst/>
                <a:latin typeface="Nunito" pitchFamily="2" charset="0"/>
              </a:rPr>
              <a:t>Dijkstra’s algorithm can then be used instead of developing a new solution.</a:t>
            </a:r>
            <a:endParaRPr lang="en-IN" sz="1800" b="0" i="0" spc="10" dirty="0">
              <a:solidFill>
                <a:srgbClr val="273239"/>
              </a:solidFill>
              <a:effectLst/>
              <a:latin typeface="Nunito" pitchFamily="2" charset="0"/>
            </a:endParaRPr>
          </a:p>
        </p:txBody>
      </p:sp>
      <p:pic>
        <p:nvPicPr>
          <p:cNvPr id="6" name="Picture 5">
            <a:extLst>
              <a:ext uri="{FF2B5EF4-FFF2-40B4-BE49-F238E27FC236}">
                <a16:creationId xmlns:a16="http://schemas.microsoft.com/office/drawing/2014/main" id="{40A86C43-E32A-5DA9-5F7A-2385C17F310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037593" y="2288695"/>
            <a:ext cx="8116814" cy="1448002"/>
          </a:xfrm>
          <a:prstGeom prst="rect">
            <a:avLst/>
          </a:prstGeom>
        </p:spPr>
      </p:pic>
    </p:spTree>
    <p:extLst>
      <p:ext uri="{BB962C8B-B14F-4D97-AF65-F5344CB8AC3E}">
        <p14:creationId xmlns:p14="http://schemas.microsoft.com/office/powerpoint/2010/main" val="42771762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B26E05-4862-4421-B0ED-1068BF48942F}"/>
              </a:ext>
            </a:extLst>
          </p:cNvPr>
          <p:cNvSpPr txBox="1"/>
          <p:nvPr/>
        </p:nvSpPr>
        <p:spPr>
          <a:xfrm>
            <a:off x="1137920" y="490646"/>
            <a:ext cx="10779760" cy="417422"/>
          </a:xfrm>
          <a:prstGeom prst="rect">
            <a:avLst/>
          </a:prstGeom>
          <a:noFill/>
        </p:spPr>
        <p:txBody>
          <a:bodyPr wrap="square">
            <a:spAutoFit/>
          </a:bodyPr>
          <a:lstStyle/>
          <a:p>
            <a:pPr marL="0" marR="0" indent="0" algn="l" fontAlgn="base">
              <a:lnSpc>
                <a:spcPts val="2100"/>
              </a:lnSpc>
              <a:buNone/>
            </a:pPr>
            <a:r>
              <a:rPr lang="en-IN" sz="3200" b="1" i="0" spc="12" dirty="0">
                <a:solidFill>
                  <a:srgbClr val="273239"/>
                </a:solidFill>
                <a:effectLst/>
                <a:latin typeface="Nunito" pitchFamily="2" charset="0"/>
              </a:rPr>
              <a:t>How to prove that a given problem is NP-complete? </a:t>
            </a:r>
            <a:endParaRPr lang="en-IN" sz="3200" b="1" i="0" spc="0" dirty="0">
              <a:solidFill>
                <a:srgbClr val="273239"/>
              </a:solidFill>
              <a:effectLst/>
              <a:latin typeface="Nunito" pitchFamily="2" charset="0"/>
            </a:endParaRPr>
          </a:p>
        </p:txBody>
      </p:sp>
      <p:sp>
        <p:nvSpPr>
          <p:cNvPr id="5" name="TextBox 4">
            <a:extLst>
              <a:ext uri="{FF2B5EF4-FFF2-40B4-BE49-F238E27FC236}">
                <a16:creationId xmlns:a16="http://schemas.microsoft.com/office/drawing/2014/main" id="{7FDE1581-1140-326D-0C08-34B6CAC99C31}"/>
              </a:ext>
            </a:extLst>
          </p:cNvPr>
          <p:cNvSpPr txBox="1"/>
          <p:nvPr/>
        </p:nvSpPr>
        <p:spPr>
          <a:xfrm>
            <a:off x="1137920" y="1232279"/>
            <a:ext cx="10149840" cy="4555093"/>
          </a:xfrm>
          <a:prstGeom prst="rect">
            <a:avLst/>
          </a:prstGeom>
          <a:noFill/>
        </p:spPr>
        <p:txBody>
          <a:bodyPr wrap="square">
            <a:spAutoFit/>
          </a:bodyPr>
          <a:lstStyle/>
          <a:p>
            <a:pPr marL="685800" marR="0" indent="-457200" algn="l" fontAlgn="base">
              <a:spcAft>
                <a:spcPts val="1800"/>
              </a:spcAft>
              <a:buFont typeface="+mj-lt"/>
              <a:buAutoNum type="arabicPeriod"/>
            </a:pPr>
            <a:r>
              <a:rPr lang="en-IN" sz="2000" b="0" i="0" spc="12" dirty="0">
                <a:solidFill>
                  <a:srgbClr val="273239"/>
                </a:solidFill>
                <a:effectLst/>
                <a:latin typeface="Nunito" pitchFamily="2" charset="0"/>
              </a:rPr>
              <a:t>From the definition of NP-Complete, it seems difficult to prove that a problem L is NP-Complete.</a:t>
            </a:r>
            <a:endParaRPr lang="en-IN" sz="2000" b="0" i="0" spc="10" dirty="0">
              <a:solidFill>
                <a:srgbClr val="273239"/>
              </a:solidFill>
              <a:effectLst/>
              <a:latin typeface="Nunito" pitchFamily="2" charset="0"/>
            </a:endParaRPr>
          </a:p>
          <a:p>
            <a:pPr marL="685800" marR="0" indent="-457200" algn="l" fontAlgn="base">
              <a:spcAft>
                <a:spcPts val="1800"/>
              </a:spcAft>
              <a:buFont typeface="+mj-lt"/>
              <a:buAutoNum type="arabicPeriod"/>
            </a:pPr>
            <a:r>
              <a:rPr lang="en-IN" sz="2000" b="0" i="0" spc="12" dirty="0">
                <a:solidFill>
                  <a:srgbClr val="273239"/>
                </a:solidFill>
                <a:effectLst/>
                <a:latin typeface="Nunito" pitchFamily="2" charset="0"/>
              </a:rPr>
              <a:t>By definition, we would need to show that every problem in NP can be reduced to L in polynomial time.</a:t>
            </a:r>
            <a:endParaRPr lang="en-IN" sz="2000" b="0" i="0" spc="10" dirty="0">
              <a:solidFill>
                <a:srgbClr val="273239"/>
              </a:solidFill>
              <a:effectLst/>
              <a:latin typeface="Nunito" pitchFamily="2" charset="0"/>
            </a:endParaRPr>
          </a:p>
          <a:p>
            <a:pPr marL="685800" marR="0" indent="-457200" algn="l" fontAlgn="base">
              <a:spcAft>
                <a:spcPts val="1800"/>
              </a:spcAft>
              <a:buFont typeface="+mj-lt"/>
              <a:buAutoNum type="arabicPeriod"/>
            </a:pPr>
            <a:r>
              <a:rPr lang="en-IN" sz="2000" b="0" i="0" spc="12" dirty="0">
                <a:solidFill>
                  <a:srgbClr val="273239"/>
                </a:solidFill>
                <a:effectLst/>
                <a:latin typeface="Nunito" pitchFamily="2" charset="0"/>
              </a:rPr>
              <a:t>Fortunately, there is an easier method to prove NP-Completeness.</a:t>
            </a:r>
            <a:endParaRPr lang="en-IN" sz="2000" b="0" i="0" spc="10" dirty="0">
              <a:solidFill>
                <a:srgbClr val="273239"/>
              </a:solidFill>
              <a:effectLst/>
              <a:latin typeface="Nunito" pitchFamily="2" charset="0"/>
            </a:endParaRPr>
          </a:p>
          <a:p>
            <a:pPr marL="685800" marR="0" indent="-457200" algn="l" fontAlgn="base">
              <a:spcAft>
                <a:spcPts val="1800"/>
              </a:spcAft>
              <a:buFont typeface="+mj-lt"/>
              <a:buAutoNum type="arabicPeriod"/>
            </a:pPr>
            <a:r>
              <a:rPr lang="en-IN" sz="2000" b="0" i="0" spc="12" dirty="0">
                <a:solidFill>
                  <a:srgbClr val="273239"/>
                </a:solidFill>
                <a:effectLst/>
                <a:latin typeface="Nunito" pitchFamily="2" charset="0"/>
              </a:rPr>
              <a:t>We take a known NP-Complete problem and reduce it to L.</a:t>
            </a:r>
            <a:endParaRPr lang="en-IN" sz="2000" b="0" i="0" spc="10" dirty="0">
              <a:solidFill>
                <a:srgbClr val="273239"/>
              </a:solidFill>
              <a:effectLst/>
              <a:latin typeface="Nunito" pitchFamily="2" charset="0"/>
            </a:endParaRPr>
          </a:p>
          <a:p>
            <a:pPr marL="685800" marR="0" indent="-457200" algn="l" fontAlgn="base">
              <a:spcAft>
                <a:spcPts val="1800"/>
              </a:spcAft>
              <a:buFont typeface="+mj-lt"/>
              <a:buAutoNum type="arabicPeriod"/>
            </a:pPr>
            <a:r>
              <a:rPr lang="en-IN" sz="2000" b="0" i="0" spc="12" dirty="0">
                <a:solidFill>
                  <a:srgbClr val="273239"/>
                </a:solidFill>
                <a:effectLst/>
                <a:latin typeface="Nunito" pitchFamily="2" charset="0"/>
              </a:rPr>
              <a:t>If this reduction can be done in polynomial time, then L is NP-Complete.</a:t>
            </a:r>
            <a:endParaRPr lang="en-IN" sz="2000" b="0" i="0" spc="10" dirty="0">
              <a:solidFill>
                <a:srgbClr val="273239"/>
              </a:solidFill>
              <a:effectLst/>
              <a:latin typeface="Nunito" pitchFamily="2" charset="0"/>
            </a:endParaRPr>
          </a:p>
          <a:p>
            <a:pPr marL="685800" marR="0" indent="-457200" algn="l" fontAlgn="base">
              <a:spcAft>
                <a:spcPts val="1800"/>
              </a:spcAft>
              <a:buFont typeface="+mj-lt"/>
              <a:buAutoNum type="arabicPeriod"/>
            </a:pPr>
            <a:r>
              <a:rPr lang="en-IN" sz="2000" b="0" i="0" spc="12" dirty="0">
                <a:solidFill>
                  <a:srgbClr val="273239"/>
                </a:solidFill>
                <a:effectLst/>
                <a:latin typeface="Nunito" pitchFamily="2" charset="0"/>
              </a:rPr>
              <a:t>This works due to the transitivity property of reduction.</a:t>
            </a:r>
            <a:endParaRPr lang="en-IN" sz="2000" b="0" i="0" spc="10" dirty="0">
              <a:solidFill>
                <a:srgbClr val="273239"/>
              </a:solidFill>
              <a:effectLst/>
              <a:latin typeface="Nunito" pitchFamily="2" charset="0"/>
            </a:endParaRPr>
          </a:p>
          <a:p>
            <a:pPr marL="685800" marR="0" indent="-457200" algn="l" fontAlgn="base">
              <a:spcAft>
                <a:spcPts val="1800"/>
              </a:spcAft>
              <a:buFont typeface="+mj-lt"/>
              <a:buAutoNum type="arabicPeriod"/>
            </a:pPr>
            <a:r>
              <a:rPr lang="en-IN" sz="2000" b="0" i="0" spc="12" dirty="0">
                <a:solidFill>
                  <a:srgbClr val="273239"/>
                </a:solidFill>
                <a:effectLst/>
                <a:latin typeface="Nunito" pitchFamily="2" charset="0"/>
              </a:rPr>
              <a:t>If an NP-Complete problem reduces to L, then all NP problems can also be reduced to L in polynomial time.</a:t>
            </a:r>
            <a:endParaRPr lang="en-IN" sz="2000" b="0" i="0" spc="10" dirty="0">
              <a:solidFill>
                <a:srgbClr val="273239"/>
              </a:solidFill>
              <a:effectLst/>
              <a:latin typeface="Nunito" pitchFamily="2" charset="0"/>
            </a:endParaRPr>
          </a:p>
        </p:txBody>
      </p:sp>
    </p:spTree>
    <p:extLst>
      <p:ext uri="{BB962C8B-B14F-4D97-AF65-F5344CB8AC3E}">
        <p14:creationId xmlns:p14="http://schemas.microsoft.com/office/powerpoint/2010/main" val="25861330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F05966-C1D7-B3B0-1A59-DE95DC60E70A}"/>
              </a:ext>
            </a:extLst>
          </p:cNvPr>
          <p:cNvSpPr txBox="1"/>
          <p:nvPr/>
        </p:nvSpPr>
        <p:spPr>
          <a:xfrm>
            <a:off x="3769530" y="2828835"/>
            <a:ext cx="4776244" cy="1200329"/>
          </a:xfrm>
          <a:prstGeom prst="rect">
            <a:avLst/>
          </a:prstGeom>
          <a:noFill/>
        </p:spPr>
        <p:txBody>
          <a:bodyPr wrap="none" rtlCol="0">
            <a:spAutoFit/>
          </a:bodyPr>
          <a:lstStyle/>
          <a:p>
            <a:r>
              <a:rPr lang="en-IN" sz="7200" b="1" dirty="0"/>
              <a:t>THANK YOU</a:t>
            </a:r>
          </a:p>
        </p:txBody>
      </p:sp>
    </p:spTree>
    <p:extLst>
      <p:ext uri="{BB962C8B-B14F-4D97-AF65-F5344CB8AC3E}">
        <p14:creationId xmlns:p14="http://schemas.microsoft.com/office/powerpoint/2010/main" val="374592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TotalTime>
  <Words>3896</Words>
  <Application>Microsoft Office PowerPoint</Application>
  <PresentationFormat>Widescreen</PresentationFormat>
  <Paragraphs>263</Paragraphs>
  <Slides>33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-apple-system</vt:lpstr>
      <vt:lpstr>Arial</vt:lpstr>
      <vt:lpstr>Calibri</vt:lpstr>
      <vt:lpstr>Calibri Light</vt:lpstr>
      <vt:lpstr>Cambria Math</vt:lpstr>
      <vt:lpstr>Courier new</vt:lpstr>
      <vt:lpstr>DejaVu Sans</vt:lpstr>
      <vt:lpstr>Nunito</vt:lpstr>
      <vt:lpstr>Source Sans 3</vt:lpstr>
      <vt:lpstr>Times New Roman</vt:lpstr>
      <vt:lpstr>Office Theme</vt:lpstr>
      <vt:lpstr>Unit-5</vt:lpstr>
      <vt:lpstr>Syllabus</vt:lpstr>
      <vt:lpstr>PowerPoint Presentation</vt:lpstr>
      <vt:lpstr>Lookup for binary search trees</vt:lpstr>
      <vt:lpstr>Inserting into a binary search tree</vt:lpstr>
      <vt:lpstr>Removing the smallest value from binary search tree</vt:lpstr>
      <vt:lpstr>PowerPoint Presentation</vt:lpstr>
      <vt:lpstr>PowerPoint Presentation</vt:lpstr>
      <vt:lpstr>Height-Balanced Trees</vt:lpstr>
      <vt:lpstr>Height-balanced trees</vt:lpstr>
      <vt:lpstr>Height-balanced trees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Dayanand Yadav</dc:creator>
  <cp:lastModifiedBy>Dayanand Yadav</cp:lastModifiedBy>
  <cp:revision>68</cp:revision>
  <dcterms:created xsi:type="dcterms:W3CDTF">2026-07-05T03:05:32Z</dcterms:created>
  <dcterms:modified xsi:type="dcterms:W3CDTF">2026-07-05T07:16:30Z</dcterms:modified>
</cp:coreProperties>
</file>