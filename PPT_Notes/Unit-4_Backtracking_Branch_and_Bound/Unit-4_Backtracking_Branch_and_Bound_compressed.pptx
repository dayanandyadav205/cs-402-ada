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0" r:id="rId6"/>
    <p:sldId id="262" r:id="rId7"/>
    <p:sldId id="263" r:id="rId8"/>
    <p:sldId id="268" r:id="rId9"/>
    <p:sldId id="266" r:id="rId10"/>
    <p:sldId id="265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E73"/>
    <a:srgbClr val="AAB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A85E-BB29-572D-831C-ACA1ACCFE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185BC-3F59-FC9F-ACC3-2996D7CEE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5AEB-8789-CFE0-5267-644A68ED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43DA2-B665-3443-2D25-506CD1E9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69A1F-8BD5-24B5-FFFA-565C2C3E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353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9B93-CBEA-70B9-8C89-8CF65DA3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8264D-956A-4CD5-27AA-E5BC8231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668F7-0F3E-9145-24D4-75D735324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AEC08-2E07-5A66-BB8A-10B4B90A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FD915-C90F-05AD-3AD9-4FCBC9B3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60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B727-883A-BBCF-F396-76ECE978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41D24-B608-F342-2A4C-07B78338B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EFFD2-D0E6-F0B1-DCC4-4950BB9DD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BDE21-2582-EE45-9E0B-11DE6ABA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D4D2C-4913-3B8D-F84C-C6E30E89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27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F7922-3CFB-35EE-0081-E2ADFF97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D5EEF-BF25-C976-4109-9919E89E1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6FD09-291B-D121-7624-FD0D39DB2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35EFF-30FF-CEAD-9F89-4A4820CED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CE3CD-174D-E02D-3817-744718629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883BF-C62F-63D3-22DE-6CB5C17E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823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E679-5667-99A2-9DFD-EAFD32005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A1B0F-4601-4D6A-834B-FE754413A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88301-721F-4E45-B3F7-03DD3E792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04F8FC-DDF0-26A9-49A3-8F447C2DA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AF4A74-B311-C7E5-4320-56A0C1EAB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25DF7-93E0-B5A8-FB2B-ABEA19CBE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47BB0-7714-58B8-CCDC-10E96297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121366-28CA-047A-CEA9-65A691DF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89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08764-34EC-0C71-ABC1-AB43A2E0F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5C929-2717-04AB-CF86-7C774813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0DD27-4612-BED4-885F-4847D06F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99FC0-4A68-600B-8FA8-3D1A38B8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1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246AA-499C-49F0-01CA-638405EA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5884E-E8FE-CFB4-C63C-BCBFBA353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79D63-0095-5AC6-A07E-A881B974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52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0613-8F9F-D6C2-709A-9BCAFED4E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6539A-F24D-1CBE-B9E7-123DB3EF5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B0A59-957A-0781-19EA-C3AC5B737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DCC8E-756F-CC6C-DDCF-93E4E59F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2CA75-BB3A-27DD-AFA2-732C4A92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FCE6F-F29A-1CC9-7BF7-C8CC050E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8911-1C5D-8562-95D6-5FBDE5D9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04C694-3226-C77C-F7F5-9A233CF54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E6285-6EFE-966A-FFA1-D3C133AFD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23562-8259-7485-3C8D-56419D2E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BB517-7C21-CC9B-2AFF-0748EAB5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D5E36-D316-8E55-8520-65979050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47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F5BA-3FAE-836F-361A-048B2A1D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0A6A9-0F2E-FBA6-3F54-E348ECBBE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EA843-9BD2-A836-662B-BFB9785B4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E9C32-8C07-5AB4-9394-5BEF8F30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FE384-E25D-B7CA-61BB-EC36B76E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84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2CCA1-D563-0023-2CBE-F018D2B58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ED04A-0934-7EDF-6C0D-D48B8ADA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39891-00C9-76A5-6167-2F5738682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06C4A-324C-B590-C685-1FCDABF9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581FB-2943-C3DE-FFCD-B905AA18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0F02E-EBF1-FADE-5169-B2E4DEF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8B9D8-8160-A063-58A2-4413C2064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FC6FB-20F5-8CA1-9D7C-4A9094D59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20792-292E-4342-841D-56A29BC3301B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CBB7E-7F1B-A4CA-B853-00B1E5184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3C435-A501-2F9B-1584-2BB0748DB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E18F7-2402-4720-BFF4-341E47633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61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8974-BD61-48FD-B818-72A56361E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IN" sz="4800" b="1" dirty="0"/>
              <a:t>Unit-4</a:t>
            </a:r>
            <a:br>
              <a:rPr lang="en-IN" sz="4800" b="1" dirty="0"/>
            </a:br>
            <a:r>
              <a:rPr lang="en-IN" sz="4800" b="1" dirty="0"/>
              <a:t>Backtracking, Branch &amp; Bound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79FFC-B7E4-ECCA-0965-4182FE247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CS-402</a:t>
            </a:r>
          </a:p>
          <a:p>
            <a:r>
              <a:rPr lang="en-IN" sz="3200" b="1" dirty="0"/>
              <a:t>Analysis &amp; Design Algorithm</a:t>
            </a:r>
          </a:p>
        </p:txBody>
      </p:sp>
    </p:spTree>
    <p:extLst>
      <p:ext uri="{BB962C8B-B14F-4D97-AF65-F5344CB8AC3E}">
        <p14:creationId xmlns:p14="http://schemas.microsoft.com/office/powerpoint/2010/main" val="423423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9618-6625-E3E6-7F7F-74C7F5335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D11B7-DF0E-D42C-1821-37CF55749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dirty="0"/>
              <a:t>Backtracking concept and its examples like 8 queen’s problem, Hamiltonian cycle, Graph </a:t>
            </a:r>
            <a:r>
              <a:rPr lang="en-IN" dirty="0" err="1"/>
              <a:t>coloring</a:t>
            </a:r>
            <a:r>
              <a:rPr lang="en-IN" dirty="0"/>
              <a:t> problem etc.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/>
              <a:t>Introduction to branch &amp; bound method, examples of branch and bound method like traveling salesman problem etc. Meaning of lower bound theory and its use in solving algebraic problem, introduction to parallel algorithms. </a:t>
            </a:r>
          </a:p>
        </p:txBody>
      </p:sp>
    </p:spTree>
    <p:extLst>
      <p:ext uri="{BB962C8B-B14F-4D97-AF65-F5344CB8AC3E}">
        <p14:creationId xmlns:p14="http://schemas.microsoft.com/office/powerpoint/2010/main" val="3370129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2CB8-60B9-7D8A-8B0C-CE41467F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5C1F3-1E64-F15E-01B6-B0A48B328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320"/>
            <a:ext cx="10515600" cy="5069839"/>
          </a:xfrm>
        </p:spPr>
        <p:txBody>
          <a:bodyPr>
            <a:normAutofit fontScale="92500" lnSpcReduction="20000"/>
          </a:bodyPr>
          <a:lstStyle/>
          <a:p>
            <a:pPr algn="just" fontAlgn="base">
              <a:lnSpc>
                <a:spcPct val="170000"/>
              </a:lnSpc>
            </a:pPr>
            <a:r>
              <a:rPr lang="en-IN" sz="2000" dirty="0"/>
              <a:t>The backtracking approach is generally used in the cases where there are possibilities of multiple solutions.</a:t>
            </a:r>
          </a:p>
          <a:p>
            <a:pPr algn="just" fontAlgn="base">
              <a:lnSpc>
                <a:spcPct val="170000"/>
              </a:lnSpc>
            </a:pPr>
            <a:r>
              <a:rPr lang="en-IN" sz="2000" dirty="0"/>
              <a:t>Backtracking is an algorithmic technique that considers searching in every possible combination for solving a computational problem.</a:t>
            </a:r>
          </a:p>
          <a:p>
            <a:pPr algn="just" fontAlgn="base">
              <a:lnSpc>
                <a:spcPct val="170000"/>
              </a:lnSpc>
            </a:pPr>
            <a:r>
              <a:rPr lang="en-IN" sz="2000" dirty="0"/>
              <a:t>Backtracking is an important tool for solving </a:t>
            </a:r>
            <a:r>
              <a:rPr lang="en-IN" sz="2000" b="1" dirty="0"/>
              <a:t>constraint satisfaction problems,</a:t>
            </a:r>
            <a:r>
              <a:rPr lang="en-IN" sz="2000" dirty="0"/>
              <a:t> such as crosswords, Sudoku, and many other puzzles. </a:t>
            </a:r>
          </a:p>
          <a:p>
            <a:pPr algn="just" fontAlgn="base">
              <a:lnSpc>
                <a:spcPct val="170000"/>
              </a:lnSpc>
            </a:pPr>
            <a:r>
              <a:rPr lang="en-IN" sz="2000" dirty="0"/>
              <a:t>It is known for solving problems recursively one step at a time and removing those solutions that that do not satisfy the problem constraints at any point of time.</a:t>
            </a:r>
          </a:p>
          <a:p>
            <a:pPr algn="just" fontAlgn="base">
              <a:lnSpc>
                <a:spcPct val="170000"/>
              </a:lnSpc>
            </a:pPr>
            <a:r>
              <a:rPr lang="en-IN" sz="2000" dirty="0"/>
              <a:t>It is a</a:t>
            </a:r>
            <a:r>
              <a:rPr lang="en-IN" sz="2000" b="1" dirty="0"/>
              <a:t> brute force</a:t>
            </a:r>
            <a:r>
              <a:rPr lang="en-IN" sz="2000" dirty="0"/>
              <a:t> </a:t>
            </a:r>
            <a:r>
              <a:rPr lang="en-IN" sz="2000" b="1" dirty="0"/>
              <a:t>approach </a:t>
            </a:r>
            <a:r>
              <a:rPr lang="en-IN" sz="2000" dirty="0"/>
              <a:t>that tries out all the possible solutions using </a:t>
            </a:r>
            <a:r>
              <a:rPr lang="en-IN" sz="2000" b="1" dirty="0"/>
              <a:t>depth first search (DFS)</a:t>
            </a:r>
            <a:r>
              <a:rPr lang="en-IN" sz="2000" dirty="0"/>
              <a:t> and chooses the best possible ones out of them.</a:t>
            </a:r>
          </a:p>
        </p:txBody>
      </p:sp>
    </p:spTree>
    <p:extLst>
      <p:ext uri="{BB962C8B-B14F-4D97-AF65-F5344CB8AC3E}">
        <p14:creationId xmlns:p14="http://schemas.microsoft.com/office/powerpoint/2010/main" val="232993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ACAB-3453-4D4C-A1BF-43C1D1D8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Backtracking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F270D-C856-1516-A060-29CB3BB8CD77}"/>
              </a:ext>
            </a:extLst>
          </p:cNvPr>
          <p:cNvSpPr txBox="1"/>
          <p:nvPr/>
        </p:nvSpPr>
        <p:spPr>
          <a:xfrm>
            <a:off x="533400" y="3340736"/>
            <a:ext cx="3622040" cy="32701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en-IN" b="0" u="none" strike="noStrike" dirty="0">
                <a:effectLst/>
                <a:latin typeface="Google Sans"/>
              </a:rPr>
              <a:t>We have three distinct brothers: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B</a:t>
            </a:r>
            <a:r>
              <a:rPr lang="en-IN" b="0" u="none" strike="noStrike" dirty="0">
                <a:effectLst/>
                <a:latin typeface="Google Sans"/>
              </a:rPr>
              <a:t> (Big Brother)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M</a:t>
            </a:r>
            <a:r>
              <a:rPr lang="en-IN" b="0" u="none" strike="noStrike" dirty="0">
                <a:effectLst/>
                <a:latin typeface="Google Sans"/>
              </a:rPr>
              <a:t> (Middle Brother)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b="1" u="none" strike="noStrike" dirty="0">
                <a:effectLst/>
                <a:latin typeface="Google Sans"/>
              </a:rPr>
              <a:t>L</a:t>
            </a:r>
            <a:r>
              <a:rPr lang="en-IN" b="0" u="none" strike="noStrike" dirty="0">
                <a:effectLst/>
                <a:latin typeface="Google Sans"/>
              </a:rPr>
              <a:t> (Little Brother)</a:t>
            </a:r>
          </a:p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b="0" u="none" strike="noStrike" dirty="0">
                <a:effectLst/>
                <a:latin typeface="Google Sans"/>
              </a:rPr>
              <a:t>Since there are 3 positions on the horse (Front, Middle, and Back), the total number of unique ways they can sit is 3! (3 factorial): 3 x 2 x 1 = 6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78A5B0-AE18-CEE8-6C59-881D90889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68756"/>
            <a:ext cx="3186905" cy="17383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FCB603-1A1B-5403-47F7-7AA9EFFAC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631" y="1513840"/>
            <a:ext cx="7095995" cy="473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285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9B00D-BF0F-9B25-EC9D-19CCEEF9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Backtracking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B0CA7-296C-D95F-CE40-30174FC94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446848"/>
            <a:ext cx="4048760" cy="4351338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b="1" dirty="0"/>
              <a:t>Constraint: </a:t>
            </a:r>
            <a:r>
              <a:rPr lang="en-IN" sz="2000" dirty="0"/>
              <a:t>Little Brother (L) </a:t>
            </a:r>
            <a:r>
              <a:rPr lang="en-IN" sz="2000" b="1" dirty="0"/>
              <a:t>cannot</a:t>
            </a:r>
            <a:r>
              <a:rPr lang="en-IN" sz="2000" dirty="0"/>
              <a:t> sit in the back seat,</a:t>
            </a:r>
          </a:p>
          <a:p>
            <a:pPr marL="0" indent="0">
              <a:buNone/>
            </a:pPr>
            <a:r>
              <a:rPr lang="en-IN" sz="2000" dirty="0"/>
              <a:t>Now there are exactly </a:t>
            </a:r>
            <a:r>
              <a:rPr lang="en-IN" sz="2000" b="1" dirty="0"/>
              <a:t>4 valid ways</a:t>
            </a:r>
            <a:r>
              <a:rPr lang="en-IN" sz="2000" dirty="0"/>
              <a:t> for them to sit.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dirty="0"/>
              <a:t>Total possible seating ways = 6</a:t>
            </a:r>
          </a:p>
          <a:p>
            <a:r>
              <a:rPr lang="en-IN" sz="2000" dirty="0"/>
              <a:t>Ways with L in the back = 2</a:t>
            </a:r>
          </a:p>
          <a:p>
            <a:r>
              <a:rPr lang="en-IN" sz="2000" b="1" dirty="0"/>
              <a:t>Valid ways remaining = 4</a:t>
            </a: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Invalid Arrangements (Filtered Out)</a:t>
            </a:r>
          </a:p>
          <a:p>
            <a:pPr marL="0" indent="0">
              <a:buNone/>
            </a:pPr>
            <a:r>
              <a:rPr lang="en-IN" sz="2000" dirty="0"/>
              <a:t>The algorithm will reject these two options because L is in the back:</a:t>
            </a:r>
          </a:p>
          <a:p>
            <a:pPr marL="0" indent="0">
              <a:buNone/>
            </a:pPr>
            <a:r>
              <a:rPr lang="en-IN" sz="2000" dirty="0"/>
              <a:t>[B, M, L] ❌</a:t>
            </a:r>
          </a:p>
          <a:p>
            <a:pPr marL="0" indent="0">
              <a:buNone/>
            </a:pPr>
            <a:r>
              <a:rPr lang="en-IN" sz="2000" dirty="0"/>
              <a:t>[M, B, L] ❌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38373-DA28-F9A4-1F39-9232DA305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266" y="1416368"/>
            <a:ext cx="716793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48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347B-0929-4714-5403-48F629AB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Backtracking helps to solve following  computer science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0C263-2DF1-593D-EBDE-DCD78504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The 8-Queens Problem (N-Queens problem)</a:t>
            </a:r>
          </a:p>
          <a:p>
            <a:pPr>
              <a:lnSpc>
                <a:spcPct val="150000"/>
              </a:lnSpc>
            </a:pPr>
            <a:r>
              <a:rPr lang="en-IN" dirty="0"/>
              <a:t>The Hamiltonian Cycle</a:t>
            </a:r>
          </a:p>
          <a:p>
            <a:pPr>
              <a:lnSpc>
                <a:spcPct val="150000"/>
              </a:lnSpc>
            </a:pPr>
            <a:r>
              <a:rPr lang="en-IN" dirty="0"/>
              <a:t>The Graph </a:t>
            </a:r>
            <a:r>
              <a:rPr lang="en-IN" dirty="0" err="1"/>
              <a:t>Coloring</a:t>
            </a:r>
            <a:r>
              <a:rPr lang="en-IN" dirty="0"/>
              <a:t> Problem</a:t>
            </a:r>
          </a:p>
        </p:txBody>
      </p:sp>
    </p:spTree>
    <p:extLst>
      <p:ext uri="{BB962C8B-B14F-4D97-AF65-F5344CB8AC3E}">
        <p14:creationId xmlns:p14="http://schemas.microsoft.com/office/powerpoint/2010/main" val="3457542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2155-A548-2074-727D-1969E8AF3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Backtracking Algorithm: The 4-Queens Problem</a:t>
            </a:r>
            <a:endParaRPr lang="en-IN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6C8A58-0A15-A223-DE19-760C1195A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702529"/>
              </p:ext>
            </p:extLst>
          </p:nvPr>
        </p:nvGraphicFramePr>
        <p:xfrm>
          <a:off x="7746999" y="1904048"/>
          <a:ext cx="3450875" cy="25053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7794">
                  <a:extLst>
                    <a:ext uri="{9D8B030D-6E8A-4147-A177-3AD203B41FA5}">
                      <a16:colId xmlns:a16="http://schemas.microsoft.com/office/drawing/2014/main" val="2835415117"/>
                    </a:ext>
                  </a:extLst>
                </a:gridCol>
                <a:gridCol w="796080">
                  <a:extLst>
                    <a:ext uri="{9D8B030D-6E8A-4147-A177-3AD203B41FA5}">
                      <a16:colId xmlns:a16="http://schemas.microsoft.com/office/drawing/2014/main" val="1304507083"/>
                    </a:ext>
                  </a:extLst>
                </a:gridCol>
                <a:gridCol w="742541">
                  <a:extLst>
                    <a:ext uri="{9D8B030D-6E8A-4147-A177-3AD203B41FA5}">
                      <a16:colId xmlns:a16="http://schemas.microsoft.com/office/drawing/2014/main" val="719428449"/>
                    </a:ext>
                  </a:extLst>
                </a:gridCol>
                <a:gridCol w="757230">
                  <a:extLst>
                    <a:ext uri="{9D8B030D-6E8A-4147-A177-3AD203B41FA5}">
                      <a16:colId xmlns:a16="http://schemas.microsoft.com/office/drawing/2014/main" val="639983479"/>
                    </a:ext>
                  </a:extLst>
                </a:gridCol>
                <a:gridCol w="757230">
                  <a:extLst>
                    <a:ext uri="{9D8B030D-6E8A-4147-A177-3AD203B41FA5}">
                      <a16:colId xmlns:a16="http://schemas.microsoft.com/office/drawing/2014/main" val="825097739"/>
                    </a:ext>
                  </a:extLst>
                </a:gridCol>
              </a:tblGrid>
              <a:tr h="475176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2324315"/>
                  </a:ext>
                </a:extLst>
              </a:tr>
              <a:tr h="60468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7796"/>
                  </a:ext>
                </a:extLst>
              </a:tr>
              <a:tr h="47517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53939358"/>
                  </a:ext>
                </a:extLst>
              </a:tr>
              <a:tr h="47517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29420"/>
                  </a:ext>
                </a:extLst>
              </a:tr>
              <a:tr h="47517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2743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AECA88-95B7-0432-31D8-63F3C2B01355}"/>
              </a:ext>
            </a:extLst>
          </p:cNvPr>
          <p:cNvSpPr txBox="1"/>
          <p:nvPr/>
        </p:nvSpPr>
        <p:spPr>
          <a:xfrm>
            <a:off x="8067273" y="4653280"/>
            <a:ext cx="32319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/>
              <a:t>4 x 4 chessboard</a:t>
            </a:r>
          </a:p>
          <a:p>
            <a:r>
              <a:rPr lang="en-IN" b="1" dirty="0"/>
              <a:t>One of the solution is: x[2 4 1 3]</a:t>
            </a:r>
          </a:p>
          <a:p>
            <a:r>
              <a:rPr lang="en-IN" b="1" dirty="0"/>
              <a:t>              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4B941B-8106-B310-DFF9-17DA40742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916" y="1623696"/>
            <a:ext cx="6763040" cy="4604384"/>
          </a:xfrm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</a:rPr>
              <a:t>Problem: </a:t>
            </a:r>
            <a:r>
              <a:rPr lang="en-IN" dirty="0"/>
              <a:t>Place N-queens into </a:t>
            </a:r>
            <a:r>
              <a:rPr lang="en-IN" dirty="0" err="1"/>
              <a:t>NxN</a:t>
            </a:r>
            <a:r>
              <a:rPr lang="en-IN" dirty="0"/>
              <a:t> chessboard so that no two queens can attack each other means no two queens are on  the same row, same column or same diagonal.</a:t>
            </a:r>
            <a:endParaRPr lang="en-IN" sz="3200" dirty="0"/>
          </a:p>
          <a:p>
            <a:pPr marL="0" indent="0" algn="just">
              <a:buNone/>
            </a:pPr>
            <a:r>
              <a:rPr lang="en-IN" b="1" dirty="0"/>
              <a:t>Constraints:</a:t>
            </a:r>
          </a:p>
          <a:p>
            <a:pPr marL="538163" indent="-138113" algn="just"/>
            <a:r>
              <a:rPr lang="en-IN" sz="3200" dirty="0"/>
              <a:t> </a:t>
            </a:r>
            <a:r>
              <a:rPr lang="en-IN" b="1" dirty="0"/>
              <a:t>Explicit Constraints</a:t>
            </a:r>
          </a:p>
          <a:p>
            <a:pPr marL="1314450" lvl="1" indent="-457200" algn="just">
              <a:buFont typeface="+mj-lt"/>
              <a:buAutoNum type="arabicPeriod"/>
            </a:pPr>
            <a:r>
              <a:rPr lang="en-IN" dirty="0"/>
              <a:t>Given 4 x 4 chessboard</a:t>
            </a:r>
          </a:p>
          <a:p>
            <a:pPr marL="1314450" lvl="1" indent="-457200" algn="just">
              <a:buFont typeface="+mj-lt"/>
              <a:buAutoNum type="arabicPeriod"/>
            </a:pPr>
            <a:r>
              <a:rPr lang="en-IN" dirty="0"/>
              <a:t>Where 4 is the no. of queens </a:t>
            </a:r>
          </a:p>
          <a:p>
            <a:pPr marL="1314450" lvl="2" indent="0" algn="just">
              <a:buNone/>
            </a:pPr>
            <a:r>
              <a:rPr lang="en-IN" sz="2400" b="1" dirty="0"/>
              <a:t>1 &lt;= xi &lt;=4</a:t>
            </a:r>
            <a:endParaRPr lang="en-IN" sz="1800" b="1" dirty="0"/>
          </a:p>
          <a:p>
            <a:pPr marL="857250" lvl="1" indent="0" algn="just">
              <a:buNone/>
            </a:pPr>
            <a:endParaRPr lang="en-IN" sz="2800" dirty="0"/>
          </a:p>
          <a:p>
            <a:pPr lvl="1" algn="just"/>
            <a:r>
              <a:rPr lang="en-IN" sz="2800" b="1" dirty="0"/>
              <a:t>Implicit constraints:</a:t>
            </a:r>
          </a:p>
          <a:p>
            <a:pPr marL="457200" lvl="1" indent="0" algn="just">
              <a:buNone/>
            </a:pPr>
            <a:r>
              <a:rPr lang="en-IN" sz="2600" dirty="0"/>
              <a:t>We have to place all the queens in such a way that:</a:t>
            </a:r>
            <a:endParaRPr lang="en-IN" sz="2800" dirty="0"/>
          </a:p>
          <a:p>
            <a:pPr marL="1371600" lvl="2" indent="-457200" algn="just">
              <a:buFont typeface="+mj-lt"/>
              <a:buAutoNum type="arabicPeriod"/>
            </a:pPr>
            <a:r>
              <a:rPr lang="en-IN" sz="2400" dirty="0"/>
              <a:t>No two queens should be in same row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IN" sz="2400" dirty="0"/>
              <a:t>No two queens should be in same column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IN" sz="2400" dirty="0"/>
              <a:t>No two queens should be in same diagonal</a:t>
            </a:r>
          </a:p>
        </p:txBody>
      </p:sp>
    </p:spTree>
    <p:extLst>
      <p:ext uri="{BB962C8B-B14F-4D97-AF65-F5344CB8AC3E}">
        <p14:creationId xmlns:p14="http://schemas.microsoft.com/office/powerpoint/2010/main" val="4195694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42277-6A91-B3C2-7B45-133BAAE49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ABCC-07F6-CF95-033E-B9F4B1F49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283845"/>
            <a:ext cx="10515600" cy="417195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Backtracking Algorithm: The 4-Queens Problem</a:t>
            </a:r>
            <a:endParaRPr lang="en-IN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7B121-3B99-8681-F2FE-BD9F51F387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2"/>
          <a:stretch>
            <a:fillRect/>
          </a:stretch>
        </p:blipFill>
        <p:spPr>
          <a:xfrm>
            <a:off x="508001" y="1450975"/>
            <a:ext cx="6106160" cy="395605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753C99-2C4A-BE49-1CA9-D9B8A7358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561" y="1451927"/>
            <a:ext cx="4886885" cy="395605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F5EF37A-E62E-4A03-8A16-F7B18A344DDB}"/>
              </a:ext>
            </a:extLst>
          </p:cNvPr>
          <p:cNvSpPr txBox="1">
            <a:spLocks/>
          </p:cNvSpPr>
          <p:nvPr/>
        </p:nvSpPr>
        <p:spPr>
          <a:xfrm>
            <a:off x="929640" y="5887402"/>
            <a:ext cx="10515600" cy="417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solidFill>
                  <a:srgbClr val="FF0000"/>
                </a:solidFill>
              </a:rPr>
              <a:t>Above algorithms will be applicable for both 4-Queens  &amp; 8-Queens Problem</a:t>
            </a:r>
            <a:endParaRPr lang="en-I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962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>
            <a:extLst>
              <a:ext uri="{FF2B5EF4-FFF2-40B4-BE49-F238E27FC236}">
                <a16:creationId xmlns:a16="http://schemas.microsoft.com/office/drawing/2014/main" id="{3FBFCA07-84BE-EE53-8243-0B6109DFB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871F35F4-A403-5E4B-D19D-4A3A25764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961518"/>
              </p:ext>
            </p:extLst>
          </p:nvPr>
        </p:nvGraphicFramePr>
        <p:xfrm>
          <a:off x="10007600" y="132080"/>
          <a:ext cx="1696721" cy="1373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288">
                  <a:extLst>
                    <a:ext uri="{9D8B030D-6E8A-4147-A177-3AD203B41FA5}">
                      <a16:colId xmlns:a16="http://schemas.microsoft.com/office/drawing/2014/main" val="2835415117"/>
                    </a:ext>
                  </a:extLst>
                </a:gridCol>
                <a:gridCol w="380021">
                  <a:extLst>
                    <a:ext uri="{9D8B030D-6E8A-4147-A177-3AD203B41FA5}">
                      <a16:colId xmlns:a16="http://schemas.microsoft.com/office/drawing/2014/main" val="1304507083"/>
                    </a:ext>
                  </a:extLst>
                </a:gridCol>
                <a:gridCol w="354462">
                  <a:extLst>
                    <a:ext uri="{9D8B030D-6E8A-4147-A177-3AD203B41FA5}">
                      <a16:colId xmlns:a16="http://schemas.microsoft.com/office/drawing/2014/main" val="719428449"/>
                    </a:ext>
                  </a:extLst>
                </a:gridCol>
                <a:gridCol w="361475">
                  <a:extLst>
                    <a:ext uri="{9D8B030D-6E8A-4147-A177-3AD203B41FA5}">
                      <a16:colId xmlns:a16="http://schemas.microsoft.com/office/drawing/2014/main" val="639983479"/>
                    </a:ext>
                  </a:extLst>
                </a:gridCol>
                <a:gridCol w="361475">
                  <a:extLst>
                    <a:ext uri="{9D8B030D-6E8A-4147-A177-3AD203B41FA5}">
                      <a16:colId xmlns:a16="http://schemas.microsoft.com/office/drawing/2014/main" val="825097739"/>
                    </a:ext>
                  </a:extLst>
                </a:gridCol>
              </a:tblGrid>
              <a:tr h="242404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2324315"/>
                  </a:ext>
                </a:extLst>
              </a:tr>
              <a:tr h="28229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7796"/>
                  </a:ext>
                </a:extLst>
              </a:tr>
              <a:tr h="28229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Q2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53939358"/>
                  </a:ext>
                </a:extLst>
              </a:tr>
              <a:tr h="28229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Q3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29420"/>
                  </a:ext>
                </a:extLst>
              </a:tr>
              <a:tr h="28229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Q4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274321"/>
                  </a:ext>
                </a:extLst>
              </a:tr>
            </a:tbl>
          </a:graphicData>
        </a:graphic>
      </p:graphicFrame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EEC6EB2B-120E-2E06-C575-620C7564E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178123"/>
              </p:ext>
            </p:extLst>
          </p:nvPr>
        </p:nvGraphicFramePr>
        <p:xfrm>
          <a:off x="7955280" y="172720"/>
          <a:ext cx="1696721" cy="13730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288">
                  <a:extLst>
                    <a:ext uri="{9D8B030D-6E8A-4147-A177-3AD203B41FA5}">
                      <a16:colId xmlns:a16="http://schemas.microsoft.com/office/drawing/2014/main" val="2835415117"/>
                    </a:ext>
                  </a:extLst>
                </a:gridCol>
                <a:gridCol w="380021">
                  <a:extLst>
                    <a:ext uri="{9D8B030D-6E8A-4147-A177-3AD203B41FA5}">
                      <a16:colId xmlns:a16="http://schemas.microsoft.com/office/drawing/2014/main" val="1304507083"/>
                    </a:ext>
                  </a:extLst>
                </a:gridCol>
                <a:gridCol w="354462">
                  <a:extLst>
                    <a:ext uri="{9D8B030D-6E8A-4147-A177-3AD203B41FA5}">
                      <a16:colId xmlns:a16="http://schemas.microsoft.com/office/drawing/2014/main" val="719428449"/>
                    </a:ext>
                  </a:extLst>
                </a:gridCol>
                <a:gridCol w="361475">
                  <a:extLst>
                    <a:ext uri="{9D8B030D-6E8A-4147-A177-3AD203B41FA5}">
                      <a16:colId xmlns:a16="http://schemas.microsoft.com/office/drawing/2014/main" val="639983479"/>
                    </a:ext>
                  </a:extLst>
                </a:gridCol>
                <a:gridCol w="361475">
                  <a:extLst>
                    <a:ext uri="{9D8B030D-6E8A-4147-A177-3AD203B41FA5}">
                      <a16:colId xmlns:a16="http://schemas.microsoft.com/office/drawing/2014/main" val="825097739"/>
                    </a:ext>
                  </a:extLst>
                </a:gridCol>
              </a:tblGrid>
              <a:tr h="242404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2324315"/>
                  </a:ext>
                </a:extLst>
              </a:tr>
              <a:tr h="28229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7796"/>
                  </a:ext>
                </a:extLst>
              </a:tr>
              <a:tr h="28229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Q2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53939358"/>
                  </a:ext>
                </a:extLst>
              </a:tr>
              <a:tr h="28229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Q3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29420"/>
                  </a:ext>
                </a:extLst>
              </a:tr>
              <a:tr h="282299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274321"/>
                  </a:ext>
                </a:extLst>
              </a:tr>
            </a:tbl>
          </a:graphicData>
        </a:graphic>
      </p:graphicFrame>
      <p:sp>
        <p:nvSpPr>
          <p:cNvPr id="114" name="TextBox 113">
            <a:extLst>
              <a:ext uri="{FF2B5EF4-FFF2-40B4-BE49-F238E27FC236}">
                <a16:creationId xmlns:a16="http://schemas.microsoft.com/office/drawing/2014/main" id="{C6A3F77A-5934-377C-93E9-A899BE3ED421}"/>
              </a:ext>
            </a:extLst>
          </p:cNvPr>
          <p:cNvSpPr txBox="1"/>
          <p:nvPr/>
        </p:nvSpPr>
        <p:spPr>
          <a:xfrm>
            <a:off x="8546973" y="1524000"/>
            <a:ext cx="82984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50" b="1" dirty="0"/>
              <a:t>solution </a:t>
            </a:r>
          </a:p>
          <a:p>
            <a:pPr algn="ctr"/>
            <a:r>
              <a:rPr lang="en-IN" sz="1050" b="1" dirty="0"/>
              <a:t>x[2 4 1 3]</a:t>
            </a:r>
          </a:p>
          <a:p>
            <a:r>
              <a:rPr lang="en-IN" sz="1050" b="1" dirty="0"/>
              <a:t>                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1ACD03D-4730-98C1-2E7D-248C97701E3F}"/>
              </a:ext>
            </a:extLst>
          </p:cNvPr>
          <p:cNvSpPr txBox="1"/>
          <p:nvPr/>
        </p:nvSpPr>
        <p:spPr>
          <a:xfrm>
            <a:off x="10645622" y="1493520"/>
            <a:ext cx="71686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50" b="1" dirty="0"/>
              <a:t>solution </a:t>
            </a:r>
          </a:p>
          <a:p>
            <a:pPr algn="ctr"/>
            <a:r>
              <a:rPr lang="en-IN" sz="1050" b="1" dirty="0"/>
              <a:t>x[3 1 4 2]</a:t>
            </a:r>
          </a:p>
          <a:p>
            <a:r>
              <a:rPr lang="en-IN" sz="1050" b="1" dirty="0"/>
              <a:t>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E41F0-109F-E2EE-7A65-7B56B18DB345}"/>
              </a:ext>
            </a:extLst>
          </p:cNvPr>
          <p:cNvSpPr txBox="1"/>
          <p:nvPr/>
        </p:nvSpPr>
        <p:spPr>
          <a:xfrm>
            <a:off x="3199536" y="883642"/>
            <a:ext cx="3018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+mj-lt"/>
              </a:rPr>
              <a:t>or Permutation tree</a:t>
            </a:r>
          </a:p>
        </p:txBody>
      </p:sp>
    </p:spTree>
    <p:extLst>
      <p:ext uri="{BB962C8B-B14F-4D97-AF65-F5344CB8AC3E}">
        <p14:creationId xmlns:p14="http://schemas.microsoft.com/office/powerpoint/2010/main" val="2168438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41BEB-7276-898D-EB85-E617EBCF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9C8B5-47DA-9CD0-3632-A4F7A5B2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Backtracking Algorithm: The 8-Queens Problem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2D79B0-78CB-9B6B-9982-FFF47CD1859B}"/>
              </a:ext>
            </a:extLst>
          </p:cNvPr>
          <p:cNvGraphicFramePr>
            <a:graphicFrameLocks noGrp="1"/>
          </p:cNvGraphicFramePr>
          <p:nvPr/>
        </p:nvGraphicFramePr>
        <p:xfrm>
          <a:off x="7543799" y="1690688"/>
          <a:ext cx="4221481" cy="35119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081">
                  <a:extLst>
                    <a:ext uri="{9D8B030D-6E8A-4147-A177-3AD203B41FA5}">
                      <a16:colId xmlns:a16="http://schemas.microsoft.com/office/drawing/2014/main" val="2835415117"/>
                    </a:ext>
                  </a:extLst>
                </a:gridCol>
                <a:gridCol w="518482">
                  <a:extLst>
                    <a:ext uri="{9D8B030D-6E8A-4147-A177-3AD203B41FA5}">
                      <a16:colId xmlns:a16="http://schemas.microsoft.com/office/drawing/2014/main" val="1304507083"/>
                    </a:ext>
                  </a:extLst>
                </a:gridCol>
                <a:gridCol w="483612">
                  <a:extLst>
                    <a:ext uri="{9D8B030D-6E8A-4147-A177-3AD203B41FA5}">
                      <a16:colId xmlns:a16="http://schemas.microsoft.com/office/drawing/2014/main" val="719428449"/>
                    </a:ext>
                  </a:extLst>
                </a:gridCol>
                <a:gridCol w="493179">
                  <a:extLst>
                    <a:ext uri="{9D8B030D-6E8A-4147-A177-3AD203B41FA5}">
                      <a16:colId xmlns:a16="http://schemas.microsoft.com/office/drawing/2014/main" val="639983479"/>
                    </a:ext>
                  </a:extLst>
                </a:gridCol>
                <a:gridCol w="493179">
                  <a:extLst>
                    <a:ext uri="{9D8B030D-6E8A-4147-A177-3AD203B41FA5}">
                      <a16:colId xmlns:a16="http://schemas.microsoft.com/office/drawing/2014/main" val="825097739"/>
                    </a:ext>
                  </a:extLst>
                </a:gridCol>
                <a:gridCol w="493179">
                  <a:extLst>
                    <a:ext uri="{9D8B030D-6E8A-4147-A177-3AD203B41FA5}">
                      <a16:colId xmlns:a16="http://schemas.microsoft.com/office/drawing/2014/main" val="2936793895"/>
                    </a:ext>
                  </a:extLst>
                </a:gridCol>
                <a:gridCol w="493179">
                  <a:extLst>
                    <a:ext uri="{9D8B030D-6E8A-4147-A177-3AD203B41FA5}">
                      <a16:colId xmlns:a16="http://schemas.microsoft.com/office/drawing/2014/main" val="2026578532"/>
                    </a:ext>
                  </a:extLst>
                </a:gridCol>
                <a:gridCol w="530390">
                  <a:extLst>
                    <a:ext uri="{9D8B030D-6E8A-4147-A177-3AD203B41FA5}">
                      <a16:colId xmlns:a16="http://schemas.microsoft.com/office/drawing/2014/main" val="17841111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6645724"/>
                    </a:ext>
                  </a:extLst>
                </a:gridCol>
              </a:tblGrid>
              <a:tr h="37874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2324315"/>
                  </a:ext>
                </a:extLst>
              </a:tr>
              <a:tr h="48198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7796"/>
                  </a:ext>
                </a:extLst>
              </a:tr>
              <a:tr h="37874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53939358"/>
                  </a:ext>
                </a:extLst>
              </a:tr>
              <a:tr h="37874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29420"/>
                  </a:ext>
                </a:extLst>
              </a:tr>
              <a:tr h="37874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274321"/>
                  </a:ext>
                </a:extLst>
              </a:tr>
              <a:tr h="37874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551912"/>
                  </a:ext>
                </a:extLst>
              </a:tr>
              <a:tr h="37874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333112"/>
                  </a:ext>
                </a:extLst>
              </a:tr>
              <a:tr h="37874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242149"/>
                  </a:ext>
                </a:extLst>
              </a:tr>
              <a:tr h="37874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4361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EC0B553-A6CA-AB67-D6DE-20C1FC97687E}"/>
              </a:ext>
            </a:extLst>
          </p:cNvPr>
          <p:cNvSpPr txBox="1"/>
          <p:nvPr/>
        </p:nvSpPr>
        <p:spPr>
          <a:xfrm>
            <a:off x="7727436" y="5374640"/>
            <a:ext cx="39116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/>
              <a:t>8 x 8 chessboard</a:t>
            </a:r>
          </a:p>
          <a:p>
            <a:r>
              <a:rPr lang="en-IN" b="1" dirty="0"/>
              <a:t>One of the solution is: x[4 6 8 2 7 1 3 5]</a:t>
            </a:r>
          </a:p>
          <a:p>
            <a:r>
              <a:rPr lang="en-IN" b="1" dirty="0"/>
              <a:t>              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4F82A3-2121-42DD-6615-FE91CC85E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916" y="1623696"/>
            <a:ext cx="6763040" cy="4604384"/>
          </a:xfrm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FF0000"/>
                </a:solidFill>
              </a:rPr>
              <a:t>Problem: </a:t>
            </a:r>
            <a:r>
              <a:rPr lang="en-IN" dirty="0"/>
              <a:t>Place N-queens into </a:t>
            </a:r>
            <a:r>
              <a:rPr lang="en-IN" dirty="0" err="1"/>
              <a:t>NxN</a:t>
            </a:r>
            <a:r>
              <a:rPr lang="en-IN" dirty="0"/>
              <a:t> chessboard so that no two queens can attack each other means no two queens are on  the same row, same column or same diagonal.</a:t>
            </a:r>
            <a:endParaRPr lang="en-IN" sz="3200" dirty="0"/>
          </a:p>
          <a:p>
            <a:pPr marL="0" indent="0" algn="just">
              <a:buNone/>
            </a:pPr>
            <a:r>
              <a:rPr lang="en-IN" b="1" dirty="0"/>
              <a:t>Constraints:</a:t>
            </a:r>
          </a:p>
          <a:p>
            <a:pPr marL="538163" indent="-138113" algn="just"/>
            <a:r>
              <a:rPr lang="en-IN" sz="3200" dirty="0"/>
              <a:t> </a:t>
            </a:r>
            <a:r>
              <a:rPr lang="en-IN" b="1" dirty="0"/>
              <a:t>Explicit Constraints</a:t>
            </a:r>
          </a:p>
          <a:p>
            <a:pPr marL="1314450" lvl="1" indent="-457200" algn="just">
              <a:buFont typeface="+mj-lt"/>
              <a:buAutoNum type="arabicPeriod"/>
            </a:pPr>
            <a:r>
              <a:rPr lang="en-IN" dirty="0"/>
              <a:t>Given 8 x 8 chessboard</a:t>
            </a:r>
          </a:p>
          <a:p>
            <a:pPr marL="1314450" lvl="1" indent="-457200" algn="just">
              <a:buFont typeface="+mj-lt"/>
              <a:buAutoNum type="arabicPeriod"/>
            </a:pPr>
            <a:r>
              <a:rPr lang="en-IN" dirty="0"/>
              <a:t>Where 4 is the no. of queens </a:t>
            </a:r>
          </a:p>
          <a:p>
            <a:pPr marL="1314450" lvl="2" indent="0" algn="just">
              <a:buNone/>
            </a:pPr>
            <a:r>
              <a:rPr lang="en-IN" sz="2400" b="1" dirty="0"/>
              <a:t>1 &lt;= xi &lt;=8</a:t>
            </a:r>
            <a:endParaRPr lang="en-IN" sz="1800" b="1" dirty="0"/>
          </a:p>
          <a:p>
            <a:pPr marL="857250" lvl="1" indent="0" algn="just">
              <a:buNone/>
            </a:pPr>
            <a:endParaRPr lang="en-IN" sz="2800" dirty="0"/>
          </a:p>
          <a:p>
            <a:pPr lvl="1" algn="just"/>
            <a:r>
              <a:rPr lang="en-IN" sz="2800" b="1" dirty="0"/>
              <a:t>Implicit constraints:</a:t>
            </a:r>
          </a:p>
          <a:p>
            <a:pPr marL="457200" lvl="1" indent="0" algn="just">
              <a:buNone/>
            </a:pPr>
            <a:r>
              <a:rPr lang="en-IN" sz="2600" dirty="0"/>
              <a:t>We have to place all the queens in such a way that:</a:t>
            </a:r>
            <a:endParaRPr lang="en-IN" sz="2800" dirty="0"/>
          </a:p>
          <a:p>
            <a:pPr marL="1371600" lvl="2" indent="-457200" algn="just">
              <a:buFont typeface="+mj-lt"/>
              <a:buAutoNum type="arabicPeriod"/>
            </a:pPr>
            <a:r>
              <a:rPr lang="en-IN" sz="2400" dirty="0"/>
              <a:t>No two queens should be in same row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IN" sz="2400" dirty="0"/>
              <a:t>No two queens should be in same column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IN" sz="2400" dirty="0"/>
              <a:t>No two queens should be in same diagonal</a:t>
            </a:r>
          </a:p>
        </p:txBody>
      </p:sp>
    </p:spTree>
    <p:extLst>
      <p:ext uri="{BB962C8B-B14F-4D97-AF65-F5344CB8AC3E}">
        <p14:creationId xmlns:p14="http://schemas.microsoft.com/office/powerpoint/2010/main" val="45636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2A0B8-8FF3-A51A-F5CB-257A170C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172085"/>
            <a:ext cx="10515600" cy="884555"/>
          </a:xfrm>
        </p:spPr>
        <p:txBody>
          <a:bodyPr>
            <a:normAutofit/>
          </a:bodyPr>
          <a:lstStyle/>
          <a:p>
            <a:r>
              <a:rPr lang="en-IN" sz="4000" b="1" dirty="0"/>
              <a:t>Backtracking Algorithm: The 8-Queens Problem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83088-C476-8E01-B3E9-02AF08FE93A5}"/>
              </a:ext>
            </a:extLst>
          </p:cNvPr>
          <p:cNvSpPr txBox="1"/>
          <p:nvPr/>
        </p:nvSpPr>
        <p:spPr>
          <a:xfrm>
            <a:off x="721360" y="11513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State Space Tree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DDD94B-6CE9-89E0-5F05-079F0D195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480" y="1175416"/>
            <a:ext cx="7738991" cy="55606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3B11E1-43DF-27AE-3A67-C04BD5A6E4C5}"/>
              </a:ext>
            </a:extLst>
          </p:cNvPr>
          <p:cNvSpPr txBox="1"/>
          <p:nvPr/>
        </p:nvSpPr>
        <p:spPr>
          <a:xfrm>
            <a:off x="659536" y="1391642"/>
            <a:ext cx="3018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</a:rPr>
              <a:t>              or </a:t>
            </a:r>
          </a:p>
          <a:p>
            <a:r>
              <a:rPr lang="en-IN" b="1" dirty="0">
                <a:latin typeface="+mj-lt"/>
              </a:rPr>
              <a:t>Permutation tree</a:t>
            </a:r>
          </a:p>
        </p:txBody>
      </p:sp>
    </p:spTree>
    <p:extLst>
      <p:ext uri="{BB962C8B-B14F-4D97-AF65-F5344CB8AC3E}">
        <p14:creationId xmlns:p14="http://schemas.microsoft.com/office/powerpoint/2010/main" val="127044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0604-A9D8-8C3A-A48E-8F6A238E9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2BF39ED-952E-CCFE-DD29-D4D2549A1DCE}"/>
              </a:ext>
            </a:extLst>
          </p:cNvPr>
          <p:cNvSpPr txBox="1"/>
          <p:nvPr/>
        </p:nvSpPr>
        <p:spPr>
          <a:xfrm>
            <a:off x="487680" y="8262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State Space Tree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F7353B-8317-E64F-A6AD-5142E3F86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879131"/>
              </p:ext>
            </p:extLst>
          </p:nvPr>
        </p:nvGraphicFramePr>
        <p:xfrm>
          <a:off x="1209040" y="4542415"/>
          <a:ext cx="2753360" cy="19273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857">
                  <a:extLst>
                    <a:ext uri="{9D8B030D-6E8A-4147-A177-3AD203B41FA5}">
                      <a16:colId xmlns:a16="http://schemas.microsoft.com/office/drawing/2014/main" val="2835415117"/>
                    </a:ext>
                  </a:extLst>
                </a:gridCol>
                <a:gridCol w="332166">
                  <a:extLst>
                    <a:ext uri="{9D8B030D-6E8A-4147-A177-3AD203B41FA5}">
                      <a16:colId xmlns:a16="http://schemas.microsoft.com/office/drawing/2014/main" val="1304507083"/>
                    </a:ext>
                  </a:extLst>
                </a:gridCol>
                <a:gridCol w="309825">
                  <a:extLst>
                    <a:ext uri="{9D8B030D-6E8A-4147-A177-3AD203B41FA5}">
                      <a16:colId xmlns:a16="http://schemas.microsoft.com/office/drawing/2014/main" val="719428449"/>
                    </a:ext>
                  </a:extLst>
                </a:gridCol>
                <a:gridCol w="315954">
                  <a:extLst>
                    <a:ext uri="{9D8B030D-6E8A-4147-A177-3AD203B41FA5}">
                      <a16:colId xmlns:a16="http://schemas.microsoft.com/office/drawing/2014/main" val="639983479"/>
                    </a:ext>
                  </a:extLst>
                </a:gridCol>
                <a:gridCol w="315954">
                  <a:extLst>
                    <a:ext uri="{9D8B030D-6E8A-4147-A177-3AD203B41FA5}">
                      <a16:colId xmlns:a16="http://schemas.microsoft.com/office/drawing/2014/main" val="825097739"/>
                    </a:ext>
                  </a:extLst>
                </a:gridCol>
                <a:gridCol w="315954">
                  <a:extLst>
                    <a:ext uri="{9D8B030D-6E8A-4147-A177-3AD203B41FA5}">
                      <a16:colId xmlns:a16="http://schemas.microsoft.com/office/drawing/2014/main" val="2936793895"/>
                    </a:ext>
                  </a:extLst>
                </a:gridCol>
                <a:gridCol w="315954">
                  <a:extLst>
                    <a:ext uri="{9D8B030D-6E8A-4147-A177-3AD203B41FA5}">
                      <a16:colId xmlns:a16="http://schemas.microsoft.com/office/drawing/2014/main" val="2026578532"/>
                    </a:ext>
                  </a:extLst>
                </a:gridCol>
                <a:gridCol w="339792">
                  <a:extLst>
                    <a:ext uri="{9D8B030D-6E8A-4147-A177-3AD203B41FA5}">
                      <a16:colId xmlns:a16="http://schemas.microsoft.com/office/drawing/2014/main" val="1784111147"/>
                    </a:ext>
                  </a:extLst>
                </a:gridCol>
                <a:gridCol w="292904">
                  <a:extLst>
                    <a:ext uri="{9D8B030D-6E8A-4147-A177-3AD203B41FA5}">
                      <a16:colId xmlns:a16="http://schemas.microsoft.com/office/drawing/2014/main" val="356645724"/>
                    </a:ext>
                  </a:extLst>
                </a:gridCol>
              </a:tblGrid>
              <a:tr h="182461">
                <a:tc>
                  <a:txBody>
                    <a:bodyPr/>
                    <a:lstStyle/>
                    <a:p>
                      <a:pPr algn="ctr"/>
                      <a:endParaRPr lang="en-IN" sz="7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2324315"/>
                  </a:ext>
                </a:extLst>
              </a:tr>
              <a:tr h="182461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7796"/>
                  </a:ext>
                </a:extLst>
              </a:tr>
              <a:tr h="182461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939358"/>
                  </a:ext>
                </a:extLst>
              </a:tr>
              <a:tr h="280709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Q3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29420"/>
                  </a:ext>
                </a:extLst>
              </a:tr>
              <a:tr h="259810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74321"/>
                  </a:ext>
                </a:extLst>
              </a:tr>
              <a:tr h="182461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551912"/>
                  </a:ext>
                </a:extLst>
              </a:tr>
              <a:tr h="182461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33112"/>
                  </a:ext>
                </a:extLst>
              </a:tr>
              <a:tr h="182461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242149"/>
                  </a:ext>
                </a:extLst>
              </a:tr>
              <a:tr h="182461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Q8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43619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D82F532-A7C1-7E4C-3E12-5BC541922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12254"/>
              </p:ext>
            </p:extLst>
          </p:nvPr>
        </p:nvGraphicFramePr>
        <p:xfrm>
          <a:off x="4734560" y="4440816"/>
          <a:ext cx="2858230" cy="2057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956">
                  <a:extLst>
                    <a:ext uri="{9D8B030D-6E8A-4147-A177-3AD203B41FA5}">
                      <a16:colId xmlns:a16="http://schemas.microsoft.com/office/drawing/2014/main" val="2835415117"/>
                    </a:ext>
                  </a:extLst>
                </a:gridCol>
                <a:gridCol w="345744">
                  <a:extLst>
                    <a:ext uri="{9D8B030D-6E8A-4147-A177-3AD203B41FA5}">
                      <a16:colId xmlns:a16="http://schemas.microsoft.com/office/drawing/2014/main" val="1304507083"/>
                    </a:ext>
                  </a:extLst>
                </a:gridCol>
                <a:gridCol w="322490">
                  <a:extLst>
                    <a:ext uri="{9D8B030D-6E8A-4147-A177-3AD203B41FA5}">
                      <a16:colId xmlns:a16="http://schemas.microsoft.com/office/drawing/2014/main" val="719428449"/>
                    </a:ext>
                  </a:extLst>
                </a:gridCol>
                <a:gridCol w="328870">
                  <a:extLst>
                    <a:ext uri="{9D8B030D-6E8A-4147-A177-3AD203B41FA5}">
                      <a16:colId xmlns:a16="http://schemas.microsoft.com/office/drawing/2014/main" val="639983479"/>
                    </a:ext>
                  </a:extLst>
                </a:gridCol>
                <a:gridCol w="328870">
                  <a:extLst>
                    <a:ext uri="{9D8B030D-6E8A-4147-A177-3AD203B41FA5}">
                      <a16:colId xmlns:a16="http://schemas.microsoft.com/office/drawing/2014/main" val="825097739"/>
                    </a:ext>
                  </a:extLst>
                </a:gridCol>
                <a:gridCol w="328870">
                  <a:extLst>
                    <a:ext uri="{9D8B030D-6E8A-4147-A177-3AD203B41FA5}">
                      <a16:colId xmlns:a16="http://schemas.microsoft.com/office/drawing/2014/main" val="2936793895"/>
                    </a:ext>
                  </a:extLst>
                </a:gridCol>
                <a:gridCol w="328870">
                  <a:extLst>
                    <a:ext uri="{9D8B030D-6E8A-4147-A177-3AD203B41FA5}">
                      <a16:colId xmlns:a16="http://schemas.microsoft.com/office/drawing/2014/main" val="2026578532"/>
                    </a:ext>
                  </a:extLst>
                </a:gridCol>
                <a:gridCol w="353682">
                  <a:extLst>
                    <a:ext uri="{9D8B030D-6E8A-4147-A177-3AD203B41FA5}">
                      <a16:colId xmlns:a16="http://schemas.microsoft.com/office/drawing/2014/main" val="1784111147"/>
                    </a:ext>
                  </a:extLst>
                </a:gridCol>
                <a:gridCol w="304878">
                  <a:extLst>
                    <a:ext uri="{9D8B030D-6E8A-4147-A177-3AD203B41FA5}">
                      <a16:colId xmlns:a16="http://schemas.microsoft.com/office/drawing/2014/main" val="356645724"/>
                    </a:ext>
                  </a:extLst>
                </a:gridCol>
              </a:tblGrid>
              <a:tr h="205244">
                <a:tc>
                  <a:txBody>
                    <a:bodyPr/>
                    <a:lstStyle/>
                    <a:p>
                      <a:pPr algn="ctr"/>
                      <a:endParaRPr lang="en-IN" sz="8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2324315"/>
                  </a:ext>
                </a:extLst>
              </a:tr>
              <a:tr h="205244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7796"/>
                  </a:ext>
                </a:extLst>
              </a:tr>
              <a:tr h="205244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Q2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939358"/>
                  </a:ext>
                </a:extLst>
              </a:tr>
              <a:tr h="281956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Q3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29420"/>
                  </a:ext>
                </a:extLst>
              </a:tr>
              <a:tr h="281956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Q4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74321"/>
                  </a:ext>
                </a:extLst>
              </a:tr>
              <a:tr h="205244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Q5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551912"/>
                  </a:ext>
                </a:extLst>
              </a:tr>
              <a:tr h="205244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Q6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33112"/>
                  </a:ext>
                </a:extLst>
              </a:tr>
              <a:tr h="205244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Q7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242149"/>
                  </a:ext>
                </a:extLst>
              </a:tr>
              <a:tr h="205244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Q8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-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43619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8EC0E2-968F-659D-6F35-FA41F0621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284394"/>
              </p:ext>
            </p:extLst>
          </p:nvPr>
        </p:nvGraphicFramePr>
        <p:xfrm>
          <a:off x="8351520" y="4493626"/>
          <a:ext cx="2776946" cy="19444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815">
                  <a:extLst>
                    <a:ext uri="{9D8B030D-6E8A-4147-A177-3AD203B41FA5}">
                      <a16:colId xmlns:a16="http://schemas.microsoft.com/office/drawing/2014/main" val="2835415117"/>
                    </a:ext>
                  </a:extLst>
                </a:gridCol>
                <a:gridCol w="335912">
                  <a:extLst>
                    <a:ext uri="{9D8B030D-6E8A-4147-A177-3AD203B41FA5}">
                      <a16:colId xmlns:a16="http://schemas.microsoft.com/office/drawing/2014/main" val="1304507083"/>
                    </a:ext>
                  </a:extLst>
                </a:gridCol>
                <a:gridCol w="313319">
                  <a:extLst>
                    <a:ext uri="{9D8B030D-6E8A-4147-A177-3AD203B41FA5}">
                      <a16:colId xmlns:a16="http://schemas.microsoft.com/office/drawing/2014/main" val="719428449"/>
                    </a:ext>
                  </a:extLst>
                </a:gridCol>
                <a:gridCol w="319517">
                  <a:extLst>
                    <a:ext uri="{9D8B030D-6E8A-4147-A177-3AD203B41FA5}">
                      <a16:colId xmlns:a16="http://schemas.microsoft.com/office/drawing/2014/main" val="639983479"/>
                    </a:ext>
                  </a:extLst>
                </a:gridCol>
                <a:gridCol w="319517">
                  <a:extLst>
                    <a:ext uri="{9D8B030D-6E8A-4147-A177-3AD203B41FA5}">
                      <a16:colId xmlns:a16="http://schemas.microsoft.com/office/drawing/2014/main" val="825097739"/>
                    </a:ext>
                  </a:extLst>
                </a:gridCol>
                <a:gridCol w="319517">
                  <a:extLst>
                    <a:ext uri="{9D8B030D-6E8A-4147-A177-3AD203B41FA5}">
                      <a16:colId xmlns:a16="http://schemas.microsoft.com/office/drawing/2014/main" val="2936793895"/>
                    </a:ext>
                  </a:extLst>
                </a:gridCol>
                <a:gridCol w="319517">
                  <a:extLst>
                    <a:ext uri="{9D8B030D-6E8A-4147-A177-3AD203B41FA5}">
                      <a16:colId xmlns:a16="http://schemas.microsoft.com/office/drawing/2014/main" val="2026578532"/>
                    </a:ext>
                  </a:extLst>
                </a:gridCol>
                <a:gridCol w="343624">
                  <a:extLst>
                    <a:ext uri="{9D8B030D-6E8A-4147-A177-3AD203B41FA5}">
                      <a16:colId xmlns:a16="http://schemas.microsoft.com/office/drawing/2014/main" val="1784111147"/>
                    </a:ext>
                  </a:extLst>
                </a:gridCol>
                <a:gridCol w="296208">
                  <a:extLst>
                    <a:ext uri="{9D8B030D-6E8A-4147-A177-3AD203B41FA5}">
                      <a16:colId xmlns:a16="http://schemas.microsoft.com/office/drawing/2014/main" val="356645724"/>
                    </a:ext>
                  </a:extLst>
                </a:gridCol>
              </a:tblGrid>
              <a:tr h="188445">
                <a:tc>
                  <a:txBody>
                    <a:bodyPr/>
                    <a:lstStyle/>
                    <a:p>
                      <a:pPr algn="ctr"/>
                      <a:endParaRPr lang="en-IN" sz="7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2324315"/>
                  </a:ext>
                </a:extLst>
              </a:tr>
              <a:tr h="188445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7796"/>
                  </a:ext>
                </a:extLst>
              </a:tr>
              <a:tr h="188445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939358"/>
                  </a:ext>
                </a:extLst>
              </a:tr>
              <a:tr h="278791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Q3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29420"/>
                  </a:ext>
                </a:extLst>
              </a:tr>
              <a:tr h="278791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74321"/>
                  </a:ext>
                </a:extLst>
              </a:tr>
              <a:tr h="188445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Q5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551912"/>
                  </a:ext>
                </a:extLst>
              </a:tr>
              <a:tr h="188445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33112"/>
                  </a:ext>
                </a:extLst>
              </a:tr>
              <a:tr h="188445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Q7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242149"/>
                  </a:ext>
                </a:extLst>
              </a:tr>
              <a:tr h="188445"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Q8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700" dirty="0"/>
                        <a:t>-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43619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FF920A4-4BF2-6D4E-5F1E-98369F34C569}"/>
              </a:ext>
            </a:extLst>
          </p:cNvPr>
          <p:cNvSpPr txBox="1"/>
          <p:nvPr/>
        </p:nvSpPr>
        <p:spPr>
          <a:xfrm>
            <a:off x="1717040" y="6450389"/>
            <a:ext cx="1771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Solution x[1 5 8 6 3 7 2 4]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5A8F3C-14C5-4B1A-C7D6-E0451388B70C}"/>
              </a:ext>
            </a:extLst>
          </p:cNvPr>
          <p:cNvSpPr txBox="1"/>
          <p:nvPr/>
        </p:nvSpPr>
        <p:spPr>
          <a:xfrm>
            <a:off x="5496560" y="6501189"/>
            <a:ext cx="1771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Solution x[1 7 5 8 2 4 6 3]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F055D6-60C2-FB04-307E-6E3AC4DF3B77}"/>
              </a:ext>
            </a:extLst>
          </p:cNvPr>
          <p:cNvSpPr txBox="1"/>
          <p:nvPr/>
        </p:nvSpPr>
        <p:spPr>
          <a:xfrm>
            <a:off x="9032240" y="6430069"/>
            <a:ext cx="1771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Solution x[4 6 8 2 7 1 3 5]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087406-99A0-0B10-E306-7B3C063C4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520" y="696159"/>
            <a:ext cx="8625840" cy="36570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9EB6D3-A1E2-1A6F-D2FC-AB1260234A11}"/>
              </a:ext>
            </a:extLst>
          </p:cNvPr>
          <p:cNvSpPr txBox="1"/>
          <p:nvPr/>
        </p:nvSpPr>
        <p:spPr>
          <a:xfrm>
            <a:off x="425856" y="1157962"/>
            <a:ext cx="3018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+mj-lt"/>
              </a:rPr>
              <a:t>              or </a:t>
            </a:r>
          </a:p>
          <a:p>
            <a:r>
              <a:rPr lang="en-IN" b="1" dirty="0">
                <a:latin typeface="+mj-lt"/>
              </a:rPr>
              <a:t>Permutation tree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33B9087-2A95-E01E-D674-3CFFB381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9525"/>
            <a:ext cx="10515600" cy="884555"/>
          </a:xfrm>
        </p:spPr>
        <p:txBody>
          <a:bodyPr>
            <a:normAutofit/>
          </a:bodyPr>
          <a:lstStyle/>
          <a:p>
            <a:r>
              <a:rPr lang="en-IN" sz="3200" b="1" dirty="0"/>
              <a:t>Backtracking Algorithm: The 8-Queens Problem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86195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1086</Words>
  <Application>Microsoft Office PowerPoint</Application>
  <PresentationFormat>Widescreen</PresentationFormat>
  <Paragraphs>477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Google Sans</vt:lpstr>
      <vt:lpstr>Office Theme</vt:lpstr>
      <vt:lpstr>Unit-4 Backtracking, Branch &amp; Bound</vt:lpstr>
      <vt:lpstr>Syllabus</vt:lpstr>
      <vt:lpstr>Backtracking</vt:lpstr>
      <vt:lpstr>Backtracking</vt:lpstr>
      <vt:lpstr>Backtracking </vt:lpstr>
      <vt:lpstr>Backtracking helps to solve following  computer science problems</vt:lpstr>
      <vt:lpstr>Backtracking Algorithm: The 4-Queens Problem</vt:lpstr>
      <vt:lpstr>Backtracking Algorithm: The 4-Queens Problem</vt:lpstr>
      <vt:lpstr>PowerPoint Presentation</vt:lpstr>
      <vt:lpstr>Backtracking Algorithm: The 8-Queens Problem</vt:lpstr>
      <vt:lpstr>Backtracking Algorithm: The 8-Queens Problem</vt:lpstr>
      <vt:lpstr>Backtracking Algorithm: The 8-Queens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Dayanand Yadav</dc:creator>
  <cp:lastModifiedBy>Dayanand Yadav</cp:lastModifiedBy>
  <cp:revision>39</cp:revision>
  <dcterms:created xsi:type="dcterms:W3CDTF">2026-06-06T08:56:08Z</dcterms:created>
  <dcterms:modified xsi:type="dcterms:W3CDTF">2026-06-07T12:37:25Z</dcterms:modified>
</cp:coreProperties>
</file>