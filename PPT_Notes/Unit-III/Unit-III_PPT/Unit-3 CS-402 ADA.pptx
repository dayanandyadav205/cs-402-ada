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8" r:id="rId4"/>
    <p:sldId id="269" r:id="rId5"/>
    <p:sldId id="270" r:id="rId6"/>
    <p:sldId id="271" r:id="rId7"/>
    <p:sldId id="272" r:id="rId8"/>
    <p:sldId id="264" r:id="rId9"/>
    <p:sldId id="265" r:id="rId10"/>
    <p:sldId id="266" r:id="rId11"/>
    <p:sldId id="283" r:id="rId12"/>
    <p:sldId id="284" r:id="rId13"/>
    <p:sldId id="278" r:id="rId14"/>
    <p:sldId id="282" r:id="rId15"/>
    <p:sldId id="281" r:id="rId16"/>
    <p:sldId id="279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7:50:59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 0 24575,'2'2'0,"1"-1"0,-1 1 0,1 0 0,-1 0 0,0-1 0,0 2 0,0-1 0,0 0 0,0 0 0,0 1 0,0-1 0,-1 1 0,0-1 0,1 1 0,1 4 0,7 10 0,6 4 0,1-1 0,1-1 0,1-1 0,0 0 0,24 16 0,-40-33 0,0 1 0,-1 0 0,1 0 0,-1 0 0,1 0 0,-1 0 0,0 0 0,0 1 0,0-1 0,0 1 0,0 0 0,0-1 0,-1 1 0,0 0 0,1 0 0,-1 0 0,0 0 0,1 5 0,-2-6 0,-1 0 0,1 0 0,0 0 0,-1 0 0,1-1 0,-1 1 0,0 0 0,1 0 0,-1-1 0,0 1 0,0 0 0,0-1 0,-1 1 0,1-1 0,0 1 0,0-1 0,-1 1 0,1-1 0,-1 0 0,1 0 0,-1 0 0,0 0 0,1 0 0,-1 0 0,0 0 0,0-1 0,1 1 0,-1-1 0,0 1 0,0-1 0,-4 1 0,-26 8 0,24-5 0,0-1 0,-1-1 0,1 1 0,-1-1 0,0-1 0,0 0 0,0 0 0,0 0 0,1-2 0,-12 0 0,18 0 0,0 0 0,0 1 0,0-1 0,0 0 0,1-1 0,-1 1 0,0 0 0,1 0 0,-1-1 0,1 1 0,-1-1 0,1 0 0,0 1 0,0-1 0,0 0 0,0 0 0,0 1 0,0-1 0,-1-3 0,-9-44 0,4 11 0,-3 19-1365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7:00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DE3BA-9D74-45B9-B71E-83EC7AEF608A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8E0C8-AAFC-489E-A558-A480F1B3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971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8E0C8-AAFC-489E-A558-A480F1B395E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620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66CF-7C2A-D38D-58AA-E6C7DC31E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9DB77-3442-6AF5-02B3-4746B88ED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08625-02E5-376B-DE84-96000274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EC827-30F9-43AE-BB00-9AB307A7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D247-8D16-9DAB-C846-69673441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76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A00EC-2CD8-D4D3-1595-A0B72EDD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4F4C8-79D6-3419-0CAE-11600042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3A7F7-22ED-DDF5-413A-A9861B29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48010-6E96-B52F-0F84-C8AEEBAE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30EE2-123E-5E38-B78A-088529AD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91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C7D2D-05EA-158C-BD4B-24871566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C93D8-8676-C064-BDE9-6C074E76B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1348A-5408-B8D6-BFEC-816AE36C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D94AE-D562-A570-EE65-744E7036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66945-7E97-5B5E-02A2-E3973804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20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4A5C-B979-CBDA-C5CF-AA0054C1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33058-83C7-61DD-E6E0-E644316BB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796F2-5A03-CC9D-122E-D679C5D4B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2CDE4-625A-6B37-FF26-8C950760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B6DAC-8A75-02F2-F07F-2F9E23C1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44DB0-CD85-A616-4F1C-6B91164D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6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6983-B56C-EC2F-76BB-AE7C4CBDE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5C8F2-FCEB-D8CD-D02A-C02A98E1B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82E80-602B-F126-14D8-D91C4632F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96120-D411-E118-8395-B6B79F431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DC944-CBA1-6BF8-96C0-3A33AAFF8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E59F5-52F1-F779-109D-991F3022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7ADE7-6826-5146-5B9F-3F7EC09A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F7B55-BCFF-9A21-C87F-D9C60646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23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2BD5-712B-18C3-6F79-EB3F96FB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70FB2-9AE3-3DD5-59F4-B0F7F0EF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2FF01-CD92-F7CD-C262-2BE68883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10928-73D5-38E5-24B4-30E96BE9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4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0EF0F-B315-F5E5-D1BD-123EAA93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7552D-DC18-0DCE-83DE-D90354C8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C0C26-76E6-E06F-001B-E53F26A0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85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AEFA-9507-D447-6315-8FBFEFA6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75FC-CD8E-CA93-1D4A-BE6D80D89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1ACAF-F1E4-BC80-2792-FDFA84CB0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59FF3-2D80-1055-1D84-F7A6B813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1DD1D-394C-93D6-F1E4-1DD49D98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9C6DC-9B8B-F824-41A4-9AFA20D7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87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1A12-BAEC-66D6-AE11-5B7AD3AD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90AB0-C078-B061-6E31-6CEF095DC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94278-E100-A8F4-05CE-ED90779D5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CD1FA-2A4C-8182-97B1-127534B9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4270C-93BF-93A2-A2DF-149FD31A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E5865-7C35-4B3B-265F-9C14268B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0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E8F8-BFFC-FA88-2434-F3696834A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7DC98-1E76-5303-1272-BAE911578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50C3E-D303-78BD-C747-480C6F00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8FDEA-0B88-4FC2-A7E5-BE664C7A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57930-F940-53ED-F9A4-1C96A31D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27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10C32-8162-9029-0DCD-A66F72C6E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7F7EF-367E-F390-43C1-15A9C0390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C2D-0030-2E1F-C60F-EF70980A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A956D-31EE-C73E-4031-4F9F58BA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986AF-D4B0-2263-CD83-47DB5E9B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76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99492F-FD6D-4AFF-53C5-5A61B265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6A8C8-72D6-939F-4A2F-1FE6D1FA4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40457-1D40-4FE3-22FD-2204CA22E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2AB3-0CE6-4E9B-A8FC-54804C933B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6495D-13F9-15FB-5491-3202D46D1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93DB1-C9B8-0CD1-2B7B-10DA00D45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62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B9CDB-5D59-2BD6-0371-BCFB0F25F2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Nunito" pitchFamily="2" charset="0"/>
              </a:rPr>
              <a:t>Unit-III</a:t>
            </a:r>
            <a:br>
              <a:rPr lang="en-IN" b="1" dirty="0">
                <a:latin typeface="Nunito" pitchFamily="2" charset="0"/>
              </a:rPr>
            </a:br>
            <a:r>
              <a:rPr lang="en-IN" b="1" dirty="0">
                <a:latin typeface="Nunito" pitchFamily="2" charset="0"/>
              </a:rPr>
              <a:t>Dynamic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F2875-15D5-44CF-027A-B6CF30B73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8918"/>
            <a:ext cx="9144000" cy="16557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FF0000"/>
                </a:solidFill>
                <a:latin typeface="Nunito" pitchFamily="2" charset="0"/>
              </a:rPr>
              <a:t>CS-402 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FF0000"/>
                </a:solidFill>
                <a:latin typeface="Nunito" pitchFamily="2" charset="0"/>
              </a:rPr>
              <a:t>Analysis Design of Algorithm </a:t>
            </a:r>
            <a:endParaRPr lang="en-IN" sz="4000" b="1" dirty="0">
              <a:solidFill>
                <a:srgbClr val="FF0000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900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1F63-5067-859B-2136-B20A0892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Nunito" pitchFamily="2" charset="0"/>
              </a:rPr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BFFD5-89AD-219B-E227-0397F9D6C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640" y="1825625"/>
            <a:ext cx="987552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>
                <a:latin typeface="Nunito" pitchFamily="2" charset="0"/>
              </a:rPr>
              <a:t>Concept of dynamic programming, problems based on this approach such as 0/1 knapsack, multistage graph, reliability design, Floyd-</a:t>
            </a:r>
            <a:r>
              <a:rPr lang="en-US" sz="3200" dirty="0" err="1">
                <a:latin typeface="Nunito" pitchFamily="2" charset="0"/>
              </a:rPr>
              <a:t>Warshall</a:t>
            </a:r>
            <a:r>
              <a:rPr lang="en-US" sz="3200" dirty="0">
                <a:latin typeface="Nunito" pitchFamily="2" charset="0"/>
              </a:rPr>
              <a:t> algorithm</a:t>
            </a:r>
            <a:endParaRPr lang="en-IN" sz="3200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38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AFA9-DC4E-485A-0A71-210092F1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7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Nunito" pitchFamily="2" charset="0"/>
              </a:rPr>
              <a:t>Dynamic Programming (DP)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0F6BE-D990-60BA-0B88-EAEAD809A78D}"/>
              </a:ext>
            </a:extLst>
          </p:cNvPr>
          <p:cNvSpPr txBox="1"/>
          <p:nvPr/>
        </p:nvSpPr>
        <p:spPr>
          <a:xfrm>
            <a:off x="1066800" y="1098957"/>
            <a:ext cx="988568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i="0" dirty="0">
                <a:solidFill>
                  <a:srgbClr val="0070C0"/>
                </a:solidFill>
                <a:effectLst/>
                <a:latin typeface="Nunito" pitchFamily="2" charset="0"/>
              </a:rPr>
              <a:t>Dynamic Programming (DP)</a:t>
            </a:r>
            <a:r>
              <a:rPr lang="en-US" sz="2400" dirty="0">
                <a:solidFill>
                  <a:srgbClr val="0070C0"/>
                </a:solidFill>
                <a:latin typeface="Nunito" pitchFamily="2" charset="0"/>
              </a:rPr>
              <a:t> used to solve optimization problem.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Nunito" pitchFamily="2" charset="0"/>
              </a:rPr>
              <a:t>B</a:t>
            </a:r>
            <a:r>
              <a:rPr lang="en-US" sz="2400" b="0" i="0" dirty="0">
                <a:effectLst/>
                <a:latin typeface="Nunito" pitchFamily="2" charset="0"/>
              </a:rPr>
              <a:t>reaks</a:t>
            </a:r>
            <a:r>
              <a:rPr lang="en-US" sz="2400" dirty="0">
                <a:latin typeface="Nunito" pitchFamily="2" charset="0"/>
              </a:rPr>
              <a:t> down the complex problem into </a:t>
            </a:r>
            <a:r>
              <a:rPr lang="en-US" sz="2400" b="0" i="0" dirty="0">
                <a:effectLst/>
                <a:latin typeface="Nunito" pitchFamily="2" charset="0"/>
              </a:rPr>
              <a:t>smaller subproblems.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Nunito" pitchFamily="2" charset="0"/>
              </a:rPr>
              <a:t>Finds optimal solution to these subproblems.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Nunito" pitchFamily="2" charset="0"/>
              </a:rPr>
              <a:t>S</a:t>
            </a:r>
            <a:r>
              <a:rPr lang="en-US" sz="2400" b="0" i="0" dirty="0">
                <a:effectLst/>
                <a:latin typeface="Nunito" pitchFamily="2" charset="0"/>
              </a:rPr>
              <a:t>tore the results </a:t>
            </a:r>
            <a:r>
              <a:rPr lang="en-US" sz="2400" dirty="0">
                <a:latin typeface="Nunito" pitchFamily="2" charset="0"/>
              </a:rPr>
              <a:t>of subproblem </a:t>
            </a:r>
          </a:p>
          <a:p>
            <a:pPr marL="97313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Nunito" pitchFamily="2" charset="0"/>
              </a:rPr>
              <a:t>Memorization: </a:t>
            </a:r>
            <a:r>
              <a:rPr lang="en-US" sz="2400" b="0" i="0" dirty="0">
                <a:effectLst/>
                <a:latin typeface="Nunito" pitchFamily="2" charset="0"/>
              </a:rPr>
              <a:t>Top-down approach</a:t>
            </a:r>
            <a:r>
              <a:rPr lang="en-US" sz="2400" dirty="0">
                <a:latin typeface="Nunito" pitchFamily="2" charset="0"/>
              </a:rPr>
              <a:t> (Recursive)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Nunito" pitchFamily="2" charset="0"/>
              </a:rPr>
              <a:t> </a:t>
            </a:r>
          </a:p>
          <a:p>
            <a:pPr marL="97313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Nunito" pitchFamily="2" charset="0"/>
              </a:rPr>
              <a:t>Tabulation: </a:t>
            </a:r>
            <a:r>
              <a:rPr lang="en-US" sz="2400" b="0" i="0" dirty="0">
                <a:effectLst/>
                <a:latin typeface="Nunito" pitchFamily="2" charset="0"/>
              </a:rPr>
              <a:t>Bottom-up approach</a:t>
            </a:r>
            <a:r>
              <a:rPr lang="en-US" sz="2400" dirty="0">
                <a:latin typeface="Nunito" pitchFamily="2" charset="0"/>
              </a:rPr>
              <a:t> (Iterative)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dirty="0">
                <a:latin typeface="Nunito" pitchFamily="2" charset="0"/>
              </a:rPr>
              <a:t>Reuse the stored result to avoid re-computation.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dirty="0">
                <a:latin typeface="Nunito" pitchFamily="2" charset="0"/>
              </a:rPr>
              <a:t>Finally calculate the result of complex problem.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Nunito" pitchFamily="2" charset="0"/>
              </a:rPr>
              <a:t>Applicable to problems which are having properties of: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Nunito" pitchFamily="2" charset="0"/>
              </a:rPr>
              <a:t>	(</a:t>
            </a:r>
            <a:r>
              <a:rPr lang="en-US" sz="2400" dirty="0" err="1">
                <a:solidFill>
                  <a:srgbClr val="FF0000"/>
                </a:solidFill>
                <a:latin typeface="Nunito" pitchFamily="2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Nunito" pitchFamily="2" charset="0"/>
              </a:rPr>
              <a:t>) Overlapping subproblems and  (ii) Optimal substructure</a:t>
            </a:r>
          </a:p>
        </p:txBody>
      </p:sp>
    </p:spTree>
    <p:extLst>
      <p:ext uri="{BB962C8B-B14F-4D97-AF65-F5344CB8AC3E}">
        <p14:creationId xmlns:p14="http://schemas.microsoft.com/office/powerpoint/2010/main" val="256509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9153F-10EA-E42B-C07A-1354FCF07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760" y="333528"/>
            <a:ext cx="8677964" cy="61383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CDBA29-C337-21A5-80C0-2D2B95922B98}"/>
              </a:ext>
            </a:extLst>
          </p:cNvPr>
          <p:cNvSpPr txBox="1"/>
          <p:nvPr/>
        </p:nvSpPr>
        <p:spPr>
          <a:xfrm>
            <a:off x="1971040" y="470654"/>
            <a:ext cx="257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Nunito" pitchFamily="2" charset="0"/>
              </a:rPr>
              <a:t>Memorization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45216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32FB6A-9067-53C6-4F21-FB721EE6D984}"/>
                  </a:ext>
                </a:extLst>
              </p14:cNvPr>
              <p14:cNvContentPartPr/>
              <p14:nvPr/>
            </p14:nvContentPartPr>
            <p14:xfrm>
              <a:off x="9927080" y="4917160"/>
              <a:ext cx="86040" cy="11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32FB6A-9067-53C6-4F21-FB721EE6D9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64080" y="4854160"/>
                <a:ext cx="21168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9DAA660-6731-34BA-38DA-72BC7B727B93}"/>
              </a:ext>
            </a:extLst>
          </p:cNvPr>
          <p:cNvGrpSpPr/>
          <p:nvPr/>
        </p:nvGrpSpPr>
        <p:grpSpPr>
          <a:xfrm>
            <a:off x="3717973" y="162561"/>
            <a:ext cx="4800188" cy="6475721"/>
            <a:chOff x="3717973" y="162561"/>
            <a:chExt cx="4800188" cy="64757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0320179-F76E-ACD3-7723-933A37112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973" y="3190240"/>
              <a:ext cx="4800188" cy="344804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458CAA3-A609-9820-2B67-6CB1FF6C9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973" y="162561"/>
              <a:ext cx="4800188" cy="3098799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EDBA857-29E8-55F0-017F-9866CE0C4B26}"/>
              </a:ext>
            </a:extLst>
          </p:cNvPr>
          <p:cNvSpPr txBox="1"/>
          <p:nvPr/>
        </p:nvSpPr>
        <p:spPr>
          <a:xfrm>
            <a:off x="883920" y="226814"/>
            <a:ext cx="2651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Nunito" pitchFamily="2" charset="0"/>
              </a:rPr>
              <a:t>Without Memorization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57292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A98948-19F0-3186-BBC6-2898E545BA3C}"/>
              </a:ext>
            </a:extLst>
          </p:cNvPr>
          <p:cNvGrpSpPr/>
          <p:nvPr/>
        </p:nvGrpSpPr>
        <p:grpSpPr>
          <a:xfrm>
            <a:off x="4165601" y="60960"/>
            <a:ext cx="3288326" cy="6766560"/>
            <a:chOff x="4326961" y="436880"/>
            <a:chExt cx="3126965" cy="63296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837334-DA47-636F-558B-129E2DEE5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6961" y="4500894"/>
              <a:ext cx="3126962" cy="226566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4B3EE8-41C2-BA83-4BAB-E06F3257A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6962" y="2444292"/>
              <a:ext cx="3126964" cy="208632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26B9199-4B1C-A90A-437B-5041E0816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00"/>
            <a:stretch>
              <a:fillRect/>
            </a:stretch>
          </p:blipFill>
          <p:spPr>
            <a:xfrm>
              <a:off x="4326961" y="436880"/>
              <a:ext cx="3126963" cy="205232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321199-CFB5-56E4-78C3-1CEB05B58471}"/>
              </a:ext>
            </a:extLst>
          </p:cNvPr>
          <p:cNvSpPr txBox="1"/>
          <p:nvPr/>
        </p:nvSpPr>
        <p:spPr>
          <a:xfrm>
            <a:off x="518160" y="226814"/>
            <a:ext cx="353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Nunito" pitchFamily="2" charset="0"/>
              </a:rPr>
              <a:t>With Memorization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9299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B2F72-0D00-2A4D-873D-A4140E3A1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40" y="159420"/>
            <a:ext cx="8526948" cy="5906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059FF3-7D1D-982F-5839-5A48A9219CD4}"/>
              </a:ext>
            </a:extLst>
          </p:cNvPr>
          <p:cNvSpPr txBox="1"/>
          <p:nvPr/>
        </p:nvSpPr>
        <p:spPr>
          <a:xfrm>
            <a:off x="2519680" y="287774"/>
            <a:ext cx="204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Nunito" pitchFamily="2" charset="0"/>
              </a:rPr>
              <a:t>Tabul</a:t>
            </a:r>
            <a:r>
              <a:rPr lang="en-US" sz="2800" b="1" i="0" dirty="0">
                <a:effectLst/>
                <a:latin typeface="Nunito" pitchFamily="2" charset="0"/>
              </a:rPr>
              <a:t>ation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38113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CB9B-C3DC-A762-D4CD-0D050A1E3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365125"/>
            <a:ext cx="1154176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Nunito" pitchFamily="2" charset="0"/>
              </a:rPr>
              <a:t>Problems based on Dynamic Programming Approach</a:t>
            </a:r>
            <a:endParaRPr lang="en-IN" sz="3600" b="1" dirty="0"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34CC-41A0-82F1-AB20-6C039F5A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880" y="1825625"/>
            <a:ext cx="930656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Nunito" pitchFamily="2" charset="0"/>
              </a:rPr>
              <a:t>0/1 knapsack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Nunito" pitchFamily="2" charset="0"/>
              </a:rPr>
              <a:t>Multistage graph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Nunito" pitchFamily="2" charset="0"/>
              </a:rPr>
              <a:t>Reliability design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Nunito" pitchFamily="2" charset="0"/>
              </a:rPr>
              <a:t>Floyd-</a:t>
            </a:r>
            <a:r>
              <a:rPr lang="en-IN" dirty="0" err="1">
                <a:latin typeface="Nunito" pitchFamily="2" charset="0"/>
              </a:rPr>
              <a:t>Warshall</a:t>
            </a:r>
            <a:r>
              <a:rPr lang="en-IN" dirty="0">
                <a:latin typeface="Nunito" pitchFamily="2" charset="0"/>
              </a:rPr>
              <a:t> algorithm</a:t>
            </a:r>
            <a:endParaRPr lang="en-US" dirty="0">
              <a:latin typeface="Nunito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AD0CFE-AE95-CC7A-6261-85C41C7FE7A1}"/>
                  </a:ext>
                </a:extLst>
              </p14:cNvPr>
              <p14:cNvContentPartPr/>
              <p14:nvPr/>
            </p14:nvContentPartPr>
            <p14:xfrm>
              <a:off x="3139280" y="339292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AD0CFE-AE95-CC7A-6261-85C41C7FE7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6640" y="333028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423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FA75-5495-4FF1-EC30-557BF528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Nunito" pitchFamily="2" charset="0"/>
              </a:rPr>
              <a:t>0/1 Knapsack Problem</a:t>
            </a:r>
            <a:endParaRPr lang="en-IN" dirty="0"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EC11F-09F3-F3CB-33FB-22523CA5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Nunito" pitchFamily="2" charset="0"/>
              </a:rPr>
              <a:t>The </a:t>
            </a:r>
            <a:r>
              <a:rPr lang="en-US" b="1" dirty="0">
                <a:latin typeface="Nunito" pitchFamily="2" charset="0"/>
              </a:rPr>
              <a:t>0/1 Knapsack Problem</a:t>
            </a:r>
            <a:r>
              <a:rPr lang="en-US" dirty="0">
                <a:latin typeface="Nunito" pitchFamily="2" charset="0"/>
              </a:rPr>
              <a:t> is a classic optimization problem in computer science where you must select a subset of indivisible items to </a:t>
            </a:r>
            <a:r>
              <a:rPr lang="en-US" b="1" dirty="0">
                <a:latin typeface="Nunito" pitchFamily="2" charset="0"/>
              </a:rPr>
              <a:t>maximize total value without exceeding a maximum weight capacity</a:t>
            </a:r>
            <a:r>
              <a:rPr lang="en-US" dirty="0">
                <a:latin typeface="Nunito" pitchFamily="2" charset="0"/>
              </a:rPr>
              <a:t>. The name "0/1" comes from the rule that you cannot take a fraction of an item; you must either leave it (0) or take it entirely (1). </a:t>
            </a:r>
            <a:endParaRPr lang="en-IN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53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CBC2-59C8-C0D4-51D9-96C55AE6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F8F3D64-08BD-6A7E-35BA-EF912BD89530}"/>
              </a:ext>
            </a:extLst>
          </p:cNvPr>
          <p:cNvGrpSpPr/>
          <p:nvPr/>
        </p:nvGrpSpPr>
        <p:grpSpPr>
          <a:xfrm>
            <a:off x="1523999" y="843730"/>
            <a:ext cx="9245601" cy="5638350"/>
            <a:chOff x="2225039" y="467810"/>
            <a:chExt cx="8077201" cy="486619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52EA050-9503-54E4-1CD0-60133B3DC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8" r="1182" b="63607"/>
            <a:stretch>
              <a:fillRect/>
            </a:stretch>
          </p:blipFill>
          <p:spPr>
            <a:xfrm>
              <a:off x="2235199" y="467810"/>
              <a:ext cx="8056881" cy="202139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15F718C-857E-503B-9F41-039716398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52" b="25065"/>
            <a:stretch>
              <a:fillRect/>
            </a:stretch>
          </p:blipFill>
          <p:spPr>
            <a:xfrm>
              <a:off x="2225039" y="2479039"/>
              <a:ext cx="8077201" cy="285496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575D7C2-827F-B0F2-1FE1-3D1E13A70CD6}"/>
              </a:ext>
            </a:extLst>
          </p:cNvPr>
          <p:cNvSpPr txBox="1"/>
          <p:nvPr/>
        </p:nvSpPr>
        <p:spPr>
          <a:xfrm>
            <a:off x="4450080" y="182880"/>
            <a:ext cx="27398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Nunito" pitchFamily="2" charset="0"/>
              </a:rPr>
              <a:t>0/1 Knapsack</a:t>
            </a:r>
          </a:p>
        </p:txBody>
      </p:sp>
    </p:spTree>
    <p:extLst>
      <p:ext uri="{BB962C8B-B14F-4D97-AF65-F5344CB8AC3E}">
        <p14:creationId xmlns:p14="http://schemas.microsoft.com/office/powerpoint/2010/main" val="388348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010D-FB8A-9D3E-DB1D-2D48428F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043D982-489A-D075-872A-08ECE7659410}"/>
              </a:ext>
            </a:extLst>
          </p:cNvPr>
          <p:cNvGrpSpPr/>
          <p:nvPr/>
        </p:nvGrpSpPr>
        <p:grpSpPr>
          <a:xfrm>
            <a:off x="2468876" y="767654"/>
            <a:ext cx="7406347" cy="5853841"/>
            <a:chOff x="2397760" y="189926"/>
            <a:chExt cx="7802588" cy="64315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5CC313-9F3F-B366-0025-3B96282A5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612"/>
            <a:stretch>
              <a:fillRect/>
            </a:stretch>
          </p:blipFill>
          <p:spPr>
            <a:xfrm>
              <a:off x="2397760" y="3569276"/>
              <a:ext cx="7802584" cy="305222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872D75D-D34D-E0FF-2149-6A82E1421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775"/>
            <a:stretch>
              <a:fillRect/>
            </a:stretch>
          </p:blipFill>
          <p:spPr>
            <a:xfrm>
              <a:off x="2397764" y="189926"/>
              <a:ext cx="7802584" cy="337935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E2ADB15-BFEC-0815-70E0-4F1EC109E9F3}"/>
              </a:ext>
            </a:extLst>
          </p:cNvPr>
          <p:cNvSpPr txBox="1"/>
          <p:nvPr/>
        </p:nvSpPr>
        <p:spPr>
          <a:xfrm>
            <a:off x="4450080" y="182880"/>
            <a:ext cx="27398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Nunito" pitchFamily="2" charset="0"/>
              </a:rPr>
              <a:t>0/1 Knapsack</a:t>
            </a:r>
          </a:p>
        </p:txBody>
      </p:sp>
    </p:spTree>
    <p:extLst>
      <p:ext uri="{BB962C8B-B14F-4D97-AF65-F5344CB8AC3E}">
        <p14:creationId xmlns:p14="http://schemas.microsoft.com/office/powerpoint/2010/main" val="349962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5279BBB-0DA1-3998-9681-BCC251A9C223}"/>
              </a:ext>
            </a:extLst>
          </p:cNvPr>
          <p:cNvGrpSpPr/>
          <p:nvPr/>
        </p:nvGrpSpPr>
        <p:grpSpPr>
          <a:xfrm>
            <a:off x="2915920" y="985520"/>
            <a:ext cx="6814384" cy="5516880"/>
            <a:chOff x="2919110" y="346074"/>
            <a:chExt cx="7623993" cy="607504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2441CA-0128-621A-3081-2FBE78B76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7" t="74291" r="38808" b="6632"/>
            <a:stretch>
              <a:fillRect/>
            </a:stretch>
          </p:blipFill>
          <p:spPr>
            <a:xfrm>
              <a:off x="2919111" y="346074"/>
              <a:ext cx="7623991" cy="10962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2AEF69-1051-2A6C-BABB-F1489FDEB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9110" y="1412240"/>
              <a:ext cx="7623993" cy="50088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C051E7B-3CC3-3405-B8BA-5B791F974263}"/>
              </a:ext>
            </a:extLst>
          </p:cNvPr>
          <p:cNvSpPr txBox="1"/>
          <p:nvPr/>
        </p:nvSpPr>
        <p:spPr>
          <a:xfrm>
            <a:off x="4450080" y="254000"/>
            <a:ext cx="27398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Nunito" pitchFamily="2" charset="0"/>
              </a:rPr>
              <a:t>0/1 Knapsack</a:t>
            </a:r>
          </a:p>
        </p:txBody>
      </p:sp>
    </p:spTree>
    <p:extLst>
      <p:ext uri="{BB962C8B-B14F-4D97-AF65-F5344CB8AC3E}">
        <p14:creationId xmlns:p14="http://schemas.microsoft.com/office/powerpoint/2010/main" val="1604612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617A72-A01A-AA59-4468-6C1D0F295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0" b="3132"/>
          <a:stretch>
            <a:fillRect/>
          </a:stretch>
        </p:blipFill>
        <p:spPr>
          <a:xfrm>
            <a:off x="2225040" y="995681"/>
            <a:ext cx="7902080" cy="54660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D3CF9-473E-E9A3-F0E1-4264B6392CF1}"/>
              </a:ext>
            </a:extLst>
          </p:cNvPr>
          <p:cNvSpPr txBox="1"/>
          <p:nvPr/>
        </p:nvSpPr>
        <p:spPr>
          <a:xfrm>
            <a:off x="3048000" y="8343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</p:spTree>
    <p:extLst>
      <p:ext uri="{BB962C8B-B14F-4D97-AF65-F5344CB8AC3E}">
        <p14:creationId xmlns:p14="http://schemas.microsoft.com/office/powerpoint/2010/main" val="715805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6935-844D-D5A0-CA3C-D985AE2B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7DD04C-4EBB-53CF-2C88-BCF16048F537}"/>
              </a:ext>
            </a:extLst>
          </p:cNvPr>
          <p:cNvSpPr txBox="1"/>
          <p:nvPr/>
        </p:nvSpPr>
        <p:spPr>
          <a:xfrm>
            <a:off x="3048000" y="8343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FB355A-5104-A09F-E2FD-4AE75F2AD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" r="4159" b="1217"/>
          <a:stretch>
            <a:fillRect/>
          </a:stretch>
        </p:blipFill>
        <p:spPr>
          <a:xfrm>
            <a:off x="2021840" y="909830"/>
            <a:ext cx="7843520" cy="586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29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FF88-A238-83E8-3766-C5D148AC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D2CA28-422B-D162-A4EC-24AA67D0E5C1}"/>
              </a:ext>
            </a:extLst>
          </p:cNvPr>
          <p:cNvSpPr txBox="1"/>
          <p:nvPr/>
        </p:nvSpPr>
        <p:spPr>
          <a:xfrm>
            <a:off x="3048000" y="8343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7D60D-4BE8-C7EC-3FA3-CA8F97745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"/>
          <a:stretch>
            <a:fillRect/>
          </a:stretch>
        </p:blipFill>
        <p:spPr>
          <a:xfrm>
            <a:off x="2062479" y="883103"/>
            <a:ext cx="8294817" cy="590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18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71E1F9-BDEE-8FC3-BC64-B61259A7B1AB}"/>
              </a:ext>
            </a:extLst>
          </p:cNvPr>
          <p:cNvSpPr txBox="1"/>
          <p:nvPr/>
        </p:nvSpPr>
        <p:spPr>
          <a:xfrm>
            <a:off x="3048000" y="8343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D1B21-C0E6-2648-7AB0-ACF2987F7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840" y="889494"/>
            <a:ext cx="8286432" cy="59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21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A84B-D5F6-E92B-FC0C-AFFE89B1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672187-DD3A-9FC8-7219-2FEEB57E26B0}"/>
              </a:ext>
            </a:extLst>
          </p:cNvPr>
          <p:cNvSpPr txBox="1"/>
          <p:nvPr/>
        </p:nvSpPr>
        <p:spPr>
          <a:xfrm>
            <a:off x="3048000" y="8343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3BFC5-1A20-7DDF-1278-80641039A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"/>
          <a:stretch>
            <a:fillRect/>
          </a:stretch>
        </p:blipFill>
        <p:spPr>
          <a:xfrm>
            <a:off x="3901440" y="880081"/>
            <a:ext cx="8111034" cy="5786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F3B62D-12E4-E03F-D737-CB0CA5E31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61" t="64296" r="27669" b="5037"/>
          <a:stretch>
            <a:fillRect/>
          </a:stretch>
        </p:blipFill>
        <p:spPr>
          <a:xfrm>
            <a:off x="179526" y="880081"/>
            <a:ext cx="3672525" cy="191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76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227</Words>
  <Application>Microsoft Office PowerPoint</Application>
  <PresentationFormat>Widescreen</PresentationFormat>
  <Paragraphs>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Nunito</vt:lpstr>
      <vt:lpstr>Office Theme</vt:lpstr>
      <vt:lpstr>Unit-III Dynamic Programming</vt:lpstr>
      <vt:lpstr>Syllabus</vt:lpstr>
      <vt:lpstr>Dynamic Programming (DP)</vt:lpstr>
      <vt:lpstr>PowerPoint Presentation</vt:lpstr>
      <vt:lpstr>PowerPoint Presentation</vt:lpstr>
      <vt:lpstr>PowerPoint Presentation</vt:lpstr>
      <vt:lpstr>PowerPoint Presentation</vt:lpstr>
      <vt:lpstr>Problems based on Dynamic Programming Approach</vt:lpstr>
      <vt:lpstr>0/1 Knapsack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Dayanand Yadav</dc:creator>
  <cp:lastModifiedBy>Dayanand Yadav</cp:lastModifiedBy>
  <cp:revision>58</cp:revision>
  <dcterms:created xsi:type="dcterms:W3CDTF">2026-05-13T15:58:59Z</dcterms:created>
  <dcterms:modified xsi:type="dcterms:W3CDTF">2026-05-27T13:31:28Z</dcterms:modified>
</cp:coreProperties>
</file>