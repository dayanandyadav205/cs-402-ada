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8" r:id="rId3"/>
    <p:sldId id="258" r:id="rId4"/>
    <p:sldId id="269" r:id="rId5"/>
    <p:sldId id="270" r:id="rId6"/>
    <p:sldId id="271" r:id="rId7"/>
    <p:sldId id="272" r:id="rId8"/>
    <p:sldId id="264" r:id="rId9"/>
    <p:sldId id="265" r:id="rId10"/>
    <p:sldId id="266" r:id="rId11"/>
    <p:sldId id="283" r:id="rId12"/>
    <p:sldId id="284" r:id="rId13"/>
    <p:sldId id="285" r:id="rId14"/>
    <p:sldId id="278" r:id="rId15"/>
    <p:sldId id="282" r:id="rId16"/>
    <p:sldId id="281" r:id="rId17"/>
    <p:sldId id="279" r:id="rId18"/>
    <p:sldId id="280" r:id="rId19"/>
    <p:sldId id="286" r:id="rId20"/>
    <p:sldId id="288" r:id="rId21"/>
    <p:sldId id="294" r:id="rId22"/>
    <p:sldId id="293" r:id="rId23"/>
    <p:sldId id="292" r:id="rId24"/>
    <p:sldId id="291" r:id="rId25"/>
    <p:sldId id="290" r:id="rId26"/>
    <p:sldId id="289" r:id="rId27"/>
    <p:sldId id="295" r:id="rId28"/>
    <p:sldId id="296" r:id="rId29"/>
    <p:sldId id="298" r:id="rId30"/>
    <p:sldId id="303" r:id="rId31"/>
    <p:sldId id="302" r:id="rId32"/>
    <p:sldId id="299" r:id="rId33"/>
    <p:sldId id="301" r:id="rId34"/>
    <p:sldId id="300" r:id="rId35"/>
    <p:sldId id="305" r:id="rId36"/>
    <p:sldId id="306" r:id="rId37"/>
    <p:sldId id="308" r:id="rId38"/>
    <p:sldId id="307" r:id="rId39"/>
    <p:sldId id="30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7:50:59.8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 0 24575,'2'2'0,"1"-1"0,-1 1 0,1 0 0,-1 0 0,0-1 0,0 2 0,0-1 0,0 0 0,0 0 0,0 1 0,0-1 0,-1 1 0,0-1 0,1 1 0,1 4 0,7 10 0,6 4 0,1-1 0,1-1 0,1-1 0,0 0 0,24 16 0,-40-33 0,0 1 0,-1 0 0,1 0 0,-1 0 0,1 0 0,-1 0 0,0 0 0,0 1 0,0-1 0,0 1 0,0 0 0,0-1 0,-1 1 0,0 0 0,1 0 0,-1 0 0,0 0 0,1 5 0,-2-6 0,-1 0 0,1 0 0,0 0 0,-1 0 0,1-1 0,-1 1 0,0 0 0,1 0 0,-1-1 0,0 1 0,0 0 0,0-1 0,-1 1 0,1-1 0,0 1 0,0-1 0,-1 1 0,1-1 0,-1 0 0,1 0 0,-1 0 0,0 0 0,1 0 0,-1 0 0,0 0 0,0-1 0,1 1 0,-1-1 0,0 1 0,0-1 0,-4 1 0,-26 8 0,24-5 0,0-1 0,-1-1 0,1 1 0,-1-1 0,0-1 0,0 0 0,0 0 0,0 0 0,1-2 0,-12 0 0,18 0 0,0 0 0,0 1 0,0-1 0,0 0 0,1-1 0,-1 1 0,0 0 0,1 0 0,-1-1 0,1 1 0,-1-1 0,1 0 0,0 1 0,0-1 0,0 0 0,0 0 0,0 1 0,0-1 0,-1-3 0,-9-44 0,4 11 0,-3 19-1365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4T09:07:00.0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8T04:22:44.929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95,'82'47,"-67"-35,1-2,1 0,0-2,1 0,-1 0,1-1,0-2,1 1,22 2,19-5,0-3,68-7,-109 3,2-1,-1 0,-1-2,0-1,34-17,11-4,-42 19,4 1,-2 1,1 1,31-4,-34 7,0-2,0 0,23-11,31-9,19-3,-72 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8T04:22:47.451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0 131,'678'0,"-658"1,0 2,-1 0,1 1,-2 1,29 12,-26-11,0 1,0 0,0-3,28 4,154-6,90 8,264 36,-43-5,32 16,-454-42,-68-9,0-2,1 0,-1-2,48-1,-71-1,0 0,1 0,-1 0,0 0,1 0,0-1,-1 1,1 0,-1-1,0 1,0-1,1 0,-1 1,0-2,1 1,-1 0,0 0,0 1,0-1,0 0,0-1,0 1,0-1,1-1,-2 1,0 0,2-1,-2 1,0 0,0 0,-2 1,2-2,0 1,-1 0,1 0,-1 0,1 0,-1 0,0 0,-1-2,-6-8,1 1,-1 0,-1 1,-13-13,6 7,-1 2,-2 0,1 1,-1 2,-2 0,-27-13,-128-38,12 22,42 11,73 19,-1 2,1 3,-2 0,1 4,-69 8,-14 13,73-9,-63 18,101-23,-37 16,40-15,-1 0,-26 6,-48 5,-130 45,44-6,71-24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4:25:36.247"/>
    </inkml:context>
    <inkml:brush xml:id="br0">
      <inkml:brushProperty name="width" value="0.35" units="cm"/>
      <inkml:brushProperty name="height" value="0.35" units="cm"/>
      <inkml:brushProperty name="color" value="#C6C3DE"/>
    </inkml:brush>
  </inkml:definitions>
  <inkml:trace contextRef="#ctx0" brushRef="#br0">0 509 24575,'7'-1'0,"-1"0"0,0-1 0,0 0 0,0 0 0,0 0 0,0-1 0,-1 0 0,8-5 0,14-5 0,25-5 0,63-13 0,-29 9 0,-40 13 0,1 2 0,0 2 0,1 1 0,86 8 0,-26-1 0,970-3 0,-1048 1 0,1 2 0,35 9 0,-33-6 0,53 3 0,93-10 0,73 2 0,-197 8 0,-41-7 0,0 0 0,0 1 0,0-2 0,29-2 0,123-12 0,-80 8 0,29-10 0,-67 8 0,61-1 0,-80 8 0,53-4 0,-76 3 0,1 1 0,-1-2 0,2 1 0,-2-1 0,1 0 0,-1-1 0,0 0 0,0 0 0,9-5 0,-15 8 0,1-1 0,-1 1 0,1 0 0,-1 0 0,0 0 0,1-1 0,-1 1 0,1 0 0,-1-1 0,1 1 0,-1 0 0,0-2 0,1 2 0,-1-1 0,0 1 0,0-1 0,1 1 0,-1-1 0,0 1 0,0 0 0,1-1 0,-1 1 0,0-1 0,0 0 0,0 1 0,0-1 0,0 1 0,0-1 0,0 1 0,0-2 0,0 2 0,0-1 0,0 0 0,-17-9 0,-29 3 0,29 6 0,0 0 0,1-1 0,-24-7 0,35 8 0,1-1 0,-2 1 0,2-2 0,0 1 0,0 0 0,0 0 0,0 0 0,0-2 0,0 1 0,1 0 0,-1-1 0,1 1 0,0 0 0,0-1 0,-1 0 0,-2-7 0,-1-1 0,0 2 0,0-1 0,-2 1 0,2 0 0,-2 1 0,-1 0 0,2 1 0,-20-12 0,8 5 0,-1 3 0,-1 0 0,-34-14 0,-30-3 0,-14-6 0,86 31 0,-1-2 0,1 3 0,-1 0 0,1-1 0,-1 2 0,-15 0 0,-95 4 0,51 2 0,-32-6 0,-96 5 0,183 0 0,2 0 0,0 2 0,-1 0 0,1 2 0,0 0 0,-17 8 0,9-2 0,-38 12 0,-21 4 0,57-18 0,-1-1 0,-58 13 0,-181 33 0,200-40 0,-87 31 0,41-13 0,103-29 0,-1 0 0,0 0 0,0 0 0,1 2 0,0 0 0,-12 9 0,12-7 0,-2-1 0,-2 0 0,-17 10 0,26-16 0,-13 4 0,-1 3 0,2 0 0,-31 20 0,48-29 0,-1 0 0,1 0 0,0 1 0,0-1 0,0 0 0,0 0 0,0 0 0,-1 0 0,1 1 0,0-1 0,0 0 0,0 0 0,0 0 0,0 2 0,0-2 0,0 0 0,0 0 0,-1 0 0,1 1 0,0-1 0,0 0 0,0 0 0,0 1 0,0-1 0,0 0 0,0 0 0,1 0 0,-1 1 0,0-1 0,0 0 0,0 0 0,0 1 0,0-1 0,0 0 0,0 0 0,0 0 0,0 1 0,1-1 0,-1 0 0,0 0 0,13 10 0,24 5 0,-32-13 0,91 40 0,22 8 0,-97-41 0,40 22 0,14 7 0,106 28 0,-159-60 0,-1 1 0,1-2 0,-2-1 0,45 2 0,91-7 0,-60-3 0,-49 4 0,62 1 0,151-21 0,-193 14 0,116 3 0,12 0 0,-153-4 0,72-18 0,-6 0 0,226-39 0,-288 53 0,85-34 0,-71 23 0,-20 10 0,67-11 0,-73 17 0,-3 1-682,61-2-1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4:25:42.244"/>
    </inkml:context>
    <inkml:brush xml:id="br0">
      <inkml:brushProperty name="width" value="0.35" units="cm"/>
      <inkml:brushProperty name="height" value="0.35" units="cm"/>
      <inkml:brushProperty name="color" value="#C6C3DE"/>
    </inkml:brush>
  </inkml:definitions>
  <inkml:trace contextRef="#ctx0" brushRef="#br0">0 361 24541,'2525'-95'0,"-3096"-170"0,1142 530 0,-1121 42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4:25:46.616"/>
    </inkml:context>
    <inkml:brush xml:id="br0">
      <inkml:brushProperty name="width" value="0.35" units="cm"/>
      <inkml:brushProperty name="height" value="0.35" units="cm"/>
      <inkml:brushProperty name="color" value="#C6C3DE"/>
    </inkml:brush>
  </inkml:definitions>
  <inkml:trace contextRef="#ctx0" brushRef="#br0">5 1 24575,'57'-1'0,"68"3"0,-122-2 0,0 0 0,0 1 0,1 0 0,-1-1 0,0 2 0,0-1 0,0 0 0,0 1 0,0-1 0,-1 0 0,2 1 0,-2 1 0,1-2 0,-1 1 0,0 0 0,1 0 0,-1 2 0,0-2 0,0 0 0,0 2 0,-1-2 0,2 1 0,-2-1 0,0 2 0,1-1 0,-1 0 0,-1 0 0,1 0 0,0 0 0,0 4 0,1 12 0,0-1 0,-1 0 0,-1 0 0,-4 26 0,2-11 0,1 59 0,-2 39 0,1-114 0,-2-1 0,0 1 0,-1-1 0,-13 29 0,-9 33 0,25-71 0,1-3 0,-2 2 0,1-1 0,-1 1 0,1-2 0,-1 2 0,-1-2 0,1 2 0,0-2 0,-2 1 0,-6 5 0,-4 3 0,0 0 0,-19 10 0,-4 4 0,-9 0-1365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30T10:45:55.4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168 339 24575,'1'-38'0,"0"8"0,-7-58 0,5 79 0,-1-1 0,0 1 0,-1 0 0,0 0 0,-1 0 0,1 0 0,-2 0 0,1 1 0,-1 0 0,-8-10 0,9 11-80,-1 1 0,0 0-1,0 1 1,-1-1 0,1 1-1,-1 0 1,0 1 0,-1-1-1,1 1 1,-1 0 0,0 1 0,0 0-1,0 0 1,0 0 0,0 1-1,-14-3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5-30T13:21:17.696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15752 14605 0,'17'0'422,"-17"18"-407,18-18 266,-1 0-234,1 0-15,35 0-17,-35 0 16,-1 0 1,1 0-17,0 0 79,-1 0 0,1 0-47,-1 0 0,1 0-1,35 0-30,0 0 15,53-18 1,53-17-17,-1 17 16,-17 0-15,-70 1 15,-36 17-15,-17-18 15,-1 18-15,1 0 328,17 18-329,18-1 16,-17 1 1,-1-18-17,18 18 17,0-18-17,-18 0 16,0 0-15,1 0 15,16 0 1,-16 0-17,-1 0 16,0 0-15,-17 0 15,0 0-15,-1 0 15,1 0-15,-1 0 15,19 0 0,34 0 1,19-18-1,-54 18-31,53-18 15,18 18 1,-18-17 15,-17 17 1,-1 0-17,-35 0 16,-17 0-15,0 0 15,-1 0 32,1 0-16,0 0 15,-18 17 251,17-17-204,1 0 0,0 0-93,-1 0 93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5-30T13:21:29.85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15822 14817 0,'18'17'344,"52"19"-297,-17-19-16,-18-17-16,1 0 17,-19 0-17,1 0 17,17 0-1,1 0-16,-19 0 32,1 0 78,-1 0-62,1 0-48,0 0 17,-1 0-17,1 0 17,17 0-17,-17 0 1,35 0-1,35-17 17,-17 17-17,70 0 17,-71 0-17,18 17 16,-52-17 1,17 0-17,-36 0 17,1 18-17,17-18 48,-17 0-16,0 0-32,-1 0 16,1 0 1,-1 0-17,36 0 17,-35 0-17,17 0 16,-17 0-31,0 17 32,-1-17-17,1 0 17,-1 0-17,1 0 16,35 0 1,0 0-17,-18 0 17,18 0-17,-18 0 16,1 0 1,-19 0-17,19 0 17,-19 0-17,36 0 16,-35 0 1,17 0-17,18 0 17,-35 0-17,17 0 32,0 0-16,0 0 1,36 0-17,-36 0 16,-17 0 1,0 0-17,-1 0 17,18 0 14,1 0-30,17 0 15,17 0 1,-34 0-17,-1 0 16,-18-17 1,1 17 15,0 0-32,-18-18 1048,0-17-1016,0 17-32,-18-17 32,18 17-16,-18 1 16,1-1 63,-1 18-79,1 0 94,17-18-94,-18-17-15,-35 0 31,-18 0-16,18 17-16,18 0 17,18 1-17,-19 17 17,19 0-32,-1 0 46,0 0-14,1 0-17,-1 0 17,0 0-32,-17 0 15,18 0 16,-19 0-15,19 0 15,-1 0-15,-17 0 15,-1 0 0,19 0-15,-18 0 15,17 0 1,0 0-17,-17 0 1,17 0 15,-17 0 0,0 0-15,17 0 15,-17 0 16,-18 0-16,0 0 1,-35 0-17,35 0 16,-35 0 1,35 0-17,-35 0 17,35 0-17,0 0 16,17 0 1,1 0-17,0 0 17,0 0-1,-1 0-16,19 0 17,-1 0-17,0 0 32,1 0-16,-1 0 1,1-18 15,-19 18-16,19-18 16,-1 18-32,0 0 17,1-17-1,-1 17-16,0 0 17,-17-18 15,0 18-32,-18-17 16,-18-1 1,18 18-17,1 0 17,16 0-17,-34 0 16,52 0 1,0 0-17,1 0 17,-1 0 46,1 0 0,-1 0 31,0 0-15,1 0-63,-1 0 79,0 0-17,1 0 17,-1 0-63,18-18 62,35-17-93,36 0-1,-36 17 16,-17 0-15,-1 18 47,19 0 327,17 0-374,-18 0 31,18 0-32,-18 0 17,18 0-17,-35 0 1,-1 0 31,19 0-32,-1 0 17,0 0-17,18 0 16,-18 0 1,18 0-17,-17 18 17,-19-18-17,1 0 454,17 0-438,-17 0-15,-1 0-1,19 0 17,-19 0-32,54 0 15,-18 0 17,17 0-17,-17-18 16,-17 18 1,-19 0 15,1-17 46,-1 17-61,1 0-32,0 0 15,70-18 16,35 0-15,1 1 15,-18-18 1,-53 35-17,0 0 1,-36-18 15,1 18-15,17 0 15,-17 0 391,-1 18-407,1-1-15,35-17 16,0 18 15,-18-1 1,36 1-17,-36-18 16,18 0 1,0 0-17,-36 0 1,36 0 15,-17 0 0,-19 0-31,19 0 32,-1 0-17,0 0 17,0-18-17,18 18 1,0 0 15,-18-17 0,1 17 1,-19 0-32,1 0 15,0 0 16,35 0 1,35 0-17,-35 0 17,-36 0-17,1 0 16,0 0 1,-18 17-17,17-17 17,-17 18 46,0 0-63,0 17 32,0-17-16,-17-1-31,-1 1 16,-53 35 15,18-18 1,18 0-17,0-17 16,-36 17-15,36-17 15,-35 17-15,-1 1 15,53-36 0,1 0-31,-1 17 32,0-17-17,18 18 17,-17-18-17,17 17 1,-18-17 31,1 18-16,-1-18 94,0 0-109,-35 18-1,-141 17 1,141-17-1,-141-1 1,53 1 15,106 0-31,-71-18 16,18 17 15,53-17-15,-54 0-1,-16 0 17,16 0-17,19 0 17,52 0-17,1 0 16,-1 0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05:52:55.424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0,'209'2,"323"43,-387-24,166 30,49 14,-263-45,15 3,71 2,-43 4,-106-20,0-2,1 0,61 2,327-11,-408 1,0-1,0-1,-1 0,1 0,-1-2,18-7,-15 5,-1 2,1-1,1 2,20-3,117-20,-110 17,90-9,278 17,-200 4,-124-2,142 17,-198-12,7 0,-1 2,0 1,0 3,42 16,-42-13,1-3,1-1,0-1,69 4,145-7,-161-7,-70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5:53:13.437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442 626 0,'0'0'0,"1"1"0,-1 2 0,0 0 0,1 1 0,0 1 0,1 1 0,0 0 0,1 1 0,1 0 0,0 2 0,1-1 0,0 1 0,2 1 0,0-1 0,1 1 0,1 0 0,1-1 0,0 1 0,2-1 0,0 0 0,0-1 0,2 0 0,0 0 0,0-2 0,1 0 0,1-1 0,-1 0 0,1-2 0,0-1 0,0-1 0,0-1 0,0-1 0,0-2 0,-1 0 0,-1-2 0,1-1 0,-2-2 0,0 0 0,-1-2 0,-1-1 0,0-1 0,-2-1 0,-1-1 0,-1-1 0,-2-1 0,0-1 0,-2-1 0,-1-1 0,-1 0 0,-2-1 0,-1 0 0,-2-1 0,0-1 0,-2 1 0,-1-1 0,-1 0 0,-1 0 0,-2 0 0,0 0 0,-1 1 0,-1-1 0,-1 1 0,0 1 0,-1-1 0,0 2 0,-1-1 0,0 2 0,0 0 0,0 1 0,0 0 0,0 1 0,0 1 0,1 1 0,0 0 0,0 1 0,1 1 0,1 1 0,0 0 0,1 1 0,1 1 0,0 1 0,2 0 0,0 1 0,1 0 0,0 1 0,2 1 0,0 0 0,1 1 0,1 0 0,1 0 0,0 2 0,1-1 0,0 1 0,1 0 0,0 1 0,0 0 0,1 0 0,0 0 0,0 2 0,0 0 0,-1 0 0,0 0 0,0 1 0,0 0 0,-2 1 0,1-1 0,-2 2 0,0 0 0,-1 0 0,-1 1 0,0 0 0,-1 2 0,-1-1 0,-1 1 0,-1 1 0,0 1 0,-1 0 0,-1 1 0,-1 1 0,0 0 0,-1 1 0,-1 1 0,0 1 0,0 0 0,0 2 0,-1 0 0,0 0 0,0 2 0,0 0 0,0 0 0,1 2 0,-1 0 0,2 0 0,0 1 0,0 0 0,1 0 0,1 1 0,1 0 0,1 0 0,1 0 0,1 0 0,1 0 0,1-1 0,2 1 0,1-1 0,1-1 0,1 0 0,2 0 0,1-2 0,1 0 0,2-1 0,1-1 0,1-1 0,1-1 0,1-1 0,1-1 0,1-1 0,2-1 0,0-2 0,0-1 0,1-1 0,1-1 0,0-2 0,1 0 0,0-2 0,0-1 0,0-2 0,0 0 0,0-1 0,-1-1 0,1-2 0,-1 0 0,-1 0 0,0-2 0,-1 0 0,0 0 0,-1-1 0,-1-1 0,0 1 0,-2-1 0,0 0 0,-1 0 0,-1 1 0,0 0 0,-2-1 0,0 2 0,0 0 0,-2 0 0,0 1 0,-1 1 0,-1 0 0,1 1 0,-1 1 0,-1 1 0,0 0 0,0 2 0,0 1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05:53:25.789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200 1698,'10'8,"1"0,-1-1,1-1,1 1,-1-2,15 6,5 3,39 17,2-3,2-4,83 18,-85-25,-21-3,2-2,-1-3,90 4,-55-13,119 16,-116-1,53 7,-90-16,64 16,-66-11,73 6,137 12,-143-14,123 2,1748-19,-1922-2,0-2,82-20,-32 6,576-104,-487 86,-151 30,-37 6,0 0,0-2,0 0,35-14,-21 6,1 1,62-11,-90 21,20-4,-10 3,0-1,-1-1,1 0,21-10,-22 7,1 2,0 0,1 0,23-2,14-5,-47 10,0-1,1 0,-1 0,0-1,-1 1,1-1,-1 0,1-1,-1 1,-1-1,1 0,-1-1,1 1,-2-1,1 0,-1 1,1-2,3-10,3-11,-1 0,11-56,-19 81,6-51,-2-1,-2 0,-6-72,0 14,3-564,0 661,-1 0,0 0,-2 0,0 1,0-1,-1 1,-1 0,-9-19,-56-155,67 185,1-1,-1 0,0 0,-1 1,1 0,-1 0,0 0,0 0,0 0,0 1,-1-1,1 1,-1 1,0-1,0 1,0-1,0 1,0 1,-1-1,-9-1,-9 0,0 0,-1 2,-35 3,26-1,-8 2,1 2,-79 21,14-3,-11 4,-24 3,90-22,-13 2,-96 2,-2978-13,3123 2,0 0,-1 2,-19 5,-33 4,-13-2,-153 37,-32 15,109-23,-122 34,-113 60,338-112,14-4,0-1,-78 17,102-31,-1-1,-19-1,24-1,0 1,0 1,-1 0,1 0,-17 5,24-4,1 0,1 0,-1 0,0 0,0 1,1 0,-1 0,1 0,0 0,0 0,0 0,-3 6,-27 50,22-38,6-11,0 1,1 1,1-1,0 1,0-1,1 1,-1 20,4 88,2-54,-3-51,0-1,-2 1,1-1,-2 0,0 0,-1 0,0 0,-1 0,-10 19,10-20,1 0,0 0,1 0,1 0,0 0,1 1,0 22,1-17,-1-1,-1 1,-5 20,3-22,-2 0,0-1,0 0,-2 0,-12 21,13-26,0 1,1 0,0 0,1 0,0 1,1 0,1 0,0 0,1 0,0 1,0 21,1 3,5 152,-2-176,1 1,1-1,1 0,-1 0,2-1,0 1,9 13,18 45,-31-68,-1 0,1-1,0 1,0-1,0 0,1 1,-1-1,1 0,0 0,0-1,0 1,0-1,0 1,0-1,1 0,-1 0,1 0,0-1,-1 1,1-1,0 0,0 0,7 1,9 0,0-1,0-1,34-4,-10 1,-31 3,10 1,-1-2,1-1,-1 0,0-2,0 0,33-12,189-70,29 3,569-134,-414 136,763-89,20 42,-1153 122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05:53:32.982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0 444,'0'1,"0"0,1-1,-1 1,0 0,1 0,-1 0,1 0,-1 0,1 0,-1-1,1 1,0 0,-1-1,1 1,0 0,0-1,-1 1,1-1,0 1,0-1,0 1,0-1,1 1,27 9,-17-7,12 4,1 0,1-2,-1-1,39 2,108-7,-71-1,-66 1,0 2,0 1,1 2,-2 1,43 12,-43-8,0-1,0-2,62 3,108-9,-79-3,169 5,359-5,-566-2,0-3,166-40,-203 39,-1 2,72-2,-67 6,94-15,-83 5,0 3,1 3,88 3,-123 5,0-2,0-1,-1-1,59-13,9-7,199-17,-62 11,34-30,-82 14,106-4,-194 34,74-15,-99 19,-27 3,56-1,-95 9,0 0,-1-1,1 0,0 0,0-1,9-3,-14 3,0 1,0-1,0 1,0-1,0 0,-1 0,1 0,-1 0,0-1,1 1,-1-1,0 1,0-1,-1 0,1 0,-1 0,2-4,4-14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05:53:40.862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87,'10'1,"1"1,0 0,-1 1,0 0,0 1,0 0,0 0,12 8,11 4,52 22,241 95,-278-118,1-1,0-3,0-2,1-3,54 2,-82-8,445-5,-439 4,0-3,0 0,0-2,49-16,-30 7,-30 11,-1-1,24-12,33-15,138-42,-83 33,-105 33,278-87,-169 73,-91 16,37-2,140 5,-123 5,-74-1,-1 2,1 0,-1 1,39 13,-34-9,1-1,34 5,137 19,-130-20,-34-4,62 3,609-9,-332-3,593 2,-952 0,1 1,21 3,-11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05:53:46.388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0 256,'9'3,"-1"0,1-1,0 0,0 0,-1 0,1-1,12-1,10 2,176 20,364-9,-476-18,191-15,-253 15,60-17,-63 14,1 0,34-3,23-3,-73 10,0 0,1 1,-1 1,1 1,-1 0,1 1,-1 1,1 0,-1 1,20 5,80 38,7 2,-55-24,-42-13,2-2,-1 0,33 4,-29-9,-1 2,0 0,-1 2,33 13,-45-14,2-1,-1-1,0 0,1-1,0-1,-1-1,1 0,34-4,8-5,75-20,-44 8,34-3,-17 4,123-38,23-11,-13 9,-200 50,55-15,92-37,-153 51,1 1,47-6,-43 9,20-1,-1 3,84 5,-53 0,-66 1,0 1,0 1,0 1,0 1,-1 1,0 1,44 22,-42-20,1-2,37 8,-44-12,36 6,-42-9,1 1,0 1,-1 0,0 1,24 10,-11 0,82 37,-94-46,0-1,1 0,0-1,-1 0,1-1,16 0,11-3,-27-1,-1 2,1 0,-1 1,23 4,-19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01T05:53:51.452"/>
    </inkml:context>
    <inkml:brush xml:id="br0">
      <inkml:brushProperty name="width" value="0.5" units="cm"/>
      <inkml:brushProperty name="height" value="1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1 878,'0'5,"1"1,1-1,-1-1,1 1,0 0,0 0,0 0,1-1,-1 1,1-1,0 0,1 0,-1 0,1 0,6 5,-1-1,1 0,0-1,0 0,0 0,18 8,-3-6,-1-1,2-1,-1-1,1-1,42 2,136-7,-88-2,-71 3,1 2,0 2,-1 2,52 16,-51-15,0-1,0-2,0-2,81-6,-31 1,-51 2,48 1,-1-5,102-16,-102 5,0 4,141 2,-204 8,-20 1,0-1,0 1,1 0,-1 1,0 0,0 1,0 0,0 0,0 1,11 5,-13-5,0 0,1 0,-1-1,1 0,-1 0,1-1,-1 0,1 0,11-1,202 4,319-36,-343 3,-112 15,134-7,-135 17,116-22,-72 7,-42 13,-55 5,55-10,28-14,-37 6,90-8,-92 23,-56 4,0 0,0-2,-1 0,1 0,-1-2,1-1,-1 0,21-10,-26 9,5-3,1 0,1 1,22-6,-21 7,33-14,11-4,-31 16,-16 5,0-1,0-1,0 0,-1-1,29-17,-45 23,0 0,0 0,0 1,0-1,0 0,0 0,-1 0,1 0,0 0,-1 0,1 0,-1 0,1 0,-1 0,1 0,-1-1,0 1,0 0,1 0,-1 0,0-1,0 1,0 0,0 0,0 0,-1-1,1 1,0 0,-1 0,1 0,0 0,-1 0,1-1,-1 1,0 0,1 0,-1 0,0 1,0-1,0 0,1 0,-1 0,0 0,-1 0,-6-6,0 0,-1 1,-16-10,22 14,-12-5,0 0,0 1,0 0,-1 2,-18-4,16 4,1 0,-1-1,-31-15,-109-52,95 46,-146-57,-49-21,173 69,-2 5,-97-22,121 35,-197-34,180 38,8 4,-1 4,-106 7,60 0,11-4,-120 4,174 6,1 2,0 2,0 3,-51 21,62-21,-258 63,144-43,24-4,-122 34,206-49,0-3,-1-2,0-2,-1-2,-65 0,84-4,1 0,0 2,-47 13,45-10,0 0,-63 4,27-13,51-1,-1 1,0 1,0 1,-34 6,34-1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5:56:03.2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6-01T05:56:23.37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5539 11395 0</inkml:trace>
  <inkml:trace contextRef="#ctx0" brushRef="#br0" timeOffset="4472.71">5521 11377 0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DE3BA-9D74-45B9-B71E-83EC7AEF608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8E0C8-AAFC-489E-A558-A480F1B39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97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8E0C8-AAFC-489E-A558-A480F1B395E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20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8E0C8-AAFC-489E-A558-A480F1B395E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853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8E0C8-AAFC-489E-A558-A480F1B395E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5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66CF-7C2A-D38D-58AA-E6C7DC31E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9DB77-3442-6AF5-02B3-4746B88ED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08625-02E5-376B-DE84-96000274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C827-30F9-43AE-BB00-9AB307A7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9D247-8D16-9DAB-C846-696734416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6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00EC-2CD8-D4D3-1595-A0B72EDD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F4C8-79D6-3419-0CAE-11600042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A7F7-22ED-DDF5-413A-A9861B29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8010-6E96-B52F-0F84-C8AEEBAE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30EE2-123E-5E38-B78A-088529AD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1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7D2D-05EA-158C-BD4B-24871566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C93D8-8676-C064-BDE9-6C074E76B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348A-5408-B8D6-BFEC-816AE36C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94AE-D562-A570-EE65-744E7036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6945-7E97-5B5E-02A2-E3973804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20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4A5C-B979-CBDA-C5CF-AA0054C1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33058-83C7-61DD-E6E0-E644316BB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796F2-5A03-CC9D-122E-D679C5D4B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2CDE4-625A-6B37-FF26-8C950760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B6DAC-8A75-02F2-F07F-2F9E23C1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44DB0-CD85-A616-4F1C-6B91164D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6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6983-B56C-EC2F-76BB-AE7C4CBDE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5C8F2-FCEB-D8CD-D02A-C02A98E1B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82E80-602B-F126-14D8-D91C4632F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96120-D411-E118-8395-B6B79F431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CDC944-CBA1-6BF8-96C0-3A33AAFF8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E59F5-52F1-F779-109D-991F3022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7ADE7-6826-5146-5B9F-3F7EC09A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F7B55-BCFF-9A21-C87F-D9C60646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23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2BD5-712B-18C3-6F79-EB3F96FB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70FB2-9AE3-3DD5-59F4-B0F7F0EF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2FF01-CD92-F7CD-C262-2BE68883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10928-73D5-38E5-24B4-30E96BE9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4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A0EF0F-B315-F5E5-D1BD-123EAA93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B7552D-DC18-0DCE-83DE-D90354C8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C0C26-76E6-E06F-001B-E53F26A0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85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AEFA-9507-D447-6315-8FBFEFA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075FC-CD8E-CA93-1D4A-BE6D80D89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1ACAF-F1E4-BC80-2792-FDFA84CB0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59FF3-2D80-1055-1D84-F7A6B813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1DD1D-394C-93D6-F1E4-1DD49D98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9C6DC-9B8B-F824-41A4-9AFA20D7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87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1A12-BAEC-66D6-AE11-5B7AD3AD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90AB0-C078-B061-6E31-6CEF095DC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94278-E100-A8F4-05CE-ED90779D5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CD1FA-2A4C-8182-97B1-127534B9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4270C-93BF-93A2-A2DF-149FD31A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E5865-7C35-4B3B-265F-9C14268B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0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E8F8-BFFC-FA88-2434-F3696834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7DC98-1E76-5303-1272-BAE911578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50C3E-D303-78BD-C747-480C6F00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8FDEA-0B88-4FC2-A7E5-BE664C7A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57930-F940-53ED-F9A4-1C96A31D3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27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10C32-8162-9029-0DCD-A66F72C6E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7F7EF-367E-F390-43C1-15A9C0390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C2D-0030-2E1F-C60F-EF70980A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A956D-31EE-C73E-4031-4F9F58BA4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986AF-D4B0-2263-CD83-47DB5E9B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6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99492F-FD6D-4AFF-53C5-5A61B265D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6A8C8-72D6-939F-4A2F-1FE6D1FA4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40457-1D40-4FE3-22FD-2204CA22E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B2AB3-0CE6-4E9B-A8FC-54804C933BBF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6495D-13F9-15FB-5491-3202D46D1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93DB1-C9B8-0CD1-2B7B-10DA00D45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6A8D9-9A25-4DF0-B1AB-B52D3B7E76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62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10" Type="http://schemas.openxmlformats.org/officeDocument/2006/relationships/hyperlink" Target="https://github.com/dayanandyadav205/CS-402-ADA/blob/main/PPT_Notes/Unit-III/Unit-III_Programs/Fibonacci_Series/fib_top_down_recursive_with_callCount.c" TargetMode="External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ayanandyadav205/CS-402-ADA/blob/main/PPT_Notes/Unit-III/Unit-III_Programs/Fibonacci_Series/fib_top_down_recursive_memorization.c" TargetMode="External"/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5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dayanandyadav205/CS-402-ADA/blob/main/PPT_Notes/Unit-III/Unit-III_Programs/Fibonacci_Series/fib_bottom_up_iterative_tabulation.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microsoft.com/office/2007/relationships/hdphoto" Target="../media/hdphoto13.wdp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7" Type="http://schemas.microsoft.com/office/2007/relationships/hdphoto" Target="../media/hdphoto16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microsoft.com/office/2007/relationships/hdphoto" Target="../media/hdphoto15.wdp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microsoft.com/office/2007/relationships/hdphoto" Target="../media/hdphoto17.wdp"/><Relationship Id="rId7" Type="http://schemas.microsoft.com/office/2007/relationships/hdphoto" Target="../media/hdphoto1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0.png"/><Relationship Id="rId5" Type="http://schemas.microsoft.com/office/2007/relationships/hdphoto" Target="../media/hdphoto16.wdp"/><Relationship Id="rId10" Type="http://schemas.openxmlformats.org/officeDocument/2006/relationships/customXml" Target="../ink/ink10.xml"/><Relationship Id="rId4" Type="http://schemas.openxmlformats.org/officeDocument/2006/relationships/image" Target="../media/image33.png"/><Relationship Id="rId9" Type="http://schemas.openxmlformats.org/officeDocument/2006/relationships/image" Target="../media/image34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15.xml"/><Relationship Id="rId18" Type="http://schemas.openxmlformats.org/officeDocument/2006/relationships/image" Target="../media/image44.png"/><Relationship Id="rId3" Type="http://schemas.openxmlformats.org/officeDocument/2006/relationships/image" Target="../media/image35.png"/><Relationship Id="rId21" Type="http://schemas.openxmlformats.org/officeDocument/2006/relationships/customXml" Target="../ink/ink19.xml"/><Relationship Id="rId7" Type="http://schemas.openxmlformats.org/officeDocument/2006/relationships/customXml" Target="../ink/ink12.xml"/><Relationship Id="rId12" Type="http://schemas.openxmlformats.org/officeDocument/2006/relationships/image" Target="../media/image41.png"/><Relationship Id="rId17" Type="http://schemas.openxmlformats.org/officeDocument/2006/relationships/customXml" Target="../ink/ink1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10" Type="http://schemas.openxmlformats.org/officeDocument/2006/relationships/image" Target="../media/image39.png"/><Relationship Id="rId19" Type="http://schemas.openxmlformats.org/officeDocument/2006/relationships/customXml" Target="../ink/ink18.xml"/><Relationship Id="rId4" Type="http://schemas.microsoft.com/office/2007/relationships/hdphoto" Target="../media/hdphoto18.wdp"/><Relationship Id="rId9" Type="http://schemas.openxmlformats.org/officeDocument/2006/relationships/customXml" Target="../ink/ink13.xml"/><Relationship Id="rId14" Type="http://schemas.openxmlformats.org/officeDocument/2006/relationships/image" Target="../media/image42.png"/><Relationship Id="rId22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B9CDB-5D59-2BD6-0371-BCFB0F25F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8683"/>
            <a:ext cx="9144000" cy="191547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>
                <a:latin typeface="Nunito" pitchFamily="2" charset="0"/>
              </a:rPr>
              <a:t>Unit-3</a:t>
            </a:r>
            <a:br>
              <a:rPr lang="en-IN" sz="4800" b="1" dirty="0">
                <a:latin typeface="Nunito" pitchFamily="2" charset="0"/>
              </a:rPr>
            </a:br>
            <a:r>
              <a:rPr lang="en-IN" sz="4800" b="1" dirty="0">
                <a:latin typeface="Nunito" pitchFamily="2" charset="0"/>
              </a:rPr>
              <a:t>Dynamic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F2875-15D5-44CF-027A-B6CF30B73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2758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accent1"/>
                </a:solidFill>
                <a:latin typeface="Nunito" pitchFamily="2" charset="0"/>
              </a:rPr>
              <a:t>CS-402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accent1"/>
                </a:solidFill>
                <a:latin typeface="Nunito" pitchFamily="2" charset="0"/>
              </a:rPr>
              <a:t>Analysis Design of Algorithm </a:t>
            </a:r>
            <a:endParaRPr lang="en-IN" sz="3200" b="1" dirty="0">
              <a:solidFill>
                <a:schemeClr val="accent1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900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1F63-5067-859B-2136-B20A0892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Nunito" pitchFamily="2" charset="0"/>
              </a:rPr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BFFD5-89AD-219B-E227-0397F9D6C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440" y="1612265"/>
            <a:ext cx="987552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Nunito" pitchFamily="2" charset="0"/>
              </a:rPr>
              <a:t>Concept of dynamic programming, problems based on this approach such as 0/1 knapsack, multistage graph, reliability design, Floyd-</a:t>
            </a:r>
            <a:r>
              <a:rPr lang="en-US" dirty="0" err="1">
                <a:latin typeface="Nunito" pitchFamily="2" charset="0"/>
              </a:rPr>
              <a:t>Warshall</a:t>
            </a:r>
            <a:r>
              <a:rPr lang="en-US" dirty="0">
                <a:latin typeface="Nunito" pitchFamily="2" charset="0"/>
              </a:rPr>
              <a:t> algorithm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latin typeface="Nunito" pitchFamily="2" charset="0"/>
              </a:rPr>
              <a:t>---------------------------------------------------------------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Nunito" pitchFamily="2" charset="0"/>
              </a:rPr>
              <a:t>Longest Common Subsequence (Topic beyond the syllabus)</a:t>
            </a:r>
            <a:endParaRPr lang="en-IN" dirty="0">
              <a:latin typeface="Nunito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38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AFA9-DC4E-485A-0A71-210092F1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Nunito" pitchFamily="2" charset="0"/>
              </a:rPr>
              <a:t>Dynamic Programming (DP)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0F6BE-D990-60BA-0B88-EAEAD809A78D}"/>
              </a:ext>
            </a:extLst>
          </p:cNvPr>
          <p:cNvSpPr txBox="1"/>
          <p:nvPr/>
        </p:nvSpPr>
        <p:spPr>
          <a:xfrm>
            <a:off x="1066800" y="1098957"/>
            <a:ext cx="988568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i="0" dirty="0">
                <a:solidFill>
                  <a:srgbClr val="0070C0"/>
                </a:solidFill>
                <a:effectLst/>
                <a:latin typeface="Nunito" pitchFamily="2" charset="0"/>
              </a:rPr>
              <a:t>Dynamic Programming (DP)</a:t>
            </a:r>
            <a:r>
              <a:rPr lang="en-US" sz="2400" dirty="0">
                <a:solidFill>
                  <a:srgbClr val="0070C0"/>
                </a:solidFill>
                <a:latin typeface="Nunito" pitchFamily="2" charset="0"/>
              </a:rPr>
              <a:t> used to solve optimization problem.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Nunito" pitchFamily="2" charset="0"/>
              </a:rPr>
              <a:t>B</a:t>
            </a:r>
            <a:r>
              <a:rPr lang="en-US" sz="2400" b="0" i="0" dirty="0">
                <a:effectLst/>
                <a:latin typeface="Nunito" pitchFamily="2" charset="0"/>
              </a:rPr>
              <a:t>reaks</a:t>
            </a:r>
            <a:r>
              <a:rPr lang="en-US" sz="2400" dirty="0">
                <a:latin typeface="Nunito" pitchFamily="2" charset="0"/>
              </a:rPr>
              <a:t> down the complex problem into </a:t>
            </a:r>
            <a:r>
              <a:rPr lang="en-US" sz="2400" b="0" i="0" dirty="0">
                <a:effectLst/>
                <a:latin typeface="Nunito" pitchFamily="2" charset="0"/>
              </a:rPr>
              <a:t>smaller subproblems.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Nunito" pitchFamily="2" charset="0"/>
              </a:rPr>
              <a:t>Finds optimal solution to these subproblems.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Nunito" pitchFamily="2" charset="0"/>
              </a:rPr>
              <a:t>S</a:t>
            </a:r>
            <a:r>
              <a:rPr lang="en-US" sz="2400" b="0" i="0" dirty="0">
                <a:effectLst/>
                <a:latin typeface="Nunito" pitchFamily="2" charset="0"/>
              </a:rPr>
              <a:t>tore the results </a:t>
            </a:r>
            <a:r>
              <a:rPr lang="en-US" sz="2400" dirty="0">
                <a:latin typeface="Nunito" pitchFamily="2" charset="0"/>
              </a:rPr>
              <a:t>of subproblem </a:t>
            </a:r>
          </a:p>
          <a:p>
            <a:pPr marL="97313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Nunito" pitchFamily="2" charset="0"/>
              </a:rPr>
              <a:t>Memorization: </a:t>
            </a:r>
            <a:r>
              <a:rPr lang="en-US" sz="2400" b="0" i="0" dirty="0">
                <a:effectLst/>
                <a:latin typeface="Nunito" pitchFamily="2" charset="0"/>
              </a:rPr>
              <a:t>Top-down approach</a:t>
            </a:r>
            <a:r>
              <a:rPr lang="en-US" sz="2400" dirty="0">
                <a:latin typeface="Nunito" pitchFamily="2" charset="0"/>
              </a:rPr>
              <a:t> (Recursive)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Nunito" pitchFamily="2" charset="0"/>
              </a:rPr>
              <a:t> </a:t>
            </a:r>
          </a:p>
          <a:p>
            <a:pPr marL="973138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Nunito" pitchFamily="2" charset="0"/>
              </a:rPr>
              <a:t>Tabulation: </a:t>
            </a:r>
            <a:r>
              <a:rPr lang="en-US" sz="2400" b="0" i="0" dirty="0">
                <a:effectLst/>
                <a:latin typeface="Nunito" pitchFamily="2" charset="0"/>
              </a:rPr>
              <a:t>Bottom-up approach</a:t>
            </a:r>
            <a:r>
              <a:rPr lang="en-US" sz="2400" dirty="0">
                <a:latin typeface="Nunito" pitchFamily="2" charset="0"/>
              </a:rPr>
              <a:t> (Iterative)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Nunito" pitchFamily="2" charset="0"/>
              </a:rPr>
              <a:t>Reuse the stored result to avoid re-computation.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400" dirty="0">
                <a:latin typeface="Nunito" pitchFamily="2" charset="0"/>
              </a:rPr>
              <a:t>Finally calculate the result of complex problem.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Nunito" pitchFamily="2" charset="0"/>
              </a:rPr>
              <a:t>Applicable to problems which are having properties of: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Nunito" pitchFamily="2" charset="0"/>
              </a:rPr>
              <a:t>	(</a:t>
            </a:r>
            <a:r>
              <a:rPr lang="en-US" sz="2400" dirty="0" err="1">
                <a:solidFill>
                  <a:srgbClr val="FF0000"/>
                </a:solidFill>
                <a:latin typeface="Nunito" pitchFamily="2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Nunito" pitchFamily="2" charset="0"/>
              </a:rPr>
              <a:t>) Overlapping subproblems and  (ii) Optimal substructure</a:t>
            </a:r>
          </a:p>
        </p:txBody>
      </p:sp>
    </p:spTree>
    <p:extLst>
      <p:ext uri="{BB962C8B-B14F-4D97-AF65-F5344CB8AC3E}">
        <p14:creationId xmlns:p14="http://schemas.microsoft.com/office/powerpoint/2010/main" val="256509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79153F-10EA-E42B-C07A-1354FCF07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837" y="0"/>
            <a:ext cx="9695288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CDBA29-C337-21A5-80C0-2D2B95922B98}"/>
              </a:ext>
            </a:extLst>
          </p:cNvPr>
          <p:cNvSpPr txBox="1"/>
          <p:nvPr/>
        </p:nvSpPr>
        <p:spPr>
          <a:xfrm>
            <a:off x="1971040" y="470654"/>
            <a:ext cx="2570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Nunito" pitchFamily="2" charset="0"/>
              </a:rPr>
              <a:t>Memorization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45216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32FB6A-9067-53C6-4F21-FB721EE6D984}"/>
                  </a:ext>
                </a:extLst>
              </p14:cNvPr>
              <p14:cNvContentPartPr/>
              <p14:nvPr/>
            </p14:nvContentPartPr>
            <p14:xfrm>
              <a:off x="9927080" y="4917160"/>
              <a:ext cx="86040" cy="110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32FB6A-9067-53C6-4F21-FB721EE6D9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64080" y="4854160"/>
                <a:ext cx="211680" cy="2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9DAA660-6731-34BA-38DA-72BC7B727B93}"/>
              </a:ext>
            </a:extLst>
          </p:cNvPr>
          <p:cNvGrpSpPr/>
          <p:nvPr/>
        </p:nvGrpSpPr>
        <p:grpSpPr>
          <a:xfrm>
            <a:off x="3728720" y="60960"/>
            <a:ext cx="5100320" cy="6715760"/>
            <a:chOff x="3717973" y="162561"/>
            <a:chExt cx="4800188" cy="64757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0320179-F76E-ACD3-7723-933A37112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973" y="3190240"/>
              <a:ext cx="4800188" cy="344804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458CAA3-A609-9820-2B67-6CB1FF6C9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973" y="162561"/>
              <a:ext cx="4800188" cy="3098799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EDBA857-29E8-55F0-017F-9866CE0C4B26}"/>
              </a:ext>
            </a:extLst>
          </p:cNvPr>
          <p:cNvSpPr txBox="1"/>
          <p:nvPr/>
        </p:nvSpPr>
        <p:spPr>
          <a:xfrm>
            <a:off x="944880" y="257294"/>
            <a:ext cx="26517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Nunito" pitchFamily="2" charset="0"/>
              </a:rPr>
              <a:t>Without Memorization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A1B27-8B40-3CFB-DCB1-5E896AC6618D}"/>
              </a:ext>
            </a:extLst>
          </p:cNvPr>
          <p:cNvSpPr txBox="1"/>
          <p:nvPr/>
        </p:nvSpPr>
        <p:spPr>
          <a:xfrm>
            <a:off x="386080" y="1386116"/>
            <a:ext cx="313944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200" b="1" dirty="0"/>
              <a:t>C Program Link</a:t>
            </a:r>
          </a:p>
          <a:p>
            <a:r>
              <a:rPr lang="en-IN" sz="1200" b="1" dirty="0">
                <a:hlinkClick r:id="rId10"/>
              </a:rPr>
              <a:t>https://github.com/dayanandyadav205/CS-402-ADA/blob/main/PPT_Notes/Unit-III/Unit-III_Programs/Fibonacci_Series/fib_top_down_recursive_with_callCount.c</a:t>
            </a:r>
            <a:endParaRPr lang="en-IN" sz="1200" b="1" dirty="0"/>
          </a:p>
          <a:p>
            <a:pPr algn="ctr"/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2257292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A98948-19F0-3186-BBC6-2898E545BA3C}"/>
              </a:ext>
            </a:extLst>
          </p:cNvPr>
          <p:cNvGrpSpPr/>
          <p:nvPr/>
        </p:nvGrpSpPr>
        <p:grpSpPr>
          <a:xfrm>
            <a:off x="3962400" y="81280"/>
            <a:ext cx="4561842" cy="6746240"/>
            <a:chOff x="4326961" y="436880"/>
            <a:chExt cx="3126965" cy="632968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837334-DA47-636F-558B-129E2DEE5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6961" y="4500894"/>
              <a:ext cx="3126962" cy="226566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4B3EE8-41C2-BA83-4BAB-E06F3257A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26962" y="2444292"/>
              <a:ext cx="3126964" cy="208632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26B9199-4B1C-A90A-437B-5041E0816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00"/>
            <a:stretch>
              <a:fillRect/>
            </a:stretch>
          </p:blipFill>
          <p:spPr>
            <a:xfrm>
              <a:off x="4326961" y="436880"/>
              <a:ext cx="3126963" cy="205232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E321199-CFB5-56E4-78C3-1CEB05B58471}"/>
              </a:ext>
            </a:extLst>
          </p:cNvPr>
          <p:cNvSpPr txBox="1"/>
          <p:nvPr/>
        </p:nvSpPr>
        <p:spPr>
          <a:xfrm>
            <a:off x="518160" y="226814"/>
            <a:ext cx="353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effectLst/>
                <a:latin typeface="Nunito" pitchFamily="2" charset="0"/>
              </a:rPr>
              <a:t>With Memorization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7EE14-4A44-83F6-6637-23BCB56E7C47}"/>
              </a:ext>
            </a:extLst>
          </p:cNvPr>
          <p:cNvSpPr txBox="1"/>
          <p:nvPr/>
        </p:nvSpPr>
        <p:spPr>
          <a:xfrm>
            <a:off x="518160" y="1109953"/>
            <a:ext cx="31496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200" b="1" dirty="0"/>
              <a:t>C Program Link</a:t>
            </a:r>
          </a:p>
          <a:p>
            <a:r>
              <a:rPr lang="en-IN" sz="1200" b="1" dirty="0">
                <a:hlinkClick r:id="rId8"/>
              </a:rPr>
              <a:t>https://github.com/dayanandyadav205/CS-402-ADA/blob/main/PPT_Notes/Unit-III/Unit-III_Programs/Fibonacci_Series/fib_top_down_recursive_memorization.c</a:t>
            </a:r>
            <a:r>
              <a:rPr lang="en-IN" sz="1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299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B2F72-0D00-2A4D-873D-A4140E3A1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79" y="-3140"/>
            <a:ext cx="9905791" cy="6861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059FF3-7D1D-982F-5839-5A48A9219CD4}"/>
              </a:ext>
            </a:extLst>
          </p:cNvPr>
          <p:cNvSpPr txBox="1"/>
          <p:nvPr/>
        </p:nvSpPr>
        <p:spPr>
          <a:xfrm>
            <a:off x="2519680" y="287774"/>
            <a:ext cx="204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Nunito" pitchFamily="2" charset="0"/>
              </a:rPr>
              <a:t>Tabul</a:t>
            </a:r>
            <a:r>
              <a:rPr lang="en-US" sz="2800" b="1" i="0" dirty="0">
                <a:effectLst/>
                <a:latin typeface="Nunito" pitchFamily="2" charset="0"/>
              </a:rPr>
              <a:t>ation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1C6D15-EA0C-60AB-0AF5-64A5B0AA2175}"/>
              </a:ext>
            </a:extLst>
          </p:cNvPr>
          <p:cNvSpPr txBox="1"/>
          <p:nvPr/>
        </p:nvSpPr>
        <p:spPr>
          <a:xfrm>
            <a:off x="142450" y="447040"/>
            <a:ext cx="179811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200" b="1" dirty="0"/>
              <a:t>C Program Link</a:t>
            </a:r>
            <a:endParaRPr lang="en-IN" sz="1200" b="1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IN" sz="1200" b="1" dirty="0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https://github.com/dayanandyadav205/CS-402-ADA/blob/main/PPT_Notes/Unit-III/Unit-III_Programs/Fibonacci_Series/fib_bottom_up_iterative_tabulation.c</a:t>
            </a:r>
            <a:r>
              <a:rPr lang="en-IN" sz="1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113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CB9B-C3DC-A762-D4CD-0D050A1E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365125"/>
            <a:ext cx="1154176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Nunito" pitchFamily="2" charset="0"/>
              </a:rPr>
              <a:t>Problems based on Dynamic Programming Approach</a:t>
            </a:r>
            <a:endParaRPr lang="en-IN" sz="3600" b="1" dirty="0"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34CC-41A0-82F1-AB20-6C039F5A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880" y="1825625"/>
            <a:ext cx="930656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Nunito" pitchFamily="2" charset="0"/>
              </a:rPr>
              <a:t>0/1 knapsack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Nunito" pitchFamily="2" charset="0"/>
              </a:rPr>
              <a:t>Multistage graph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Nunito" pitchFamily="2" charset="0"/>
              </a:rPr>
              <a:t>Reliability design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Nunito" pitchFamily="2" charset="0"/>
              </a:rPr>
              <a:t>Floyd-</a:t>
            </a:r>
            <a:r>
              <a:rPr lang="en-IN" dirty="0" err="1">
                <a:latin typeface="Nunito" pitchFamily="2" charset="0"/>
              </a:rPr>
              <a:t>Warshall</a:t>
            </a:r>
            <a:r>
              <a:rPr lang="en-IN" dirty="0">
                <a:latin typeface="Nunito" pitchFamily="2" charset="0"/>
              </a:rPr>
              <a:t> algorithm</a:t>
            </a:r>
            <a:endParaRPr lang="en-US" dirty="0">
              <a:latin typeface="Nunito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AD0CFE-AE95-CC7A-6261-85C41C7FE7A1}"/>
                  </a:ext>
                </a:extLst>
              </p14:cNvPr>
              <p14:cNvContentPartPr/>
              <p14:nvPr/>
            </p14:nvContentPartPr>
            <p14:xfrm>
              <a:off x="3139280" y="339292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AD0CFE-AE95-CC7A-6261-85C41C7FE7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6640" y="333028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423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FA75-5495-4FF1-EC30-557BF528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Nunito" pitchFamily="2" charset="0"/>
              </a:rPr>
              <a:t>0/1 Knapsack Problem</a:t>
            </a:r>
            <a:endParaRPr lang="en-IN" dirty="0">
              <a:latin typeface="Nunito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C11F-09F3-F3CB-33FB-22523CA5D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Nunito" pitchFamily="2" charset="0"/>
              </a:rPr>
              <a:t>The </a:t>
            </a:r>
            <a:r>
              <a:rPr lang="en-US" b="1" dirty="0">
                <a:latin typeface="Nunito" pitchFamily="2" charset="0"/>
              </a:rPr>
              <a:t>0/1 Knapsack Problem</a:t>
            </a:r>
            <a:r>
              <a:rPr lang="en-US" dirty="0">
                <a:latin typeface="Nunito" pitchFamily="2" charset="0"/>
              </a:rPr>
              <a:t> is a classic optimization problem in computer science where you must select a subset of indivisible items to </a:t>
            </a:r>
            <a:r>
              <a:rPr lang="en-US" b="1" dirty="0">
                <a:latin typeface="Nunito" pitchFamily="2" charset="0"/>
              </a:rPr>
              <a:t>maximize total value without exceeding a maximum weight capacity</a:t>
            </a:r>
            <a:r>
              <a:rPr lang="en-US" dirty="0">
                <a:latin typeface="Nunito" pitchFamily="2" charset="0"/>
              </a:rPr>
              <a:t>. The name "0/1" comes from the rule that you cannot take a fraction of an item; you must either leave it (0) or take it entirely (1). </a:t>
            </a:r>
            <a:endParaRPr lang="en-IN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32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CBC2-59C8-C0D4-51D9-96C55AE6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F8F3D64-08BD-6A7E-35BA-EF912BD89530}"/>
              </a:ext>
            </a:extLst>
          </p:cNvPr>
          <p:cNvGrpSpPr/>
          <p:nvPr/>
        </p:nvGrpSpPr>
        <p:grpSpPr>
          <a:xfrm>
            <a:off x="1442719" y="41090"/>
            <a:ext cx="10017761" cy="6806750"/>
            <a:chOff x="2225039" y="438626"/>
            <a:chExt cx="8077201" cy="488807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52EA050-9503-54E4-1CD0-60133B3DC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8" r="1182" b="63607"/>
            <a:stretch>
              <a:fillRect/>
            </a:stretch>
          </p:blipFill>
          <p:spPr>
            <a:xfrm>
              <a:off x="2235199" y="438626"/>
              <a:ext cx="8056881" cy="202139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15F718C-857E-503B-9F41-039716398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452" b="25065"/>
            <a:stretch>
              <a:fillRect/>
            </a:stretch>
          </p:blipFill>
          <p:spPr>
            <a:xfrm>
              <a:off x="2225039" y="2471743"/>
              <a:ext cx="8077201" cy="2854961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32F08A5-4627-3865-C0C6-74FF4BF7ECDA}"/>
              </a:ext>
            </a:extLst>
          </p:cNvPr>
          <p:cNvSpPr txBox="1"/>
          <p:nvPr/>
        </p:nvSpPr>
        <p:spPr>
          <a:xfrm>
            <a:off x="132080" y="145976"/>
            <a:ext cx="258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Nunito" pitchFamily="2" charset="0"/>
              </a:rPr>
              <a:t>0/1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388348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010D-FB8A-9D3E-DB1D-2D48428F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43D982-489A-D075-872A-08ECE7659410}"/>
              </a:ext>
            </a:extLst>
          </p:cNvPr>
          <p:cNvGrpSpPr/>
          <p:nvPr/>
        </p:nvGrpSpPr>
        <p:grpSpPr>
          <a:xfrm>
            <a:off x="2824480" y="81280"/>
            <a:ext cx="7843223" cy="6621495"/>
            <a:chOff x="2397760" y="189926"/>
            <a:chExt cx="7802588" cy="64315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5CC313-9F3F-B366-0025-3B96282A5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612"/>
            <a:stretch>
              <a:fillRect/>
            </a:stretch>
          </p:blipFill>
          <p:spPr>
            <a:xfrm>
              <a:off x="2397760" y="3569276"/>
              <a:ext cx="7802584" cy="305222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872D75D-D34D-E0FF-2149-6A82E1421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775"/>
            <a:stretch>
              <a:fillRect/>
            </a:stretch>
          </p:blipFill>
          <p:spPr>
            <a:xfrm>
              <a:off x="2397764" y="189926"/>
              <a:ext cx="7802584" cy="3379351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E2ADB15-BFEC-0815-70E0-4F1EC109E9F3}"/>
              </a:ext>
            </a:extLst>
          </p:cNvPr>
          <p:cNvSpPr txBox="1"/>
          <p:nvPr/>
        </p:nvSpPr>
        <p:spPr>
          <a:xfrm>
            <a:off x="132080" y="145976"/>
            <a:ext cx="258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Nunito" pitchFamily="2" charset="0"/>
              </a:rPr>
              <a:t>0/1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349962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5279BBB-0DA1-3998-9681-BCC251A9C223}"/>
              </a:ext>
            </a:extLst>
          </p:cNvPr>
          <p:cNvGrpSpPr/>
          <p:nvPr/>
        </p:nvGrpSpPr>
        <p:grpSpPr>
          <a:xfrm>
            <a:off x="741680" y="985520"/>
            <a:ext cx="6814384" cy="5516880"/>
            <a:chOff x="2919110" y="346074"/>
            <a:chExt cx="7623993" cy="607504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72441CA-0128-621A-3081-2FBE78B76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87" t="74291" r="38808" b="6632"/>
            <a:stretch>
              <a:fillRect/>
            </a:stretch>
          </p:blipFill>
          <p:spPr>
            <a:xfrm>
              <a:off x="2919111" y="346074"/>
              <a:ext cx="7623991" cy="10962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2AEF69-1051-2A6C-BABB-F1489FDEB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9110" y="1412240"/>
              <a:ext cx="7623993" cy="50088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C770EB5-1628-BBD4-4195-1D62DAF24F63}"/>
              </a:ext>
            </a:extLst>
          </p:cNvPr>
          <p:cNvSpPr txBox="1"/>
          <p:nvPr/>
        </p:nvSpPr>
        <p:spPr>
          <a:xfrm>
            <a:off x="7670800" y="1034245"/>
            <a:ext cx="3982720" cy="18389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n-US" sz="1600" b="0" u="none" strike="noStrike" dirty="0">
                <a:effectLst/>
                <a:latin typeface="Nunito" pitchFamily="2" charset="0"/>
              </a:rPr>
              <a:t>The time complexity of the 0/1 Knapsack problem using dynamic programming is </a:t>
            </a:r>
            <a:r>
              <a:rPr lang="en-US" sz="1600" b="1" u="none" strike="noStrike" dirty="0">
                <a:effectLst/>
                <a:latin typeface="Nunito" pitchFamily="2" charset="0"/>
              </a:rPr>
              <a:t>O(N.W)</a:t>
            </a:r>
            <a:endParaRPr lang="en-US" sz="1600" b="0" u="none" strike="noStrike" dirty="0">
              <a:effectLst/>
              <a:latin typeface="Nunito" pitchFamily="2" charset="0"/>
            </a:endParaRPr>
          </a:p>
          <a:p>
            <a:pPr algn="just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600" b="0" u="none" strike="noStrike" dirty="0">
                <a:effectLst/>
                <a:latin typeface="Nunito" pitchFamily="2" charset="0"/>
              </a:rPr>
              <a:t>Here, </a:t>
            </a:r>
            <a:r>
              <a:rPr lang="en-US" sz="1600" b="1" u="none" strike="noStrike" dirty="0">
                <a:effectLst/>
                <a:latin typeface="Nunito" pitchFamily="2" charset="0"/>
              </a:rPr>
              <a:t>N</a:t>
            </a:r>
            <a:r>
              <a:rPr lang="en-US" sz="1600" b="0" u="none" strike="noStrike" dirty="0">
                <a:effectLst/>
                <a:latin typeface="Nunito" pitchFamily="2" charset="0"/>
              </a:rPr>
              <a:t> represents the total number of items, and </a:t>
            </a:r>
            <a:r>
              <a:rPr lang="en-US" sz="1600" b="1" u="none" strike="noStrike" dirty="0">
                <a:effectLst/>
                <a:latin typeface="Nunito" pitchFamily="2" charset="0"/>
              </a:rPr>
              <a:t>W</a:t>
            </a:r>
            <a:r>
              <a:rPr lang="en-US" sz="1600" b="0" u="none" strike="noStrike" dirty="0">
                <a:effectLst/>
                <a:latin typeface="Nunito" pitchFamily="2" charset="0"/>
              </a:rPr>
              <a:t> represents the maximum weight capacity of the knapsack.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A1980-6C7C-FD03-5457-FFFF41ECACFD}"/>
              </a:ext>
            </a:extLst>
          </p:cNvPr>
          <p:cNvSpPr txBox="1"/>
          <p:nvPr/>
        </p:nvSpPr>
        <p:spPr>
          <a:xfrm>
            <a:off x="4683760" y="227256"/>
            <a:ext cx="2581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Nunito" pitchFamily="2" charset="0"/>
              </a:rPr>
              <a:t>0/1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160461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35C5-EEE1-FF09-BA65-012117A8E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932CE2-877A-2329-B1FF-7D4EC9ECE609}"/>
              </a:ext>
            </a:extLst>
          </p:cNvPr>
          <p:cNvSpPr txBox="1"/>
          <p:nvPr/>
        </p:nvSpPr>
        <p:spPr>
          <a:xfrm>
            <a:off x="1503680" y="686375"/>
            <a:ext cx="2143760" cy="64633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Capacity (W) = 7, </a:t>
            </a:r>
          </a:p>
          <a:p>
            <a:r>
              <a:rPr lang="en-IN" b="1" dirty="0"/>
              <a:t>No. of items (n) = 5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55E261-3C73-4EAF-2632-AB720FA1C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864942"/>
              </p:ext>
            </p:extLst>
          </p:nvPr>
        </p:nvGraphicFramePr>
        <p:xfrm>
          <a:off x="4236720" y="689186"/>
          <a:ext cx="627888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480">
                  <a:extLst>
                    <a:ext uri="{9D8B030D-6E8A-4147-A177-3AD203B41FA5}">
                      <a16:colId xmlns:a16="http://schemas.microsoft.com/office/drawing/2014/main" val="3971361659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724839772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1604204697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357787916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3231479047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582205782"/>
                    </a:ext>
                  </a:extLst>
                </a:gridCol>
              </a:tblGrid>
              <a:tr h="2876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Weights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0029143"/>
                  </a:ext>
                </a:extLst>
              </a:tr>
              <a:tr h="2876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Profits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70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80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466565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B451825-5C01-0B70-9454-51153FE29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450443"/>
              </p:ext>
            </p:extLst>
          </p:nvPr>
        </p:nvGraphicFramePr>
        <p:xfrm>
          <a:off x="855472" y="2586567"/>
          <a:ext cx="2024887" cy="2358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147">
                  <a:extLst>
                    <a:ext uri="{9D8B030D-6E8A-4147-A177-3AD203B41FA5}">
                      <a16:colId xmlns:a16="http://schemas.microsoft.com/office/drawing/2014/main" val="816051594"/>
                    </a:ext>
                  </a:extLst>
                </a:gridCol>
                <a:gridCol w="743370">
                  <a:extLst>
                    <a:ext uri="{9D8B030D-6E8A-4147-A177-3AD203B41FA5}">
                      <a16:colId xmlns:a16="http://schemas.microsoft.com/office/drawing/2014/main" val="2560870554"/>
                    </a:ext>
                  </a:extLst>
                </a:gridCol>
                <a:gridCol w="743370">
                  <a:extLst>
                    <a:ext uri="{9D8B030D-6E8A-4147-A177-3AD203B41FA5}">
                      <a16:colId xmlns:a16="http://schemas.microsoft.com/office/drawing/2014/main" val="2889605838"/>
                    </a:ext>
                  </a:extLst>
                </a:gridCol>
              </a:tblGrid>
              <a:tr h="39303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xi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pi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wi</a:t>
                      </a:r>
                      <a:endParaRPr lang="en-IN" b="1" dirty="0"/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881396760"/>
                  </a:ext>
                </a:extLst>
              </a:tr>
              <a:tr h="3930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x1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4124633326"/>
                  </a:ext>
                </a:extLst>
              </a:tr>
              <a:tr h="3930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x2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2065062266"/>
                  </a:ext>
                </a:extLst>
              </a:tr>
              <a:tr h="3930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x3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1262776115"/>
                  </a:ext>
                </a:extLst>
              </a:tr>
              <a:tr h="3930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x4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4124604772"/>
                  </a:ext>
                </a:extLst>
              </a:tr>
              <a:tr h="3930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x5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373716437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B9E3FE8-8110-96BE-EF8F-39E7443CD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505374"/>
              </p:ext>
            </p:extLst>
          </p:nvPr>
        </p:nvGraphicFramePr>
        <p:xfrm>
          <a:off x="3042920" y="2672079"/>
          <a:ext cx="878839" cy="2272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8839">
                  <a:extLst>
                    <a:ext uri="{9D8B030D-6E8A-4147-A177-3AD203B41FA5}">
                      <a16:colId xmlns:a16="http://schemas.microsoft.com/office/drawing/2014/main" val="2473333025"/>
                    </a:ext>
                  </a:extLst>
                </a:gridCol>
              </a:tblGrid>
              <a:tr h="3787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015718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013815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816390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18069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7198150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07681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F1946D5-C79E-9A13-817C-A85ECB0C3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182337"/>
              </p:ext>
            </p:extLst>
          </p:nvPr>
        </p:nvGraphicFramePr>
        <p:xfrm>
          <a:off x="4013200" y="2304625"/>
          <a:ext cx="7172960" cy="2640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620">
                  <a:extLst>
                    <a:ext uri="{9D8B030D-6E8A-4147-A177-3AD203B41FA5}">
                      <a16:colId xmlns:a16="http://schemas.microsoft.com/office/drawing/2014/main" val="248037439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2159427163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1821424163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2912880336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3808902527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2545644287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575107868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val="3143795571"/>
                    </a:ext>
                  </a:extLst>
                </a:gridCol>
              </a:tblGrid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057618"/>
                  </a:ext>
                </a:extLst>
              </a:tr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870171"/>
                  </a:ext>
                </a:extLst>
              </a:tr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61113"/>
                  </a:ext>
                </a:extLst>
              </a:tr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58592"/>
                  </a:ext>
                </a:extLst>
              </a:tr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86902"/>
                  </a:ext>
                </a:extLst>
              </a:tr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415368"/>
                  </a:ext>
                </a:extLst>
              </a:tr>
              <a:tr h="37716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highlight>
                            <a:srgbClr val="FFFF00"/>
                          </a:highlight>
                        </a:rP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11532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74A21F3-9B0D-6D79-C995-20A114FF7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16224"/>
              </p:ext>
            </p:extLst>
          </p:nvPr>
        </p:nvGraphicFramePr>
        <p:xfrm>
          <a:off x="3042920" y="2306320"/>
          <a:ext cx="878838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8838">
                  <a:extLst>
                    <a:ext uri="{9D8B030D-6E8A-4147-A177-3AD203B41FA5}">
                      <a16:colId xmlns:a16="http://schemas.microsoft.com/office/drawing/2014/main" val="3174210021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96703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B5F8F76-DAB3-01E1-809D-19DBAE7FB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436324"/>
              </p:ext>
            </p:extLst>
          </p:nvPr>
        </p:nvGraphicFramePr>
        <p:xfrm>
          <a:off x="4013200" y="1928706"/>
          <a:ext cx="71729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2960">
                  <a:extLst>
                    <a:ext uri="{9D8B030D-6E8A-4147-A177-3AD203B41FA5}">
                      <a16:colId xmlns:a16="http://schemas.microsoft.com/office/drawing/2014/main" val="2224514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58715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00A6802-136C-2294-0C23-505382FB9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602728"/>
              </p:ext>
            </p:extLst>
          </p:nvPr>
        </p:nvGraphicFramePr>
        <p:xfrm>
          <a:off x="2743200" y="5088466"/>
          <a:ext cx="8442961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0301761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4023042595"/>
                    </a:ext>
                  </a:extLst>
                </a:gridCol>
                <a:gridCol w="1330960">
                  <a:extLst>
                    <a:ext uri="{9D8B030D-6E8A-4147-A177-3AD203B41FA5}">
                      <a16:colId xmlns:a16="http://schemas.microsoft.com/office/drawing/2014/main" val="2562677912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73875132"/>
                    </a:ext>
                  </a:extLst>
                </a:gridCol>
                <a:gridCol w="1209040">
                  <a:extLst>
                    <a:ext uri="{9D8B030D-6E8A-4147-A177-3AD203B41FA5}">
                      <a16:colId xmlns:a16="http://schemas.microsoft.com/office/drawing/2014/main" val="1016237679"/>
                    </a:ext>
                  </a:extLst>
                </a:gridCol>
                <a:gridCol w="1076961">
                  <a:extLst>
                    <a:ext uri="{9D8B030D-6E8A-4147-A177-3AD203B41FA5}">
                      <a16:colId xmlns:a16="http://schemas.microsoft.com/office/drawing/2014/main" val="3117438466"/>
                    </a:ext>
                  </a:extLst>
                </a:gridCol>
              </a:tblGrid>
              <a:tr h="323166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xi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x5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144095"/>
                  </a:ext>
                </a:extLst>
              </a:tr>
              <a:tr h="323166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Selected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4251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CF440B2-DDD8-6340-CB5A-E19F6CE614D4}"/>
              </a:ext>
            </a:extLst>
          </p:cNvPr>
          <p:cNvSpPr txBox="1"/>
          <p:nvPr/>
        </p:nvSpPr>
        <p:spPr>
          <a:xfrm>
            <a:off x="2743198" y="5902747"/>
            <a:ext cx="8442962" cy="88036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Max(∑</a:t>
            </a:r>
            <a:r>
              <a:rPr lang="en-IN" b="1" dirty="0" err="1"/>
              <a:t>xipi</a:t>
            </a:r>
            <a:r>
              <a:rPr lang="en-IN" b="1" dirty="0"/>
              <a:t>) </a:t>
            </a:r>
            <a:r>
              <a:rPr lang="en-IN" dirty="0"/>
              <a:t>= 1x50 + 0x40 + 1x70 + 0x80 + 0x10 = 120 (Max Profit)</a:t>
            </a:r>
          </a:p>
          <a:p>
            <a:pPr>
              <a:lnSpc>
                <a:spcPct val="150000"/>
              </a:lnSpc>
            </a:pPr>
            <a:r>
              <a:rPr lang="en-IN" b="1" dirty="0"/>
              <a:t>(∑</a:t>
            </a:r>
            <a:r>
              <a:rPr lang="en-IN" b="1" dirty="0" err="1"/>
              <a:t>xiwi</a:t>
            </a:r>
            <a:r>
              <a:rPr lang="en-IN" b="1" dirty="0"/>
              <a:t>&lt;=W)</a:t>
            </a:r>
            <a:r>
              <a:rPr lang="en-IN" dirty="0"/>
              <a:t> = 1x3 + 0x2 + 1x4 + 0x5 + 0x1 =</a:t>
            </a:r>
            <a:r>
              <a:rPr lang="en-IN" b="1" dirty="0"/>
              <a:t> </a:t>
            </a:r>
            <a:r>
              <a:rPr lang="en-IN" dirty="0"/>
              <a:t>7 (Max capacity)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09BA7-7969-07C1-D4A2-1C7F73708ADD}"/>
              </a:ext>
            </a:extLst>
          </p:cNvPr>
          <p:cNvSpPr txBox="1"/>
          <p:nvPr/>
        </p:nvSpPr>
        <p:spPr>
          <a:xfrm>
            <a:off x="2743197" y="1491429"/>
            <a:ext cx="844296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Formula to get max profit for each weight: </a:t>
            </a:r>
            <a:r>
              <a:rPr lang="en-IN" dirty="0"/>
              <a:t>m[</a:t>
            </a:r>
            <a:r>
              <a:rPr lang="en-IN" dirty="0" err="1"/>
              <a:t>i,w</a:t>
            </a:r>
            <a:r>
              <a:rPr lang="en-IN" dirty="0"/>
              <a:t>] = max(m[i-1, w], m[i-1, w-w[</a:t>
            </a:r>
            <a:r>
              <a:rPr lang="en-IN" dirty="0" err="1"/>
              <a:t>i</a:t>
            </a:r>
            <a:r>
              <a:rPr lang="en-IN" dirty="0"/>
              <a:t>]] + p[</a:t>
            </a:r>
            <a:r>
              <a:rPr lang="en-IN" dirty="0" err="1"/>
              <a:t>i</a:t>
            </a:r>
            <a:r>
              <a:rPr lang="en-IN" dirty="0"/>
              <a:t>])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8EB460-5BF6-1686-2E3B-0E87EBDA3D12}"/>
              </a:ext>
            </a:extLst>
          </p:cNvPr>
          <p:cNvSpPr txBox="1"/>
          <p:nvPr/>
        </p:nvSpPr>
        <p:spPr>
          <a:xfrm>
            <a:off x="1503680" y="44376"/>
            <a:ext cx="8056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Nunito" pitchFamily="2" charset="0"/>
              </a:rPr>
              <a:t>0/1 Knapsack problem</a:t>
            </a:r>
          </a:p>
          <a:p>
            <a:r>
              <a:rPr lang="en-IN" b="1" dirty="0">
                <a:latin typeface="Nunito" pitchFamily="2" charset="0"/>
              </a:rPr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917271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617A72-A01A-AA59-4468-6C1D0F295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0" t="3250" r="19473" b="3132"/>
          <a:stretch>
            <a:fillRect/>
          </a:stretch>
        </p:blipFill>
        <p:spPr>
          <a:xfrm>
            <a:off x="5313679" y="0"/>
            <a:ext cx="6624321" cy="68456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3D3CF9-473E-E9A3-F0E1-4264B6392CF1}"/>
              </a:ext>
            </a:extLst>
          </p:cNvPr>
          <p:cNvSpPr txBox="1"/>
          <p:nvPr/>
        </p:nvSpPr>
        <p:spPr>
          <a:xfrm>
            <a:off x="680720" y="83437"/>
            <a:ext cx="35255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485FB-A0C1-8A7B-7307-D835B0A69C01}"/>
              </a:ext>
            </a:extLst>
          </p:cNvPr>
          <p:cNvSpPr txBox="1"/>
          <p:nvPr/>
        </p:nvSpPr>
        <p:spPr>
          <a:xfrm>
            <a:off x="152399" y="855116"/>
            <a:ext cx="4846319" cy="296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Multistage graph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directed, weighted graph in which the nodes can be divided into a set of stages such that all edges are from a stage to next stage only (In other words there is no edge between vertices of same stage and from a vertex of current stage to previous stage).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805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6935-844D-D5A0-CA3C-D985AE2B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BFD0AAE-2434-1046-D276-F47B931FEC2A}"/>
              </a:ext>
            </a:extLst>
          </p:cNvPr>
          <p:cNvGrpSpPr/>
          <p:nvPr/>
        </p:nvGrpSpPr>
        <p:grpSpPr>
          <a:xfrm>
            <a:off x="2804160" y="83438"/>
            <a:ext cx="8554720" cy="6528566"/>
            <a:chOff x="2021840" y="909830"/>
            <a:chExt cx="7843520" cy="58647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EFB355A-5104-A09F-E2FD-4AE75F2AD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" r="4159" b="1217"/>
            <a:stretch>
              <a:fillRect/>
            </a:stretch>
          </p:blipFill>
          <p:spPr>
            <a:xfrm>
              <a:off x="2021840" y="909830"/>
              <a:ext cx="7843520" cy="5864733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51FCFB8-17DD-6CEF-C301-45A8DF5EE8C9}"/>
                    </a:ext>
                  </a:extLst>
                </p14:cNvPr>
                <p14:cNvContentPartPr/>
                <p14:nvPr/>
              </p14:nvContentPartPr>
              <p14:xfrm>
                <a:off x="5395040" y="1869400"/>
                <a:ext cx="396000" cy="73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51FCFB8-17DD-6CEF-C301-45A8DF5EE8C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45540" y="1772343"/>
                  <a:ext cx="494670" cy="267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D4F026-8785-E0DC-4899-1C2489550693}"/>
                    </a:ext>
                  </a:extLst>
                </p14:cNvPr>
                <p14:cNvContentPartPr/>
                <p14:nvPr/>
              </p14:nvContentPartPr>
              <p14:xfrm>
                <a:off x="5801480" y="1826920"/>
                <a:ext cx="1109880" cy="124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D4F026-8785-E0DC-4899-1C248955069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51991" y="1729860"/>
                  <a:ext cx="1208529" cy="318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8AA7F3-E995-05AC-E0AC-99F77D3F3B44}"/>
                    </a:ext>
                  </a:extLst>
                </p14:cNvPr>
                <p14:cNvContentPartPr/>
                <p14:nvPr/>
              </p14:nvContentPartPr>
              <p14:xfrm>
                <a:off x="5445800" y="1725400"/>
                <a:ext cx="1270440" cy="247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8AA7F3-E995-05AC-E0AC-99F77D3F3B4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88053" y="1668824"/>
                  <a:ext cx="1385605" cy="360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6156F1-201A-516D-C62E-1BE6C9C6B0E0}"/>
                    </a:ext>
                  </a:extLst>
                </p14:cNvPr>
                <p14:cNvContentPartPr/>
                <p14:nvPr/>
              </p14:nvContentPartPr>
              <p14:xfrm>
                <a:off x="6634160" y="1712080"/>
                <a:ext cx="833400" cy="185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6156F1-201A-516D-C62E-1BE6C9C6B0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76422" y="1655457"/>
                  <a:ext cx="948545" cy="2983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D9BF855-FDA9-8B9B-0DDF-7B17D18D5E49}"/>
                    </a:ext>
                  </a:extLst>
                </p14:cNvPr>
                <p14:cNvContentPartPr/>
                <p14:nvPr/>
              </p14:nvContentPartPr>
              <p14:xfrm>
                <a:off x="7364240" y="1696600"/>
                <a:ext cx="86400" cy="259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D9BF855-FDA9-8B9B-0DDF-7B17D18D5E4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306530" y="1640041"/>
                  <a:ext cx="201490" cy="37199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B7DD04C-4EBB-53CF-2C88-BCF16048F537}"/>
              </a:ext>
            </a:extLst>
          </p:cNvPr>
          <p:cNvSpPr txBox="1"/>
          <p:nvPr/>
        </p:nvSpPr>
        <p:spPr>
          <a:xfrm>
            <a:off x="182880" y="83437"/>
            <a:ext cx="251968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</p:spTree>
    <p:extLst>
      <p:ext uri="{BB962C8B-B14F-4D97-AF65-F5344CB8AC3E}">
        <p14:creationId xmlns:p14="http://schemas.microsoft.com/office/powerpoint/2010/main" val="231722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FF88-A238-83E8-3766-C5D148AC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67D60D-4BE8-C7EC-3FA3-CA8F97745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/>
          <a:stretch>
            <a:fillRect/>
          </a:stretch>
        </p:blipFill>
        <p:spPr>
          <a:xfrm>
            <a:off x="2244119" y="30480"/>
            <a:ext cx="9535578" cy="67868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D2CA28-422B-D162-A4EC-24AA67D0E5C1}"/>
              </a:ext>
            </a:extLst>
          </p:cNvPr>
          <p:cNvSpPr txBox="1"/>
          <p:nvPr/>
        </p:nvSpPr>
        <p:spPr>
          <a:xfrm>
            <a:off x="50800" y="83437"/>
            <a:ext cx="22250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</p:spTree>
    <p:extLst>
      <p:ext uri="{BB962C8B-B14F-4D97-AF65-F5344CB8AC3E}">
        <p14:creationId xmlns:p14="http://schemas.microsoft.com/office/powerpoint/2010/main" val="543418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FD1B21-C0E6-2648-7AB0-ACF2987F7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542" y="50800"/>
            <a:ext cx="9446610" cy="67462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71E1F9-BDEE-8FC3-BC64-B61259A7B1AB}"/>
              </a:ext>
            </a:extLst>
          </p:cNvPr>
          <p:cNvSpPr txBox="1"/>
          <p:nvPr/>
        </p:nvSpPr>
        <p:spPr>
          <a:xfrm>
            <a:off x="101600" y="83437"/>
            <a:ext cx="24282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</p:spTree>
    <p:extLst>
      <p:ext uri="{BB962C8B-B14F-4D97-AF65-F5344CB8AC3E}">
        <p14:creationId xmlns:p14="http://schemas.microsoft.com/office/powerpoint/2010/main" val="271842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A84B-D5F6-E92B-FC0C-AFFE89B1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672187-DD3A-9FC8-7219-2FEEB57E26B0}"/>
              </a:ext>
            </a:extLst>
          </p:cNvPr>
          <p:cNvSpPr txBox="1"/>
          <p:nvPr/>
        </p:nvSpPr>
        <p:spPr>
          <a:xfrm>
            <a:off x="3048000" y="8343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Nunito" pitchFamily="2" charset="0"/>
              </a:rPr>
              <a:t>Multistage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3BFC5-1A20-7DDF-1278-80641039A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/>
          <a:stretch>
            <a:fillRect/>
          </a:stretch>
        </p:blipFill>
        <p:spPr>
          <a:xfrm>
            <a:off x="4572000" y="849475"/>
            <a:ext cx="7470953" cy="5329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F3B62D-12E4-E03F-D737-CB0CA5E31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61" t="64296" r="27669" b="5037"/>
          <a:stretch>
            <a:fillRect/>
          </a:stretch>
        </p:blipFill>
        <p:spPr>
          <a:xfrm>
            <a:off x="210008" y="862326"/>
            <a:ext cx="4271964" cy="22263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D42D0D-EB54-5288-55C5-283D7FE16368}"/>
              </a:ext>
            </a:extLst>
          </p:cNvPr>
          <p:cNvSpPr txBox="1"/>
          <p:nvPr/>
        </p:nvSpPr>
        <p:spPr>
          <a:xfrm>
            <a:off x="301447" y="3180080"/>
            <a:ext cx="4099245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0" u="none" strike="noStrike" dirty="0">
                <a:effectLst/>
                <a:latin typeface="Nunito" pitchFamily="2" charset="0"/>
              </a:rPr>
              <a:t>The total time complexity of solving the multistage graph shortest path problem using dynamic programming is </a:t>
            </a:r>
            <a:r>
              <a:rPr lang="en-US" sz="1600" b="1" u="none" strike="noStrike" dirty="0">
                <a:effectLst/>
                <a:latin typeface="Nunito" pitchFamily="2" charset="0"/>
              </a:rPr>
              <a:t>O(</a:t>
            </a:r>
            <a:r>
              <a:rPr lang="en-US" sz="1600" b="1" dirty="0">
                <a:latin typeface="Nunito" pitchFamily="2" charset="0"/>
              </a:rPr>
              <a:t>|</a:t>
            </a:r>
            <a:r>
              <a:rPr lang="en-US" sz="1600" b="1" u="none" strike="noStrike" dirty="0">
                <a:effectLst/>
                <a:latin typeface="Nunito" pitchFamily="2" charset="0"/>
              </a:rPr>
              <a:t>V| + |E|)</a:t>
            </a:r>
          </a:p>
          <a:p>
            <a:pPr algn="just"/>
            <a:endParaRPr lang="en-US" sz="1600" b="1" dirty="0">
              <a:latin typeface="Nunito" pitchFamily="2" charset="0"/>
            </a:endParaRPr>
          </a:p>
          <a:p>
            <a:pPr algn="just"/>
            <a:r>
              <a:rPr lang="en-US" sz="1600" b="1" dirty="0">
                <a:latin typeface="Nunito" pitchFamily="2" charset="0"/>
              </a:rPr>
              <a:t>Where,</a:t>
            </a:r>
          </a:p>
          <a:p>
            <a:pPr algn="just"/>
            <a:r>
              <a:rPr lang="en-US" sz="1600" b="1" dirty="0">
                <a:latin typeface="Nunito" pitchFamily="2" charset="0"/>
              </a:rPr>
              <a:t>|V| = no. of vertex</a:t>
            </a:r>
          </a:p>
          <a:p>
            <a:pPr algn="just"/>
            <a:r>
              <a:rPr lang="en-US" sz="1600" b="1" dirty="0">
                <a:latin typeface="Nunito" pitchFamily="2" charset="0"/>
              </a:rPr>
              <a:t>|E| = no. of edges</a:t>
            </a:r>
            <a:endParaRPr lang="en-IN" sz="16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776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4693-83E3-D06C-DB9E-54CCEF6F3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" y="365125"/>
            <a:ext cx="2159000" cy="6924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400" b="1" dirty="0">
                <a:latin typeface="Nunito" pitchFamily="2" charset="0"/>
              </a:rPr>
              <a:t>Reliability Design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F4C3CA6-B485-0055-7DDE-67516108843B}"/>
                  </a:ext>
                </a:extLst>
              </p14:cNvPr>
              <p14:cNvContentPartPr/>
              <p14:nvPr/>
            </p14:nvContentPartPr>
            <p14:xfrm>
              <a:off x="2855240" y="4805920"/>
              <a:ext cx="61200" cy="12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F4C3CA6-B485-0055-7DDE-6751610884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2600" y="4742920"/>
                <a:ext cx="186840" cy="24804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C6F074C4-B183-9868-BF39-1E94A49A65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020"/>
          <a:stretch>
            <a:fillRect/>
          </a:stretch>
        </p:blipFill>
        <p:spPr>
          <a:xfrm>
            <a:off x="2997200" y="347533"/>
            <a:ext cx="7161002" cy="27715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4CA032F-531B-19F6-D876-23015F6AD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920" y="3033818"/>
            <a:ext cx="4419360" cy="234082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D64DA20-E9DC-FA65-478C-96BA0299AF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444" t="10603" r="6981" b="61975"/>
          <a:stretch>
            <a:fillRect/>
          </a:stretch>
        </p:blipFill>
        <p:spPr>
          <a:xfrm>
            <a:off x="3027679" y="5329031"/>
            <a:ext cx="7161003" cy="133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25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6DB083-167C-AD37-AC4A-ED74F8B2E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20" y="11704"/>
            <a:ext cx="10352138" cy="67853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64F1B38-4111-4DE1-46B0-68982CB80066}"/>
              </a:ext>
            </a:extLst>
          </p:cNvPr>
          <p:cNvSpPr txBox="1">
            <a:spLocks/>
          </p:cNvSpPr>
          <p:nvPr/>
        </p:nvSpPr>
        <p:spPr>
          <a:xfrm>
            <a:off x="5750560" y="162560"/>
            <a:ext cx="3027680" cy="49784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Nunito" pitchFamily="2" charset="0"/>
              </a:rPr>
              <a:t>Reliability Design</a:t>
            </a:r>
          </a:p>
        </p:txBody>
      </p:sp>
    </p:spTree>
    <p:extLst>
      <p:ext uri="{BB962C8B-B14F-4D97-AF65-F5344CB8AC3E}">
        <p14:creationId xmlns:p14="http://schemas.microsoft.com/office/powerpoint/2010/main" val="822158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FEB7-14C7-633C-A7C0-9814C200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7B3F4-38E4-CAAF-33C4-333EDDFEA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13" y="0"/>
            <a:ext cx="10923887" cy="686481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245DEAF-0B69-0C03-E49F-44E2605F9166}"/>
              </a:ext>
            </a:extLst>
          </p:cNvPr>
          <p:cNvSpPr txBox="1">
            <a:spLocks/>
          </p:cNvSpPr>
          <p:nvPr/>
        </p:nvSpPr>
        <p:spPr>
          <a:xfrm>
            <a:off x="711200" y="182245"/>
            <a:ext cx="1945640" cy="55943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Nunito" pitchFamily="2" charset="0"/>
              </a:rPr>
              <a:t>Reliability Design</a:t>
            </a:r>
          </a:p>
        </p:txBody>
      </p:sp>
    </p:spTree>
    <p:extLst>
      <p:ext uri="{BB962C8B-B14F-4D97-AF65-F5344CB8AC3E}">
        <p14:creationId xmlns:p14="http://schemas.microsoft.com/office/powerpoint/2010/main" val="505367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8FEF-69D6-40B9-BF67-AB91497D8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D2C0E-3B0B-F6EB-D677-14D2B1F4D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20" y="0"/>
            <a:ext cx="10717570" cy="683768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3291E4-15F1-75C0-58A7-29D217FC25E1}"/>
              </a:ext>
            </a:extLst>
          </p:cNvPr>
          <p:cNvSpPr txBox="1">
            <a:spLocks/>
          </p:cNvSpPr>
          <p:nvPr/>
        </p:nvSpPr>
        <p:spPr>
          <a:xfrm>
            <a:off x="4846320" y="131445"/>
            <a:ext cx="4333240" cy="6924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latin typeface="Nunito" pitchFamily="2" charset="0"/>
              </a:rPr>
              <a:t>Reliability Design</a:t>
            </a:r>
          </a:p>
        </p:txBody>
      </p:sp>
    </p:spTree>
    <p:extLst>
      <p:ext uri="{BB962C8B-B14F-4D97-AF65-F5344CB8AC3E}">
        <p14:creationId xmlns:p14="http://schemas.microsoft.com/office/powerpoint/2010/main" val="2958798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3130-A4A8-4555-B32E-2B96B759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74EC8-7D0B-EF5D-48A4-D1343B90B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5" y="50166"/>
            <a:ext cx="12051115" cy="669368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89619E-8ACA-340D-2FA5-F80108D3F26C}"/>
              </a:ext>
            </a:extLst>
          </p:cNvPr>
          <p:cNvSpPr txBox="1">
            <a:spLocks/>
          </p:cNvSpPr>
          <p:nvPr/>
        </p:nvSpPr>
        <p:spPr>
          <a:xfrm>
            <a:off x="838200" y="131445"/>
            <a:ext cx="10515600" cy="6924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Nunito" pitchFamily="2" charset="0"/>
              </a:rPr>
              <a:t>Reliability Design</a:t>
            </a:r>
          </a:p>
        </p:txBody>
      </p:sp>
    </p:spTree>
    <p:extLst>
      <p:ext uri="{BB962C8B-B14F-4D97-AF65-F5344CB8AC3E}">
        <p14:creationId xmlns:p14="http://schemas.microsoft.com/office/powerpoint/2010/main" val="3304946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9838-DBF2-AFB3-E0AF-B213F0CB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94EA923-9D3F-DA97-D8E6-770BA3D9EF86}"/>
              </a:ext>
            </a:extLst>
          </p:cNvPr>
          <p:cNvGrpSpPr/>
          <p:nvPr/>
        </p:nvGrpSpPr>
        <p:grpSpPr>
          <a:xfrm>
            <a:off x="1264920" y="513642"/>
            <a:ext cx="7777480" cy="6212278"/>
            <a:chOff x="2336800" y="-440039"/>
            <a:chExt cx="8808720" cy="74605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6FB223-1CE2-ED33-6AD0-AF8652648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6800" y="1381760"/>
              <a:ext cx="8805287" cy="56388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295E45-9331-DC1B-555E-07D56CECF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537"/>
            <a:stretch>
              <a:fillRect/>
            </a:stretch>
          </p:blipFill>
          <p:spPr>
            <a:xfrm>
              <a:off x="2336800" y="-440039"/>
              <a:ext cx="8808720" cy="2187559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17E21F4C-C343-4D72-0F7C-8492051B3ECE}"/>
              </a:ext>
            </a:extLst>
          </p:cNvPr>
          <p:cNvSpPr txBox="1">
            <a:spLocks/>
          </p:cNvSpPr>
          <p:nvPr/>
        </p:nvSpPr>
        <p:spPr>
          <a:xfrm>
            <a:off x="309880" y="131445"/>
            <a:ext cx="10515600" cy="6924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b="1" dirty="0">
                <a:latin typeface="Nunito" pitchFamily="2" charset="0"/>
              </a:rPr>
              <a:t>Reliability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666595-9B81-9DA9-1EE0-CD2B3BCEC0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389" t="10750" r="6638" b="52969"/>
          <a:stretch>
            <a:fillRect/>
          </a:stretch>
        </p:blipFill>
        <p:spPr>
          <a:xfrm>
            <a:off x="9072880" y="533962"/>
            <a:ext cx="3058160" cy="22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27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0BF5-1593-EFA2-9B23-2F48F4ED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7A7BFB-6AE8-B24B-8852-CA42D5AA1933}"/>
              </a:ext>
            </a:extLst>
          </p:cNvPr>
          <p:cNvSpPr txBox="1">
            <a:spLocks/>
          </p:cNvSpPr>
          <p:nvPr/>
        </p:nvSpPr>
        <p:spPr>
          <a:xfrm>
            <a:off x="838200" y="131445"/>
            <a:ext cx="10515600" cy="6924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>
                <a:latin typeface="Nunito" pitchFamily="2" charset="0"/>
              </a:rPr>
              <a:t>Reliability Design</a:t>
            </a:r>
            <a:endParaRPr lang="en-IN" sz="3200" b="1" dirty="0">
              <a:latin typeface="Nunito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83BBDB-F8A4-EF83-0703-A0230EA66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389" t="10750" r="6638" b="52969"/>
          <a:stretch>
            <a:fillRect/>
          </a:stretch>
        </p:blipFill>
        <p:spPr>
          <a:xfrm>
            <a:off x="9103360" y="1546851"/>
            <a:ext cx="2844800" cy="2125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E31C1D-57A4-453A-0D45-C475E0631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36" t="59843" r="37460" b="23490"/>
          <a:stretch>
            <a:fillRect/>
          </a:stretch>
        </p:blipFill>
        <p:spPr>
          <a:xfrm>
            <a:off x="883920" y="651124"/>
            <a:ext cx="3921760" cy="848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1124FE-80DB-9625-99A2-864F8E149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" y="1546636"/>
            <a:ext cx="8070900" cy="508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08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12E86-FDE1-6FCD-1E0E-26560DCE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84EF3B-1689-9EBE-66C7-2302D48E827C}"/>
              </a:ext>
            </a:extLst>
          </p:cNvPr>
          <p:cNvSpPr txBox="1">
            <a:spLocks/>
          </p:cNvSpPr>
          <p:nvPr/>
        </p:nvSpPr>
        <p:spPr>
          <a:xfrm>
            <a:off x="838200" y="131445"/>
            <a:ext cx="10515600" cy="6924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>
                <a:latin typeface="Nunito" pitchFamily="2" charset="0"/>
              </a:rPr>
              <a:t>Reliability Design</a:t>
            </a:r>
            <a:endParaRPr lang="en-IN" sz="3200" b="1" dirty="0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223AB-3FAB-048E-D5DF-594D27A41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" y="1705122"/>
            <a:ext cx="7774422" cy="493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157859-C8AF-85D5-3A2D-A5D48D7242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72" t="65253" r="27617" b="16375"/>
          <a:stretch>
            <a:fillRect/>
          </a:stretch>
        </p:blipFill>
        <p:spPr>
          <a:xfrm>
            <a:off x="863600" y="690879"/>
            <a:ext cx="5303520" cy="934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A30205-7340-6583-C645-39D14C5094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389" t="10750" r="6638" b="52969"/>
          <a:stretch>
            <a:fillRect/>
          </a:stretch>
        </p:blipFill>
        <p:spPr>
          <a:xfrm>
            <a:off x="8920480" y="1729731"/>
            <a:ext cx="2844800" cy="21259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D2AF02-40CC-15D5-1070-49A942103201}"/>
                  </a:ext>
                </a:extLst>
              </p14:cNvPr>
              <p14:cNvContentPartPr/>
              <p14:nvPr/>
            </p14:nvContentPartPr>
            <p14:xfrm>
              <a:off x="5670720" y="5219640"/>
              <a:ext cx="920880" cy="45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D2AF02-40CC-15D5-1070-49A9421032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54880" y="5156280"/>
                <a:ext cx="9522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11E614-434F-A192-482B-C8F269F8BA30}"/>
                  </a:ext>
                </a:extLst>
              </p14:cNvPr>
              <p14:cNvContentPartPr/>
              <p14:nvPr/>
            </p14:nvContentPartPr>
            <p14:xfrm>
              <a:off x="5695920" y="5118120"/>
              <a:ext cx="1105200" cy="254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A11E614-434F-A192-482B-C8F269F8BA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80080" y="5054760"/>
                <a:ext cx="1136520" cy="3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3922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44F3-BFF9-779B-8EF1-D305B7201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C33556-7978-EE48-CF96-E019D09E8F3B}"/>
              </a:ext>
            </a:extLst>
          </p:cNvPr>
          <p:cNvSpPr txBox="1">
            <a:spLocks/>
          </p:cNvSpPr>
          <p:nvPr/>
        </p:nvSpPr>
        <p:spPr>
          <a:xfrm>
            <a:off x="838200" y="131445"/>
            <a:ext cx="10515600" cy="6924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latin typeface="Nunito" pitchFamily="2" charset="0"/>
              </a:rPr>
              <a:t>Reliability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F9B5C-6ADA-2FBF-DFD5-C2DAADC06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444" b="8681"/>
          <a:stretch>
            <a:fillRect/>
          </a:stretch>
        </p:blipFill>
        <p:spPr>
          <a:xfrm>
            <a:off x="508000" y="935849"/>
            <a:ext cx="7221423" cy="429655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50715E-3D1F-AD66-957B-CC9315113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091948"/>
              </p:ext>
            </p:extLst>
          </p:nvPr>
        </p:nvGraphicFramePr>
        <p:xfrm>
          <a:off x="7965440" y="995680"/>
          <a:ext cx="3718561" cy="23571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6147">
                  <a:extLst>
                    <a:ext uri="{9D8B030D-6E8A-4147-A177-3AD203B41FA5}">
                      <a16:colId xmlns:a16="http://schemas.microsoft.com/office/drawing/2014/main" val="3516078267"/>
                    </a:ext>
                  </a:extLst>
                </a:gridCol>
                <a:gridCol w="666147">
                  <a:extLst>
                    <a:ext uri="{9D8B030D-6E8A-4147-A177-3AD203B41FA5}">
                      <a16:colId xmlns:a16="http://schemas.microsoft.com/office/drawing/2014/main" val="115542769"/>
                    </a:ext>
                  </a:extLst>
                </a:gridCol>
                <a:gridCol w="666147">
                  <a:extLst>
                    <a:ext uri="{9D8B030D-6E8A-4147-A177-3AD203B41FA5}">
                      <a16:colId xmlns:a16="http://schemas.microsoft.com/office/drawing/2014/main" val="3923088335"/>
                    </a:ext>
                  </a:extLst>
                </a:gridCol>
                <a:gridCol w="666147">
                  <a:extLst>
                    <a:ext uri="{9D8B030D-6E8A-4147-A177-3AD203B41FA5}">
                      <a16:colId xmlns:a16="http://schemas.microsoft.com/office/drawing/2014/main" val="1602266470"/>
                    </a:ext>
                  </a:extLst>
                </a:gridCol>
                <a:gridCol w="1053973">
                  <a:extLst>
                    <a:ext uri="{9D8B030D-6E8A-4147-A177-3AD203B41FA5}">
                      <a16:colId xmlns:a16="http://schemas.microsoft.com/office/drawing/2014/main" val="3199399034"/>
                    </a:ext>
                  </a:extLst>
                </a:gridCol>
              </a:tblGrid>
              <a:tr h="655471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ri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ui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Selected </a:t>
                      </a:r>
                      <a:r>
                        <a:rPr lang="en-IN" b="1" dirty="0" err="1"/>
                        <a:t>ui</a:t>
                      </a:r>
                      <a:endParaRPr lang="en-IN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9144649"/>
                  </a:ext>
                </a:extLst>
              </a:tr>
              <a:tr h="5672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541220"/>
                  </a:ext>
                </a:extLst>
              </a:tr>
              <a:tr h="5672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431242"/>
                  </a:ext>
                </a:extLst>
              </a:tr>
              <a:tr h="56721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00B050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250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FB556F-4F5D-4B35-9D62-740F560A38AF}"/>
                  </a:ext>
                </a:extLst>
              </p14:cNvPr>
              <p14:cNvContentPartPr/>
              <p14:nvPr/>
            </p14:nvContentPartPr>
            <p14:xfrm>
              <a:off x="1422440" y="4094560"/>
              <a:ext cx="1848240" cy="122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FB556F-4F5D-4B35-9D62-740F560A38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2440" y="3914560"/>
                <a:ext cx="202788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43C161-DD88-D434-E1DA-5B4351C9AF4C}"/>
                  </a:ext>
                </a:extLst>
              </p14:cNvPr>
              <p14:cNvContentPartPr/>
              <p14:nvPr/>
            </p14:nvContentPartPr>
            <p14:xfrm rot="11413955">
              <a:off x="2372334" y="4139970"/>
              <a:ext cx="318532" cy="2965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43C161-DD88-D434-E1DA-5B4351C9AF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11413955">
                <a:off x="2282455" y="3960031"/>
                <a:ext cx="497931" cy="656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09216B-B2E9-D055-A89C-060B1AEF1C96}"/>
                  </a:ext>
                </a:extLst>
              </p14:cNvPr>
              <p14:cNvContentPartPr/>
              <p14:nvPr/>
            </p14:nvContentPartPr>
            <p14:xfrm>
              <a:off x="1167560" y="3859120"/>
              <a:ext cx="2380680" cy="797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09216B-B2E9-D055-A89C-060B1AEF1C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7560" y="3679120"/>
                <a:ext cx="2560320" cy="11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480446-A402-0A69-4616-70E4B84D7ACC}"/>
                  </a:ext>
                </a:extLst>
              </p14:cNvPr>
              <p14:cNvContentPartPr/>
              <p14:nvPr/>
            </p14:nvContentPartPr>
            <p14:xfrm>
              <a:off x="1401920" y="4239640"/>
              <a:ext cx="2023560" cy="20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480446-A402-0A69-4616-70E4B84D7A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11920" y="4059640"/>
                <a:ext cx="220320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13756B3-D890-98A9-7115-C15FE223EC69}"/>
                  </a:ext>
                </a:extLst>
              </p14:cNvPr>
              <p14:cNvContentPartPr/>
              <p14:nvPr/>
            </p14:nvContentPartPr>
            <p14:xfrm>
              <a:off x="4266800" y="3687400"/>
              <a:ext cx="2076120" cy="133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13756B3-D890-98A9-7115-C15FE223EC6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77160" y="3507400"/>
                <a:ext cx="225576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10DBFAE-F47F-2990-275E-86B8676D4D98}"/>
                  </a:ext>
                </a:extLst>
              </p14:cNvPr>
              <p14:cNvContentPartPr/>
              <p14:nvPr/>
            </p14:nvContentPartPr>
            <p14:xfrm>
              <a:off x="4165640" y="3951640"/>
              <a:ext cx="2037240" cy="155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10DBFAE-F47F-2990-275E-86B8676D4D9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75640" y="3771640"/>
                <a:ext cx="2216880" cy="51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8AE4D40-EF29-69C0-01DA-A4FCE3BFEFEB}"/>
                  </a:ext>
                </a:extLst>
              </p14:cNvPr>
              <p14:cNvContentPartPr/>
              <p14:nvPr/>
            </p14:nvContentPartPr>
            <p14:xfrm>
              <a:off x="4266800" y="4042360"/>
              <a:ext cx="1915560" cy="399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8AE4D40-EF29-69C0-01DA-A4FCE3BFEFE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77160" y="3862360"/>
                <a:ext cx="2095200" cy="75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48267AF-9E13-366F-5958-55A9455A196F}"/>
                  </a:ext>
                </a:extLst>
              </p14:cNvPr>
              <p14:cNvContentPartPr/>
              <p14:nvPr/>
            </p14:nvContentPartPr>
            <p14:xfrm>
              <a:off x="1991240" y="40945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48267AF-9E13-366F-5958-55A9455A196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86920" y="409024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135DCE1-0CEB-1653-3510-E2CAED3DAFEA}"/>
                  </a:ext>
                </a:extLst>
              </p14:cNvPr>
              <p14:cNvContentPartPr/>
              <p14:nvPr/>
            </p14:nvContentPartPr>
            <p14:xfrm>
              <a:off x="1987560" y="4095720"/>
              <a:ext cx="6840" cy="6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135DCE1-0CEB-1653-3510-E2CAED3DAFE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78200" y="4086360"/>
                <a:ext cx="25560" cy="25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971C6A6-FE5F-4518-A6F9-71397835563C}"/>
              </a:ext>
            </a:extLst>
          </p:cNvPr>
          <p:cNvSpPr txBox="1"/>
          <p:nvPr/>
        </p:nvSpPr>
        <p:spPr>
          <a:xfrm>
            <a:off x="1239520" y="5368445"/>
            <a:ext cx="10027920" cy="13042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0" u="none" strike="noStrike" dirty="0">
                <a:effectLst/>
                <a:latin typeface="Nunito" pitchFamily="2" charset="0"/>
              </a:rPr>
              <a:t>The time complexity of the reliability design problem using dynamic programming is </a:t>
            </a:r>
            <a:r>
              <a:rPr lang="en-US" b="1" u="none" strike="noStrike" dirty="0">
                <a:effectLst/>
                <a:latin typeface="Nunito" pitchFamily="2" charset="0"/>
              </a:rPr>
              <a:t>O(</a:t>
            </a:r>
            <a:r>
              <a:rPr lang="en-US" b="1" dirty="0" err="1">
                <a:latin typeface="Nunito" pitchFamily="2" charset="0"/>
              </a:rPr>
              <a:t>s.c</a:t>
            </a:r>
            <a:r>
              <a:rPr lang="en-US" b="1" u="none" strike="noStrike" dirty="0" err="1">
                <a:effectLst/>
                <a:latin typeface="Nunito" pitchFamily="2" charset="0"/>
              </a:rPr>
              <a:t>.</a:t>
            </a:r>
            <a:r>
              <a:rPr lang="en-US" b="1" dirty="0" err="1">
                <a:latin typeface="Nunito" pitchFamily="2" charset="0"/>
              </a:rPr>
              <a:t>u</a:t>
            </a:r>
            <a:r>
              <a:rPr lang="en-US" b="1" u="none" strike="noStrike" dirty="0">
                <a:effectLst/>
                <a:latin typeface="Nunito" pitchFamily="2" charset="0"/>
              </a:rPr>
              <a:t>)</a:t>
            </a:r>
            <a:endParaRPr lang="en-US" b="0" u="none" strike="noStrike" dirty="0">
              <a:effectLst/>
              <a:latin typeface="Nunito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b="0" u="none" strike="noStrike" dirty="0">
                <a:effectLst/>
                <a:latin typeface="Nunito" pitchFamily="2" charset="0"/>
              </a:rPr>
              <a:t>where </a:t>
            </a:r>
            <a:r>
              <a:rPr lang="en-US" b="1" dirty="0">
                <a:latin typeface="Nunito" pitchFamily="2" charset="0"/>
              </a:rPr>
              <a:t>s</a:t>
            </a:r>
            <a:r>
              <a:rPr lang="en-US" b="0" u="none" strike="noStrike" dirty="0">
                <a:effectLst/>
                <a:latin typeface="Nunito" pitchFamily="2" charset="0"/>
              </a:rPr>
              <a:t> is the number of stages (or unique devices), </a:t>
            </a:r>
            <a:r>
              <a:rPr lang="en-US" b="1" dirty="0">
                <a:latin typeface="Nunito" pitchFamily="2" charset="0"/>
              </a:rPr>
              <a:t>c</a:t>
            </a:r>
            <a:r>
              <a:rPr lang="en-US" b="0" u="none" strike="noStrike" dirty="0">
                <a:effectLst/>
                <a:latin typeface="Nunito" pitchFamily="2" charset="0"/>
              </a:rPr>
              <a:t> is the total cost constraint (budget), and </a:t>
            </a:r>
            <a:r>
              <a:rPr lang="en-US" b="1" dirty="0">
                <a:latin typeface="Nunito" pitchFamily="2" charset="0"/>
              </a:rPr>
              <a:t>u </a:t>
            </a:r>
            <a:r>
              <a:rPr lang="en-US" b="0" u="none" strike="noStrike" dirty="0">
                <a:effectLst/>
                <a:latin typeface="Nunito" pitchFamily="2" charset="0"/>
              </a:rPr>
              <a:t>is the maximum number of </a:t>
            </a:r>
            <a:r>
              <a:rPr lang="en-US" dirty="0">
                <a:latin typeface="Nunito" pitchFamily="2" charset="0"/>
              </a:rPr>
              <a:t>extra</a:t>
            </a:r>
            <a:r>
              <a:rPr lang="en-US" b="0" u="none" strike="noStrike" dirty="0">
                <a:effectLst/>
                <a:latin typeface="Nunito" pitchFamily="2" charset="0"/>
              </a:rPr>
              <a:t> copies allowed for any single stage.</a:t>
            </a:r>
            <a:endParaRPr lang="en-IN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917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3E1FA1-8AED-AEAD-C868-D11C33866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41"/>
          <a:stretch>
            <a:fillRect/>
          </a:stretch>
        </p:blipFill>
        <p:spPr>
          <a:xfrm>
            <a:off x="47210" y="50800"/>
            <a:ext cx="12086825" cy="6715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0FCBB9-7646-422B-D1AA-00E5B6A2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80645"/>
            <a:ext cx="10515600" cy="640715"/>
          </a:xfrm>
        </p:spPr>
        <p:txBody>
          <a:bodyPr>
            <a:noAutofit/>
          </a:bodyPr>
          <a:lstStyle/>
          <a:p>
            <a:pPr algn="ctr"/>
            <a:r>
              <a:rPr lang="en-IN" sz="1800" b="1" dirty="0">
                <a:latin typeface="Nunito" pitchFamily="2" charset="0"/>
              </a:rPr>
              <a:t>All Pairs Shortest Path </a:t>
            </a:r>
            <a:br>
              <a:rPr lang="en-IN" sz="1800" b="1" dirty="0">
                <a:latin typeface="Nunito" pitchFamily="2" charset="0"/>
              </a:rPr>
            </a:br>
            <a:r>
              <a:rPr lang="en-IN" sz="1800" b="1" dirty="0">
                <a:latin typeface="Nunito" pitchFamily="2" charset="0"/>
              </a:rPr>
              <a:t>(</a:t>
            </a:r>
            <a:r>
              <a:rPr lang="en-US" sz="1800" b="1" dirty="0">
                <a:latin typeface="Nunito" pitchFamily="2" charset="0"/>
              </a:rPr>
              <a:t>Floyd-</a:t>
            </a:r>
            <a:r>
              <a:rPr lang="en-US" sz="1800" b="1" dirty="0" err="1">
                <a:latin typeface="Nunito" pitchFamily="2" charset="0"/>
              </a:rPr>
              <a:t>Warshall</a:t>
            </a:r>
            <a:r>
              <a:rPr lang="en-US" sz="1800" b="1" dirty="0">
                <a:latin typeface="Nunito" pitchFamily="2" charset="0"/>
              </a:rPr>
              <a:t> algorithm)</a:t>
            </a:r>
            <a:endParaRPr lang="en-IN" sz="18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14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ECBD8-F5D6-40B1-4B01-79EA089D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956206-F6B3-2339-5F00-13980BFA4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71" y="71120"/>
            <a:ext cx="10283821" cy="67055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CE66D1-EA8E-F9B1-0CF0-135F569B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45"/>
            <a:ext cx="10515600" cy="762635"/>
          </a:xfrm>
        </p:spPr>
        <p:txBody>
          <a:bodyPr>
            <a:noAutofit/>
          </a:bodyPr>
          <a:lstStyle/>
          <a:p>
            <a:pPr algn="ctr"/>
            <a:r>
              <a:rPr lang="en-IN" sz="2000" b="1" dirty="0">
                <a:latin typeface="Nunito" pitchFamily="2" charset="0"/>
              </a:rPr>
              <a:t>All Pairs Shortest Path </a:t>
            </a:r>
            <a:br>
              <a:rPr lang="en-IN" sz="2000" b="1" dirty="0">
                <a:latin typeface="Nunito" pitchFamily="2" charset="0"/>
              </a:rPr>
            </a:br>
            <a:r>
              <a:rPr lang="en-IN" sz="2000" b="1" dirty="0">
                <a:latin typeface="Nunito" pitchFamily="2" charset="0"/>
              </a:rPr>
              <a:t>(</a:t>
            </a:r>
            <a:r>
              <a:rPr lang="en-US" sz="2000" b="1" dirty="0">
                <a:latin typeface="Nunito" pitchFamily="2" charset="0"/>
              </a:rPr>
              <a:t>Floyd-</a:t>
            </a:r>
            <a:r>
              <a:rPr lang="en-US" sz="2000" b="1" dirty="0" err="1">
                <a:latin typeface="Nunito" pitchFamily="2" charset="0"/>
              </a:rPr>
              <a:t>Warshall</a:t>
            </a:r>
            <a:r>
              <a:rPr lang="en-US" sz="2000" b="1" dirty="0">
                <a:latin typeface="Nunito" pitchFamily="2" charset="0"/>
              </a:rPr>
              <a:t> algorithm)</a:t>
            </a:r>
            <a:endParaRPr lang="en-IN" sz="20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96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C762-C4B6-8AAF-63A9-EDF34350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20D067-7B80-235E-3F76-E3D35DCC3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862" y="50800"/>
            <a:ext cx="9459139" cy="67462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A2467F-3A11-C3BD-E518-A6665147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212725"/>
            <a:ext cx="10515600" cy="762635"/>
          </a:xfrm>
        </p:spPr>
        <p:txBody>
          <a:bodyPr>
            <a:noAutofit/>
          </a:bodyPr>
          <a:lstStyle/>
          <a:p>
            <a:r>
              <a:rPr lang="en-IN" sz="1400" b="1" dirty="0">
                <a:latin typeface="Nunito" pitchFamily="2" charset="0"/>
              </a:rPr>
              <a:t>All Pairs Shortest Path </a:t>
            </a:r>
            <a:br>
              <a:rPr lang="en-IN" sz="1400" b="1" dirty="0">
                <a:latin typeface="Nunito" pitchFamily="2" charset="0"/>
              </a:rPr>
            </a:br>
            <a:r>
              <a:rPr lang="en-IN" sz="1400" b="1" dirty="0">
                <a:latin typeface="Nunito" pitchFamily="2" charset="0"/>
              </a:rPr>
              <a:t>(</a:t>
            </a:r>
            <a:r>
              <a:rPr lang="en-US" sz="1400" b="1" dirty="0">
                <a:latin typeface="Nunito" pitchFamily="2" charset="0"/>
              </a:rPr>
              <a:t>Floyd-</a:t>
            </a:r>
            <a:r>
              <a:rPr lang="en-US" sz="1400" b="1" dirty="0" err="1">
                <a:latin typeface="Nunito" pitchFamily="2" charset="0"/>
              </a:rPr>
              <a:t>Warshall</a:t>
            </a:r>
            <a:r>
              <a:rPr lang="en-US" sz="1400" b="1" dirty="0">
                <a:latin typeface="Nunito" pitchFamily="2" charset="0"/>
              </a:rPr>
              <a:t> algorithm)</a:t>
            </a:r>
            <a:endParaRPr lang="en-IN" sz="14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906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FAFC-6305-4887-EDFE-043E2417E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47AA8E-4C3D-F202-DB22-4CED24557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688" y="142240"/>
            <a:ext cx="9727430" cy="65430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3A1A9C-344A-0621-6AF9-79CF17C5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212725"/>
            <a:ext cx="10515600" cy="762635"/>
          </a:xfrm>
        </p:spPr>
        <p:txBody>
          <a:bodyPr>
            <a:noAutofit/>
          </a:bodyPr>
          <a:lstStyle/>
          <a:p>
            <a:r>
              <a:rPr lang="en-IN" sz="1200" b="1" dirty="0">
                <a:latin typeface="Nunito" pitchFamily="2" charset="0"/>
              </a:rPr>
              <a:t>All Pairs Shortest Path </a:t>
            </a:r>
            <a:br>
              <a:rPr lang="en-IN" sz="1200" b="1" dirty="0">
                <a:latin typeface="Nunito" pitchFamily="2" charset="0"/>
              </a:rPr>
            </a:br>
            <a:r>
              <a:rPr lang="en-IN" sz="1200" b="1" dirty="0">
                <a:latin typeface="Nunito" pitchFamily="2" charset="0"/>
              </a:rPr>
              <a:t>(</a:t>
            </a:r>
            <a:r>
              <a:rPr lang="en-US" sz="1200" b="1" dirty="0">
                <a:latin typeface="Nunito" pitchFamily="2" charset="0"/>
              </a:rPr>
              <a:t>Floyd-</a:t>
            </a:r>
            <a:r>
              <a:rPr lang="en-US" sz="1200" b="1" dirty="0" err="1">
                <a:latin typeface="Nunito" pitchFamily="2" charset="0"/>
              </a:rPr>
              <a:t>Warshall</a:t>
            </a:r>
            <a:r>
              <a:rPr lang="en-US" sz="1200" b="1" dirty="0">
                <a:latin typeface="Nunito" pitchFamily="2" charset="0"/>
              </a:rPr>
              <a:t> algorithm)</a:t>
            </a:r>
            <a:endParaRPr lang="en-IN" sz="12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266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9D34-E830-C7B6-BC4C-0D7379B36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1F73EC-0F2C-B9E6-3EFC-D945A9739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399" y="91440"/>
            <a:ext cx="10017835" cy="664464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8271122-01DB-E05C-E31E-34E2F6D0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212725"/>
            <a:ext cx="10515600" cy="762635"/>
          </a:xfrm>
        </p:spPr>
        <p:txBody>
          <a:bodyPr>
            <a:noAutofit/>
          </a:bodyPr>
          <a:lstStyle/>
          <a:p>
            <a:r>
              <a:rPr lang="en-IN" sz="1200" b="1" dirty="0">
                <a:latin typeface="Nunito" pitchFamily="2" charset="0"/>
              </a:rPr>
              <a:t>All Pairs Shortest Path </a:t>
            </a:r>
            <a:br>
              <a:rPr lang="en-IN" sz="1200" b="1" dirty="0">
                <a:latin typeface="Nunito" pitchFamily="2" charset="0"/>
              </a:rPr>
            </a:br>
            <a:r>
              <a:rPr lang="en-IN" sz="1200" b="1" dirty="0">
                <a:latin typeface="Nunito" pitchFamily="2" charset="0"/>
              </a:rPr>
              <a:t>(</a:t>
            </a:r>
            <a:r>
              <a:rPr lang="en-US" sz="1200" b="1" dirty="0">
                <a:latin typeface="Nunito" pitchFamily="2" charset="0"/>
              </a:rPr>
              <a:t>Floyd-</a:t>
            </a:r>
            <a:r>
              <a:rPr lang="en-US" sz="1200" b="1" dirty="0" err="1">
                <a:latin typeface="Nunito" pitchFamily="2" charset="0"/>
              </a:rPr>
              <a:t>Warshall</a:t>
            </a:r>
            <a:r>
              <a:rPr lang="en-US" sz="1200" b="1" dirty="0">
                <a:latin typeface="Nunito" pitchFamily="2" charset="0"/>
              </a:rPr>
              <a:t> algorithm)</a:t>
            </a:r>
            <a:endParaRPr lang="en-IN" sz="12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56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30E2-BCD6-DD97-11B0-81D78558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C2CFE5-EC73-A0DF-E754-634C49915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57" y="0"/>
            <a:ext cx="10115255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8C471D3-8F8F-1B95-3020-8FDF70CDB54C}"/>
              </a:ext>
            </a:extLst>
          </p:cNvPr>
          <p:cNvSpPr txBox="1">
            <a:spLocks/>
          </p:cNvSpPr>
          <p:nvPr/>
        </p:nvSpPr>
        <p:spPr>
          <a:xfrm>
            <a:off x="35560" y="212725"/>
            <a:ext cx="10515600" cy="7626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>
                <a:latin typeface="Nunito" pitchFamily="2" charset="0"/>
              </a:rPr>
              <a:t>All Pairs Shortest Path </a:t>
            </a:r>
            <a:br>
              <a:rPr lang="en-IN" sz="1200" b="1">
                <a:latin typeface="Nunito" pitchFamily="2" charset="0"/>
              </a:rPr>
            </a:br>
            <a:r>
              <a:rPr lang="en-IN" sz="1200" b="1">
                <a:latin typeface="Nunito" pitchFamily="2" charset="0"/>
              </a:rPr>
              <a:t>(</a:t>
            </a:r>
            <a:r>
              <a:rPr lang="en-US" sz="1200" b="1">
                <a:latin typeface="Nunito" pitchFamily="2" charset="0"/>
              </a:rPr>
              <a:t>Floyd-Warshall algorithm)</a:t>
            </a:r>
            <a:endParaRPr lang="en-IN" sz="12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352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7FA6-2B8D-E11C-7E82-61AB08EF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941472-1AC7-AC68-D697-D629F8ACB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64174"/>
            <a:ext cx="9569418" cy="67162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B14784-9B51-7C32-2571-A4091074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212725"/>
            <a:ext cx="10515600" cy="762635"/>
          </a:xfrm>
        </p:spPr>
        <p:txBody>
          <a:bodyPr>
            <a:noAutofit/>
          </a:bodyPr>
          <a:lstStyle/>
          <a:p>
            <a:r>
              <a:rPr lang="en-IN" sz="1200" b="1" dirty="0">
                <a:latin typeface="Nunito" pitchFamily="2" charset="0"/>
              </a:rPr>
              <a:t>All Pairs Shortest Path </a:t>
            </a:r>
            <a:br>
              <a:rPr lang="en-IN" sz="1200" b="1" dirty="0">
                <a:latin typeface="Nunito" pitchFamily="2" charset="0"/>
              </a:rPr>
            </a:br>
            <a:r>
              <a:rPr lang="en-IN" sz="1200" b="1" dirty="0">
                <a:latin typeface="Nunito" pitchFamily="2" charset="0"/>
              </a:rPr>
              <a:t>(</a:t>
            </a:r>
            <a:r>
              <a:rPr lang="en-US" sz="1200" b="1" dirty="0">
                <a:latin typeface="Nunito" pitchFamily="2" charset="0"/>
              </a:rPr>
              <a:t>Floyd-</a:t>
            </a:r>
            <a:r>
              <a:rPr lang="en-US" sz="1200" b="1" dirty="0" err="1">
                <a:latin typeface="Nunito" pitchFamily="2" charset="0"/>
              </a:rPr>
              <a:t>Warshall</a:t>
            </a:r>
            <a:r>
              <a:rPr lang="en-US" sz="1200" b="1" dirty="0">
                <a:latin typeface="Nunito" pitchFamily="2" charset="0"/>
              </a:rPr>
              <a:t> algorithm)</a:t>
            </a:r>
            <a:endParaRPr lang="en-IN" sz="1200" b="1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249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F34904-26E2-4D22-7BFC-F774B97BB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909" y="0"/>
            <a:ext cx="9590181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5E7F2BB-9DEB-0286-7EBA-E204EAB11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"/>
            <a:ext cx="10515600" cy="356235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Nunito" pitchFamily="2" charset="0"/>
              </a:rPr>
              <a:t>Longest Common Subsequence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370265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C0D27-922F-ABEA-56AB-29C15774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AFDCA7-3652-B966-F97F-F7CCE7FB9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518" y="0"/>
            <a:ext cx="9090963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03CF94C-FA14-0D5D-3474-F2B2CE6F9B20}"/>
              </a:ext>
            </a:extLst>
          </p:cNvPr>
          <p:cNvSpPr txBox="1">
            <a:spLocks/>
          </p:cNvSpPr>
          <p:nvPr/>
        </p:nvSpPr>
        <p:spPr>
          <a:xfrm>
            <a:off x="838200" y="50165"/>
            <a:ext cx="10515600" cy="356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>
                <a:latin typeface="Nunito" pitchFamily="2" charset="0"/>
              </a:rPr>
              <a:t>Longest Common Subsequence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879495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FF4E-A7A9-73A9-DFD5-B53D0041B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71A6D3-7FDC-C01F-B48C-8811580A4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702" y="0"/>
            <a:ext cx="9332595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5F68B46-87AA-1D9F-2FC0-D985E626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"/>
            <a:ext cx="10515600" cy="356235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Nunito" pitchFamily="2" charset="0"/>
              </a:rPr>
              <a:t>Longest Common Subsequence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62961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79CE-1EC0-0718-F5D0-39FE8780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EDC917-D4F8-8FBD-73EB-6B7244FB8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144" y="0"/>
            <a:ext cx="9899711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66AB4B7-24AE-2BEA-6D73-11914057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"/>
            <a:ext cx="10515600" cy="356235"/>
          </a:xfrm>
        </p:spPr>
        <p:txBody>
          <a:bodyPr>
            <a:normAutofit/>
          </a:bodyPr>
          <a:lstStyle/>
          <a:p>
            <a:pPr algn="ctr"/>
            <a:r>
              <a:rPr lang="en-US" sz="1800" b="1" dirty="0">
                <a:latin typeface="Nunito" pitchFamily="2" charset="0"/>
              </a:rPr>
              <a:t>Longest Common Subsequence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070953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D1E1-EAFF-2C26-559D-B35937D9D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Nunito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419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888</Words>
  <Application>Microsoft Office PowerPoint</Application>
  <PresentationFormat>Widescreen</PresentationFormat>
  <Paragraphs>210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Nunito</vt:lpstr>
      <vt:lpstr>Office Theme</vt:lpstr>
      <vt:lpstr>Unit-3 Dynamic Programming</vt:lpstr>
      <vt:lpstr>Syllabus</vt:lpstr>
      <vt:lpstr>Dynamic Programming (DP)</vt:lpstr>
      <vt:lpstr>PowerPoint Presentation</vt:lpstr>
      <vt:lpstr>PowerPoint Presentation</vt:lpstr>
      <vt:lpstr>PowerPoint Presentation</vt:lpstr>
      <vt:lpstr>PowerPoint Presentation</vt:lpstr>
      <vt:lpstr>Problems based on Dynamic Programming Approach</vt:lpstr>
      <vt:lpstr>0/1 Knapsack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Reliability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 Pairs Shortest Path  (Floyd-Warshall algorithm)</vt:lpstr>
      <vt:lpstr>All Pairs Shortest Path  (Floyd-Warshall algorithm)</vt:lpstr>
      <vt:lpstr>All Pairs Shortest Path  (Floyd-Warshall algorithm)</vt:lpstr>
      <vt:lpstr>All Pairs Shortest Path  (Floyd-Warshall algorithm)</vt:lpstr>
      <vt:lpstr>All Pairs Shortest Path  (Floyd-Warshall algorithm)</vt:lpstr>
      <vt:lpstr>PowerPoint Presentation</vt:lpstr>
      <vt:lpstr>All Pairs Shortest Path  (Floyd-Warshall algorithm)</vt:lpstr>
      <vt:lpstr>Longest Common Subsequence</vt:lpstr>
      <vt:lpstr>PowerPoint Presentation</vt:lpstr>
      <vt:lpstr>Longest Common Subsequence</vt:lpstr>
      <vt:lpstr>Longest Common Subsequence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Dayanand Yadav</dc:creator>
  <cp:lastModifiedBy>Dayanand Yadav</cp:lastModifiedBy>
  <cp:revision>147</cp:revision>
  <dcterms:created xsi:type="dcterms:W3CDTF">2026-05-13T15:58:59Z</dcterms:created>
  <dcterms:modified xsi:type="dcterms:W3CDTF">2026-06-03T14:25:01Z</dcterms:modified>
</cp:coreProperties>
</file>